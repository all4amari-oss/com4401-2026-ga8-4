
<file path=[Content_Types].xml><?xml version="1.0" encoding="utf-8"?>
<Types xmlns="http://schemas.openxmlformats.org/package/2006/content-types">
  <Default Extension="mp4" ContentType="video/mp4"/>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301" r:id="rIdS1"/>
    <p:sldId id="302" r:id="rIdS2"/>
    <p:sldId id="303" r:id="rIdS3"/>
    <p:sldId id="304" r:id="rIdS4"/>
    <p:sldId id="305" r:id="rIdS5"/>
    <p:sldId id="306" r:id="rIdS6"/>
    <p:sldId id="307" r:id="rIdS7"/>
    <p:sldId id="308" r:id="rIdS8"/>
    <p:sldId id="309" r:id="rIdS9"/>
    <p:sldId id="310" r:id="rIdS10"/>
    <p:sldId id="311" r:id="rIdS11"/>
    <p:sldId id="312" r:id="rIdS12"/>
    <p:sldId id="313" r:id="rIdS13"/>
    <p:sldId id="314" r:id="rIdS14"/>
    <p:sldId id="315" r:id="rIdS15"/>
    <p:sldId id="316" r:id="rIdS16"/>
    <p:sldId id="317" r:id="rIdS17"/>
    <p:sldId id="318" r:id="rIdS18"/>
    <p:sldId id="319" r:id="rIdS19"/>
    <p:sldId id="320" r:id="rIdS20"/>
    <p:sldId id="321" r:id="rIdS21"/>
  </p:sldIdLst>
  <p:sldSz cx="12192000" cy="6858000"/>
  <p:notesSz cx="6858000" cy="9144000"/>
  <p:custDataLst>
    <p:tags r:id="rId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501" autoAdjust="0"/>
  </p:normalViewPr>
  <p:slideViewPr>
    <p:cSldViewPr snapToGrid="0" snapToObjects="1">
      <p:cViewPr varScale="1">
        <p:scale>
          <a:sx n="113" d="100"/>
          <a:sy n="113" d="100"/>
        </p:scale>
        <p:origin x="432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12" Type="http://schemas.openxmlformats.org/officeDocument/2006/relationships/theme" Target="theme/theme1.xml"/><Relationship Id="rId1" Type="http://schemas.openxmlformats.org/officeDocument/2006/relationships/slideMaster" Target="slideMasters/slideMaster1.xml"/><Relationship Id="rId11" Type="http://schemas.openxmlformats.org/officeDocument/2006/relationships/viewProps" Target="viewProps.xml"/><Relationship Id="rId10" Type="http://schemas.openxmlformats.org/officeDocument/2006/relationships/presProps" Target="presProps.xml"/><Relationship Id="rId9" Type="http://schemas.openxmlformats.org/officeDocument/2006/relationships/tags" Target="tags/tag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F78B18-EAAA-48C6-8664-C57C01FEFFCE}" type="datetimeFigureOut">
              <a:rPr lang="en-GB" smtClean="0"/>
              <a:t>21/10/2026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2D9958-1094-427A-9DB9-9479E4846DF6}" type="slidenum">
              <a:rPr lang="en-GB" smtClean="0"/>
              <a:t>‹#›</a:t>
            </a:fld>
            <a:endParaRPr lang="en-GB"/>
          </a:p>
        </p:txBody>
      </p:sp>
    </p:spTree>
    <p:extLst>
      <p:ext uri="{BB962C8B-B14F-4D97-AF65-F5344CB8AC3E}">
        <p14:creationId xmlns:p14="http://schemas.microsoft.com/office/powerpoint/2010/main" val="1457704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Our first mini project was for the Northwest Architecture Studio, which needed workstation computers for different job roles.</a:t>
            </a:r>
          </a:p>
          <a:p>
            <a:endParaRPr lang="en-GB" dirty="0"/>
          </a:p>
          <a:p>
            <a:r>
              <a:rPr lang="en-GB" dirty="0"/>
              <a:t>My role focused on building a PC suitable for use by a 3D Visualisation Specialist. This job involves rendering, working with large 3D models and using high-resolution textures, so the computer needed to be powerful enough to handle demanding workloads. </a:t>
            </a:r>
          </a:p>
          <a:p>
            <a:endParaRPr lang="en-GB" dirty="0"/>
          </a:p>
          <a:p>
            <a:r>
              <a:rPr lang="en-GB" dirty="0"/>
              <a:t>I selected a </a:t>
            </a:r>
            <a:r>
              <a:rPr lang="en-GB" dirty="0" err="1"/>
              <a:t>Ryzen</a:t>
            </a:r>
            <a:r>
              <a:rPr lang="en-GB" dirty="0"/>
              <a:t> 9 9950X processor, an RTX 5070 Ti graphics card with 16 gigabytes of video memory, 64 gigabytes of RAM and a 2-terabyte </a:t>
            </a:r>
            <a:r>
              <a:rPr lang="en-GB" dirty="0" err="1"/>
              <a:t>NVMe</a:t>
            </a:r>
            <a:r>
              <a:rPr lang="en-GB" dirty="0"/>
              <a:t> SSD. I also selected a 4K monitor to help with detailed visual work.</a:t>
            </a:r>
          </a:p>
          <a:p>
            <a:endParaRPr lang="en-GB" dirty="0"/>
          </a:p>
          <a:p>
            <a:r>
              <a:rPr lang="en-GB" dirty="0"/>
              <a:t>The allocated budget was £3,750 per workstation. Our SQL database reports a total cost of £3,445, leaving £305 within the budget.</a:t>
            </a:r>
          </a:p>
        </p:txBody>
      </p:sp>
      <p:sp>
        <p:nvSpPr>
          <p:cNvPr id="4" name="Slide Number Placeholder 3"/>
          <p:cNvSpPr>
            <a:spLocks noGrp="1"/>
          </p:cNvSpPr>
          <p:nvPr>
            <p:ph type="sldNum" sz="quarter" idx="5"/>
          </p:nvPr>
        </p:nvSpPr>
        <p:spPr/>
        <p:txBody>
          <a:bodyPr/>
          <a:lstStyle/>
          <a:p>
            <a:fld id="{672D9958-1094-427A-9DB9-9479E4846DF6}" type="slidenum">
              <a:rPr lang="en-GB" smtClean="0"/>
              <a:t>1</a:t>
            </a:fld>
            <a:endParaRPr lang="en-GB"/>
          </a:p>
        </p:txBody>
      </p:sp>
    </p:spTree>
    <p:extLst>
      <p:ext uri="{BB962C8B-B14F-4D97-AF65-F5344CB8AC3E}">
        <p14:creationId xmlns:p14="http://schemas.microsoft.com/office/powerpoint/2010/main" val="3238315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components were chosen based on what the job actually needs, rather than simply choosing expensive hardware. </a:t>
            </a:r>
          </a:p>
          <a:p>
            <a:endParaRPr lang="en-GB" dirty="0"/>
          </a:p>
          <a:p>
            <a:r>
              <a:rPr lang="en-GB" dirty="0"/>
              <a:t>The processor's 16 cores help with demanding tasks such as multi-core rendering. The graphics card supports 3D visualisation, and its 16 gigabytes of video memory help accommodate complex scenes and detailed textures. The 64 gigabytes of RAM allow large projects and multiple demanding applications to run together. </a:t>
            </a:r>
          </a:p>
          <a:p>
            <a:endParaRPr lang="en-GB" dirty="0"/>
          </a:p>
          <a:p>
            <a:r>
              <a:rPr lang="en-GB" dirty="0"/>
              <a:t>The 2-terabyte SSD provides storage for large project files and helps with loading and saving. Finally, the 4K IPS monitor provides detailed resolution for reviewing visual work. Overall, the aim was to balance performance with the workstation's budget.</a:t>
            </a:r>
          </a:p>
          <a:p>
            <a:endParaRPr lang="en-GB" dirty="0"/>
          </a:p>
        </p:txBody>
      </p:sp>
      <p:sp>
        <p:nvSpPr>
          <p:cNvPr id="4" name="Slide Number Placeholder 3"/>
          <p:cNvSpPr>
            <a:spLocks noGrp="1"/>
          </p:cNvSpPr>
          <p:nvPr>
            <p:ph type="sldNum" sz="quarter" idx="5"/>
          </p:nvPr>
        </p:nvSpPr>
        <p:spPr/>
        <p:txBody>
          <a:bodyPr/>
          <a:lstStyle/>
          <a:p>
            <a:fld id="{672D9958-1094-427A-9DB9-9479E4846DF6}" type="slidenum">
              <a:rPr lang="en-GB" smtClean="0"/>
              <a:t>2</a:t>
            </a:fld>
            <a:endParaRPr lang="en-GB"/>
          </a:p>
        </p:txBody>
      </p:sp>
    </p:spTree>
    <p:extLst>
      <p:ext uri="{BB962C8B-B14F-4D97-AF65-F5344CB8AC3E}">
        <p14:creationId xmlns:p14="http://schemas.microsoft.com/office/powerpoint/2010/main" val="3134278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slide shows the original BuildCores evidence for my workstation.</a:t>
            </a:r>
          </a:p>
          <a:p>
            <a:endParaRPr lang="en-GB" dirty="0"/>
          </a:p>
          <a:p>
            <a:r>
              <a:rPr lang="en-GB" dirty="0"/>
              <a:t>The displayed BuildCores total was incomplete, so I used the hardware costs recorded in our SQL database to calculate the reported workstation total. That's why the figure shown in the SQL total box differs from the amount displayed in the BuildCores image.</a:t>
            </a:r>
          </a:p>
          <a:p>
            <a:endParaRPr lang="en-GB" dirty="0"/>
          </a:p>
          <a:p>
            <a:r>
              <a:rPr lang="en-GB" dirty="0"/>
              <a:t>It's important to distinguish between the original build evidence and the total calculated from the records in our database.</a:t>
            </a:r>
          </a:p>
        </p:txBody>
      </p:sp>
      <p:sp>
        <p:nvSpPr>
          <p:cNvPr id="4" name="Slide Number Placeholder 3"/>
          <p:cNvSpPr>
            <a:spLocks noGrp="1"/>
          </p:cNvSpPr>
          <p:nvPr>
            <p:ph type="sldNum" sz="quarter" idx="5"/>
          </p:nvPr>
        </p:nvSpPr>
        <p:spPr/>
        <p:txBody>
          <a:bodyPr/>
          <a:lstStyle/>
          <a:p>
            <a:fld id="{672D9958-1094-427A-9DB9-9479E4846DF6}" type="slidenum">
              <a:rPr lang="en-GB" smtClean="0"/>
              <a:t>3</a:t>
            </a:fld>
            <a:endParaRPr lang="en-GB"/>
          </a:p>
        </p:txBody>
      </p:sp>
    </p:spTree>
    <p:extLst>
      <p:ext uri="{BB962C8B-B14F-4D97-AF65-F5344CB8AC3E}">
        <p14:creationId xmlns:p14="http://schemas.microsoft.com/office/powerpoint/2010/main" val="2392445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To check the costs, I used an SQL query that joins the hardware items, workstation builds and employee roles tables.</a:t>
            </a:r>
          </a:p>
          <a:p>
            <a:endParaRPr lang="en-GB" dirty="0"/>
          </a:p>
          <a:p>
            <a:r>
              <a:rPr lang="en-GB" dirty="0"/>
              <a:t>The JOIN combines the related information. SUM adds the hardware costs together, GROUP BY produces a separate total for each role, and ORDER BY sorts those totals from highest to lowest.</a:t>
            </a:r>
          </a:p>
          <a:p>
            <a:endParaRPr lang="en-GB" dirty="0"/>
          </a:p>
          <a:p>
            <a:r>
              <a:rPr lang="en-GB" dirty="0"/>
              <a:t>For the 3D Visualisation Specialist, the query returns £3,445. This demonstrates how the database can turn the stored hardware information into a useful cost report.</a:t>
            </a:r>
          </a:p>
          <a:p>
            <a:endParaRPr lang="en-GB" dirty="0"/>
          </a:p>
        </p:txBody>
      </p:sp>
      <p:sp>
        <p:nvSpPr>
          <p:cNvPr id="4" name="Slide Number Placeholder 3"/>
          <p:cNvSpPr>
            <a:spLocks noGrp="1"/>
          </p:cNvSpPr>
          <p:nvPr>
            <p:ph type="sldNum" sz="quarter" idx="5"/>
          </p:nvPr>
        </p:nvSpPr>
        <p:spPr/>
        <p:txBody>
          <a:bodyPr/>
          <a:lstStyle/>
          <a:p>
            <a:fld id="{672D9958-1094-427A-9DB9-9479E4846DF6}" type="slidenum">
              <a:rPr lang="en-GB" smtClean="0"/>
              <a:t>4</a:t>
            </a:fld>
            <a:endParaRPr lang="en-GB"/>
          </a:p>
        </p:txBody>
      </p:sp>
    </p:spTree>
    <p:extLst>
      <p:ext uri="{BB962C8B-B14F-4D97-AF65-F5344CB8AC3E}">
        <p14:creationId xmlns:p14="http://schemas.microsoft.com/office/powerpoint/2010/main" val="1021687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Although my individual role focused on 3D visualisation, the overall project covered four workstation roles across the studio.</a:t>
            </a:r>
          </a:p>
          <a:p>
            <a:endParaRPr lang="en-GB" dirty="0"/>
          </a:p>
          <a:p>
            <a:r>
              <a:rPr lang="en-GB" dirty="0"/>
              <a:t>The SQL results show £1,845 for the Architect or CAD Designer, £3,445 for the 3D Visualisation Specialist, £809 for the Administrative Assistant and £1,297 for the Project Manager.</a:t>
            </a:r>
          </a:p>
          <a:p>
            <a:endParaRPr lang="en-GB" dirty="0"/>
          </a:p>
          <a:p>
            <a:r>
              <a:rPr lang="en-GB" dirty="0"/>
              <a:t>The different totals reflect the different recorded hardware requirements for each role. The database makes it possible to compare these costs and assess them against the allocated budget of £3,750 per workstation.</a:t>
            </a:r>
          </a:p>
          <a:p>
            <a:endParaRPr lang="en-GB" dirty="0"/>
          </a:p>
          <a:p>
            <a:r>
              <a:rPr lang="en-GB" dirty="0"/>
              <a:t>This completes my part of the Computing project. I'll now hand over to Sorena, who will cover the pizza ordering program and the studio network.</a:t>
            </a:r>
          </a:p>
          <a:p>
            <a:endParaRPr lang="en-GB" dirty="0"/>
          </a:p>
        </p:txBody>
      </p:sp>
      <p:sp>
        <p:nvSpPr>
          <p:cNvPr id="4" name="Slide Number Placeholder 3"/>
          <p:cNvSpPr>
            <a:spLocks noGrp="1"/>
          </p:cNvSpPr>
          <p:nvPr>
            <p:ph type="sldNum" sz="quarter" idx="5"/>
          </p:nvPr>
        </p:nvSpPr>
        <p:spPr/>
        <p:txBody>
          <a:bodyPr/>
          <a:lstStyle/>
          <a:p>
            <a:fld id="{672D9958-1094-427A-9DB9-9479E4846DF6}" type="slidenum">
              <a:rPr lang="en-GB" smtClean="0"/>
              <a:t>5</a:t>
            </a:fld>
            <a:endParaRPr lang="en-GB"/>
          </a:p>
        </p:txBody>
      </p:sp>
    </p:spTree>
    <p:extLst>
      <p:ext uri="{BB962C8B-B14F-4D97-AF65-F5344CB8AC3E}">
        <p14:creationId xmlns:p14="http://schemas.microsoft.com/office/powerpoint/2010/main" val="551247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takes the customer's details, lets them order up to six pizzas, works out the price and prints a bill.</a:t>
            </a:r>
          </a:p>
          <a:p>
            <a:r>
              <a:rPr lang="en-GB" dirty="0"/>
              <a:t>برنامه مشخصات مشتری رو می‌گیره، تا ۶ تا پیتزا سفارش می‌گیره، قیمت رو حساب می‌کنه و فاکتور چاپ می‌کنه.</a:t>
            </a:r>
          </a:p>
          <a:p>
            <a:r>
              <a:rPr lang="en-GB" dirty="0"/>
              <a:t>I split the program into functions, and the Main function calls them in order.</a:t>
            </a:r>
          </a:p>
          <a:p>
            <a:r>
              <a:rPr lang="en-GB" dirty="0"/>
              <a:t>برنامه رو به چند تا تابع تقسیم کردم و تابع Main اونا رو به ترتیب صدا می‌زنه.</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Main, I declare the arrays and set the prices: Small £3.25, Medium £5.50 and Large £7.15.</a:t>
            </a:r>
          </a:p>
          <a:p>
            <a:r>
              <a:rPr lang="en-GB" dirty="0"/>
              <a:t>The topping prices are stored in an array, where the index is the number of toppings.</a:t>
            </a:r>
          </a:p>
          <a:p>
            <a:r>
              <a:rPr lang="en-GB" dirty="0"/>
              <a:t>توی Main آرایه‌ها رو تعریف می‌کنم و قیمت‌ها رو می‌ذارم: Small £3.25، Medium £5.50، Large £7.15.</a:t>
            </a:r>
          </a:p>
          <a:p>
            <a:r>
              <a:rPr lang="en-GB" dirty="0"/>
              <a:t>قیمت تاپینگ‌ها توی یه آرایه‌ست که شماره‌ی هر خونه همون تعداد تاپینگه.</a:t>
            </a:r>
          </a:p>
          <a:p>
            <a:r>
              <a:rPr lang="en-GB" dirty="0"/>
              <a:t>The getCustomerDetails function asks for the name, address and phone number, and doesn't allow any of them to be blank.</a:t>
            </a:r>
          </a:p>
          <a:p>
            <a:r>
              <a:rPr lang="en-GB" dirty="0"/>
              <a:t>If something is left blank, a while loop shows "This cannot be blank, try again!" and asks again.</a:t>
            </a:r>
          </a:p>
          <a:p>
            <a:r>
              <a:rPr lang="en-GB" dirty="0"/>
              <a:t>The getPizzas function asks how many pizzas the customer wants, and only accepts a number from 1 to 6.</a:t>
            </a:r>
          </a:p>
          <a:p>
            <a:r>
              <a:rPr lang="en-GB" dirty="0"/>
              <a:t>The choosePizzas function asks for the size (0 to 2) and the number of toppings for each pizza, and rejects invalid inputs.</a:t>
            </a:r>
          </a:p>
          <a:p>
            <a:r>
              <a:rPr lang="en-GB" dirty="0"/>
              <a:t>The getDelivery function asks if the customer wants delivery, and only accepts Y or N.</a:t>
            </a:r>
          </a:p>
          <a:p>
            <a:r>
              <a:rPr lang="en-GB" dirty="0"/>
              <a:t>تابع getCustomerDetails اسم، آدرس و شماره تلفن رو می‌گیره و اجازه نمی‌ده هیچ‌کدوم خالی بمونه.</a:t>
            </a:r>
          </a:p>
          <a:p>
            <a:r>
              <a:rPr lang="en-GB" dirty="0"/>
              <a:t>اگه چیزی خالی وارد بشه، یه حلقه‌ی while پیغام «This cannot be blank, try again!» رو نشون می‌ده و دوباره می‌پرسه.</a:t>
            </a:r>
          </a:p>
          <a:p>
            <a:r>
              <a:rPr lang="en-GB" dirty="0"/>
              <a:t>تابع getPizzas تعداد پیتزا رو می‌پرسه و فقط عدد ۱ تا ۶ قبول می‌کنه.</a:t>
            </a:r>
          </a:p>
          <a:p>
            <a:r>
              <a:rPr lang="en-GB" dirty="0"/>
              <a:t>تابع choosePizzas برای هر پیتزا سایز (۰ تا ۲) و تعداد تاپینگ رو می‌گیره و ورودی‌های اشتباه رو رد می‌کنه.</a:t>
            </a:r>
          </a:p>
          <a:p>
            <a:r>
              <a:rPr lang="en-GB" dirty="0"/>
              <a:t>تابع getDelivery می‌پرسه مشتری ارسال می‌خواد یا نه، و فقط Y یا N قبول می‌کنه.</a:t>
            </a:r>
          </a:p>
          <a:p>
            <a:r>
              <a:rPr lang="en-GB" dirty="0"/>
              <a:t>The pizzaPrice function works out the price of each pizza, and an if statement makes four or more toppings all cost £2.50.</a:t>
            </a:r>
          </a:p>
          <a:p>
            <a:r>
              <a:rPr lang="en-GB" dirty="0"/>
              <a:t>The calcTotals function uses a for loop to add up the price of all the pizzas.</a:t>
            </a:r>
          </a:p>
          <a:p>
            <a:r>
              <a:rPr lang="en-GB" dirty="0"/>
              <a:t>If the order is over £20, it gets a 10% discount, and delivery adds £2.50.</a:t>
            </a:r>
          </a:p>
          <a:p>
            <a:r>
              <a:rPr lang="en-GB" dirty="0"/>
              <a:t>I round the discount to the nearest penny before working out the total, so the bill is never even 1p out.</a:t>
            </a:r>
          </a:p>
          <a:p>
            <a:r>
              <a:rPr lang="en-GB" dirty="0"/>
              <a:t>تابع pizzaPrice قیمت هر پیتزا رو حساب می‌کنه، و با یه if، چهار تاپینگ یا بیشتر همه £2.50 حساب می‌شن.</a:t>
            </a:r>
          </a:p>
          <a:p>
            <a:r>
              <a:rPr lang="en-GB" dirty="0"/>
              <a:t>تابع calcTotals با یه حلقه‌ی for قیمت همه‌ی پیتزاها رو جمع می‌زنه.</a:t>
            </a:r>
          </a:p>
          <a:p>
            <a:r>
              <a:rPr lang="en-GB" dirty="0"/>
              <a:t>اگه جمع سفارش بالای £20 باشه، ۱۰٪ تخفیف می‌خوره و ارسال هم £2.50 اضافه می‌کنه.</a:t>
            </a:r>
          </a:p>
          <a:p>
            <a:r>
              <a:rPr lang="en-GB" dirty="0"/>
              <a:t>تخفیف رو قبل از جمع کل تا نزدیک‌ترین پنی گرد می‌کنم تا فاکتور حتی یه پنی هم اشتباه نشه.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the displayBill function shows the bill: the name, address, phone number, number of pizzas, the price of each pizza, the discount, delivery and the total.</a:t>
            </a:r>
          </a:p>
          <a:p>
            <a:r>
              <a:rPr lang="en-GB" dirty="0"/>
              <a:t>در آخر تابع displayBill فاکتور رو نشون می‌ده: اسم، آدرس، تلفن، تعداد پیتزا، قیمت هر پیتزا، تخفیف، هزینه‌ی ارسال و جمع کل.</a:t>
            </a:r>
          </a:p>
          <a:p>
            <a:r>
              <a:rPr lang="en-GB" dirty="0"/>
              <a:t>Nah tested the program with 18 tests, and we fixed the problems that came up in versions 2 and 3.</a:t>
            </a:r>
          </a:p>
          <a:p>
            <a:r>
              <a:rPr lang="en-GB" dirty="0"/>
              <a:t>For example, we fixed a rounding bug that made a £20.05 order 1p out, and we changed the error messages to match the design exactly.</a:t>
            </a:r>
          </a:p>
          <a:p>
            <a:r>
              <a:rPr lang="en-GB" dirty="0"/>
              <a:t>Nah برنامه رو با ۱۸ تا تست امتحان کرد و ما مشکلاتی که پیدا شد رو توی نسخه‌ی ۲ و ۳ درست کردیم.</a:t>
            </a:r>
          </a:p>
          <a:p>
            <a:r>
              <a:rPr lang="en-GB" dirty="0"/>
              <a:t>مثلاً یه باگ گرد کردن داشتیم که سفارش £20.05 رو یه پنی اشتباه حساب می‌کرد، و پیغام‌های خطا رو هم دقیقاً مثل طراحی کردیم.</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 the network we built for the studio in Filius, for Mini Project 3.</a:t>
            </a:r>
          </a:p>
          <a:p>
            <a:r>
              <a:rPr lang="en-GB" dirty="0"/>
              <a:t>The job was to connect the studio's 4 staff PCs, an office server and a DNS server, and let them reach an outside cloud service.</a:t>
            </a:r>
          </a:p>
          <a:p>
            <a:r>
              <a:rPr lang="en-GB" dirty="0"/>
              <a:t>[Point at the top of the picture] The 4 PCs, the DNS Server and the Office Server all plug into the Office Switch. That's the office network, the LAN, on 192.168.10.</a:t>
            </a:r>
          </a:p>
          <a:p>
            <a:r>
              <a:rPr lang="en-GB" dirty="0"/>
              <a:t>[Point at the bottom] The Office Router joins the office to the outside network on 203.0.113. The cloud server sits out there. It stands in for the internet.</a:t>
            </a:r>
          </a:p>
          <a:p>
            <a:r>
              <a:rPr lang="en-GB" dirty="0"/>
              <a:t>Every office PC uses the router as its gateway, so anything leaving the office goes through it.</a:t>
            </a:r>
          </a:p>
          <a:p>
            <a:r>
              <a:rPr lang="en-GB" dirty="0"/>
              <a:t>The DNS Server turns names into IP addresses, so staff can type a name like cloud.archstudio.example instead of a number.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ran every test from the CAD PC, and all 8 passed.</a:t>
            </a:r>
          </a:p>
          <a:p>
            <a:r>
              <a:rPr lang="en-GB" dirty="0"/>
              <a:t>Tests 1 to 3 were pings inside the office: to another PC, the Office Server and the DNS Server. Each one got 4 out of 4 replies.</a:t>
            </a:r>
          </a:p>
          <a:p>
            <a:r>
              <a:rPr lang="en-GB" dirty="0"/>
              <a:t>Tests 4 and 5 opened the office intranet page, first by its IP address and then by its name. Opening it by name shows DNS works.</a:t>
            </a:r>
          </a:p>
          <a:p>
            <a:r>
              <a:rPr lang="en-GB" dirty="0"/>
              <a:t>Test 6 pinged the cloud server through the router.</a:t>
            </a:r>
          </a:p>
          <a:p>
            <a:r>
              <a:rPr lang="en-GB" dirty="0"/>
              <a:t>[Point at the picture] Tests 7 and 8 opened the cloud page by IP and by name. This is test 8.</a:t>
            </a:r>
          </a:p>
          <a:p>
            <a:r>
              <a:rPr lang="en-GB" dirty="0"/>
              <a:t>We also found a fault. The cloud server had no web server, so tests 7 and 8 would have failed. We installed the web server, wrote its page and switched it on, and then both tests passed.</a:t>
            </a:r>
          </a:p>
          <a:p>
            <a:r>
              <a:rPr lang="en-GB" dirty="0"/>
              <a:t>That's my part. Now Marcus will talk about staying safe online.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A9FFB-2270-1FBF-FBF0-1F25F63370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60128-6550-71FB-FC53-FEA44E3D3AC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7BC0AE5-466C-1D53-70F3-945A93BBCEEA}"/>
              </a:ext>
            </a:extLst>
          </p:cNvPr>
          <p:cNvSpPr>
            <a:spLocks noGrp="1"/>
          </p:cNvSpPr>
          <p:nvPr>
            <p:ph type="body" idx="1"/>
          </p:nvPr>
        </p:nvSpPr>
        <p:spPr/>
        <p:txBody>
          <a:bodyPr/>
          <a:lstStyle/>
          <a:p>
            <a:r>
              <a:rPr lang="en-GB" dirty="0"/>
              <a:t>Thanks, Nah.</a:t>
            </a:r>
          </a:p>
          <a:p>
            <a:endParaRPr lang="en-GB" dirty="0"/>
          </a:p>
          <a:p>
            <a:r>
              <a:rPr lang="en-GB" dirty="0"/>
              <a:t>Over the last five weeks, we've worked on four different projects, but they all showed us how computing can be used to solve real problems.</a:t>
            </a:r>
          </a:p>
          <a:p>
            <a:endParaRPr lang="en-GB" dirty="0"/>
          </a:p>
          <a:p>
            <a:r>
              <a:rPr lang="en-GB" dirty="0"/>
              <a:t>In our first project, we planned workstations for the Northwest Architecture Studio. We used BuildCores to select suitable hardware and SQL to organise the data and calculate the costs for all four job roles. This showed us the importance of matching technical requirements to a budget.</a:t>
            </a:r>
          </a:p>
          <a:p>
            <a:endParaRPr lang="en-GB" dirty="0"/>
          </a:p>
          <a:p>
            <a:r>
              <a:rPr lang="en-GB" dirty="0"/>
              <a:t>Our second project was the Pennine Pizza Works ordering program. We developed and improved the program through different versions, using testing to identify problems and make the program more reliable. The rounding bug was an example of why checking the output matters, even when a program appears to work.</a:t>
            </a:r>
          </a:p>
          <a:p>
            <a:endParaRPr lang="en-GB" dirty="0"/>
          </a:p>
          <a:p>
            <a:r>
              <a:rPr lang="en-GB" dirty="0"/>
              <a:t>For our third project, we designed and simulated the studio's office network using Filius. The network passed all eight tests, helping us demonstrate that the devices and connections were working as intended.</a:t>
            </a:r>
          </a:p>
          <a:p>
            <a:endParaRPr lang="en-GB" dirty="0"/>
          </a:p>
          <a:p>
            <a:r>
              <a:rPr lang="en-GB" dirty="0"/>
              <a:t>Finally, our cybersecurity awareness project focused on helping everyday users stay safer online. We covered topics such as password security, two-factor authentication, phishing and safe device use. This showed us that computing isn't just about building systems; it's also about protecting the people who use them.</a:t>
            </a:r>
          </a:p>
          <a:p>
            <a:endParaRPr lang="en-GB" dirty="0"/>
          </a:p>
          <a:p>
            <a:r>
              <a:rPr lang="en-GB" dirty="0"/>
              <a:t>We also considered how AI could support our work. AI can help explain unfamiliar concepts, suggest ideas and assist with drafting or troubleshooting, but its output cannot simply be assumed to be correct. We still need to check suggestions against our assignment requirements, test our programs and network, verify our SQL results, and use reliable sources for cybersecurity information. The responsibility for checking the final work remains with us.</a:t>
            </a:r>
          </a:p>
          <a:p>
            <a:endParaRPr lang="en-GB" dirty="0"/>
          </a:p>
          <a:p>
            <a:r>
              <a:rPr lang="en-GB" dirty="0"/>
              <a:t>Overall, our biggest lesson was that a solution isn't finished just because we've built it. It needs to meet the requirements, be tested and produce results we can explain and trust. Across all four projects, we developed our technical skills, problem-solving and teamwork.</a:t>
            </a:r>
          </a:p>
          <a:p>
            <a:endParaRPr lang="en-GB" dirty="0"/>
          </a:p>
          <a:p>
            <a:r>
              <a:rPr lang="en-GB" dirty="0"/>
              <a:t>Thank you for listening. We're happy to answer any questions.</a:t>
            </a:r>
          </a:p>
        </p:txBody>
      </p:sp>
      <p:sp>
        <p:nvSpPr>
          <p:cNvPr id="4" name="Slide Number Placeholder 3">
            <a:extLst>
              <a:ext uri="{FF2B5EF4-FFF2-40B4-BE49-F238E27FC236}">
                <a16:creationId xmlns:a16="http://schemas.microsoft.com/office/drawing/2014/main" id="{909CBF14-BE1B-65D6-A67D-D2496F20008B}"/>
              </a:ext>
            </a:extLst>
          </p:cNvPr>
          <p:cNvSpPr>
            <a:spLocks noGrp="1"/>
          </p:cNvSpPr>
          <p:nvPr>
            <p:ph type="sldNum" sz="quarter" idx="5"/>
          </p:nvPr>
        </p:nvSpPr>
        <p:spPr/>
        <p:txBody>
          <a:bodyPr/>
          <a:lstStyle/>
          <a:p>
            <a:fld id="{672D9958-1094-427A-9DB9-9479E4846DF6}" type="slidenum">
              <a:rPr lang="en-GB" smtClean="0"/>
              <a:t>6</a:t>
            </a:fld>
            <a:endParaRPr lang="en-GB"/>
          </a:p>
        </p:txBody>
      </p:sp>
    </p:spTree>
    <p:extLst>
      <p:ext uri="{BB962C8B-B14F-4D97-AF65-F5344CB8AC3E}">
        <p14:creationId xmlns:p14="http://schemas.microsoft.com/office/powerpoint/2010/main" val="728428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Img1" Type="http://schemas.openxmlformats.org/officeDocument/2006/relationships/image" Target="../media/net_topology.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Img2" Type="http://schemas.openxmlformats.org/officeDocument/2006/relationships/image" Target="../media/net_test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V1" Type="http://schemas.openxmlformats.org/officeDocument/2006/relationships/video" Target="../media/nah_demo.mp4"/><Relationship Id="rIdM1" Type="http://schemas.microsoft.com/office/2007/relationships/media" Target="../media/nah_demo.mp4"/><Relationship Id="rIdP1" Type="http://schemas.openxmlformats.org/officeDocument/2006/relationships/image" Target="../media/nah_demo_poster.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INTRO   /   THE AVENGERS   /   MARCUS</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We worked as an IT team for 5 weeks</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INTRODUCTION</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01</a:t>
            </a:r>
          </a:p>
        </p:txBody>
      </p:sp>
      <p:sp>
        <p:nvSpPr>
          <p:cNvPr id="9" name="Shape 9"/>
          <p:cNvSpPr/>
          <p:nvPr/>
        </p:nvSpPr>
        <p:spPr>
          <a:xfrm>
            <a:off x="557784" y="1719072"/>
            <a:ext cx="6720840" cy="4096512"/>
          </a:xfrm>
          <a:prstGeom prst="roundRect">
            <a:avLst>
              <a:gd name="adj" fmla="val 12000"/>
            </a:avLst>
          </a:prstGeom>
          <a:solidFill>
            <a:srgbClr val="172336"/>
          </a:solidFill>
          <a:ln>
            <a:noFill/>
          </a:ln>
        </p:spPr>
        <p:txBody>
          <a:bodyPr rtlCol="0" anchor="ctr"/>
          <a:lstStyle/>
          <a:p>
            <a:pPr algn="ctr"/>
            <a:endParaRPr/>
          </a:p>
        </p:txBody>
      </p:sp>
      <p:sp>
        <p:nvSpPr>
          <p:cNvPr id="10" name="TextBox 10"/>
          <p:cNvSpPr txBox="1"/>
          <p:nvPr/>
        </p:nvSpPr>
        <p:spPr>
          <a:xfrm>
            <a:off x="896112" y="2011680"/>
            <a:ext cx="457200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WHO WE ARE</a:t>
            </a:r>
          </a:p>
        </p:txBody>
      </p:sp>
      <p:sp>
        <p:nvSpPr>
          <p:cNvPr id="11" name="Shape 11"/>
          <p:cNvSpPr/>
          <p:nvPr/>
        </p:nvSpPr>
        <p:spPr>
          <a:xfrm>
            <a:off x="896112" y="2450592"/>
            <a:ext cx="6035040" cy="10973"/>
          </a:xfrm>
          <a:prstGeom prst="rect">
            <a:avLst/>
          </a:prstGeom>
          <a:solidFill>
            <a:srgbClr val="314458"/>
          </a:solidFill>
          <a:ln>
            <a:noFill/>
          </a:ln>
        </p:spPr>
        <p:txBody>
          <a:bodyPr rtlCol="0" anchor="ctr"/>
          <a:lstStyle/>
          <a:p>
            <a:pPr algn="ctr"/>
            <a:endParaRPr/>
          </a:p>
        </p:txBody>
      </p:sp>
      <p:sp>
        <p:nvSpPr>
          <p:cNvPr id="12" name="TextBox 12"/>
          <p:cNvSpPr txBox="1"/>
          <p:nvPr/>
        </p:nvSpPr>
        <p:spPr>
          <a:xfrm>
            <a:off x="896112" y="2697480"/>
            <a:ext cx="2743200" cy="32004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Marcus Weeks</a:t>
            </a:r>
          </a:p>
        </p:txBody>
      </p:sp>
      <p:sp>
        <p:nvSpPr>
          <p:cNvPr id="13" name="TextBox 13"/>
          <p:cNvSpPr txBox="1"/>
          <p:nvPr/>
        </p:nvSpPr>
        <p:spPr>
          <a:xfrm>
            <a:off x="3657600" y="2724912"/>
            <a:ext cx="3429000" cy="548640"/>
          </a:xfrm>
          <a:prstGeom prst="rect">
            <a:avLst/>
          </a:prstGeom>
          <a:noFill/>
        </p:spPr>
        <p:txBody>
          <a:bodyPr wrap="square" lIns="9144" tIns="0" rIns="9144" bIns="0" anchor="t">
            <a:noAutofit/>
          </a:bodyPr>
          <a:lstStyle/>
          <a:p>
            <a:pPr algn="l">
              <a:spcAft>
                <a:spcPts val="0"/>
              </a:spcAft>
            </a:pPr>
            <a:r>
              <a:rPr lang="en-GB" sz="1300" b="0" dirty="0">
                <a:solidFill>
                  <a:srgbClr val="A6B8CF"/>
                </a:solidFill>
                <a:latin typeface="Aptos"/>
                <a:cs typeface="Aptos"/>
              </a:rPr>
              <a:t>Team leader · Intro and cyber security</a:t>
            </a:r>
          </a:p>
        </p:txBody>
      </p:sp>
      <p:sp>
        <p:nvSpPr>
          <p:cNvPr id="14" name="TextBox 14"/>
          <p:cNvSpPr txBox="1"/>
          <p:nvPr/>
        </p:nvSpPr>
        <p:spPr>
          <a:xfrm>
            <a:off x="896112" y="3447288"/>
            <a:ext cx="2743200" cy="32004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Charlie Broughton</a:t>
            </a:r>
          </a:p>
        </p:txBody>
      </p:sp>
      <p:sp>
        <p:nvSpPr>
          <p:cNvPr id="15" name="TextBox 15"/>
          <p:cNvSpPr txBox="1"/>
          <p:nvPr/>
        </p:nvSpPr>
        <p:spPr>
          <a:xfrm>
            <a:off x="3657600" y="3474720"/>
            <a:ext cx="3429000" cy="548640"/>
          </a:xfrm>
          <a:prstGeom prst="rect">
            <a:avLst/>
          </a:prstGeom>
          <a:noFill/>
        </p:spPr>
        <p:txBody>
          <a:bodyPr wrap="square" lIns="9144" tIns="0" rIns="9144" bIns="0" anchor="t">
            <a:noAutofit/>
          </a:bodyPr>
          <a:lstStyle/>
          <a:p>
            <a:pPr algn="l">
              <a:spcAft>
                <a:spcPts val="0"/>
              </a:spcAft>
            </a:pPr>
            <a:r>
              <a:rPr lang="en-GB" sz="1300" b="0" dirty="0">
                <a:solidFill>
                  <a:srgbClr val="A6B8CF"/>
                </a:solidFill>
                <a:latin typeface="Aptos"/>
                <a:cs typeface="Aptos"/>
              </a:rPr>
              <a:t>The studio's computers · Conclusion</a:t>
            </a:r>
          </a:p>
        </p:txBody>
      </p:sp>
      <p:sp>
        <p:nvSpPr>
          <p:cNvPr id="16" name="TextBox 16"/>
          <p:cNvSpPr txBox="1"/>
          <p:nvPr/>
        </p:nvSpPr>
        <p:spPr>
          <a:xfrm>
            <a:off x="896112" y="4197096"/>
            <a:ext cx="2743200" cy="32004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Sorena Golbarg Lisar</a:t>
            </a:r>
          </a:p>
        </p:txBody>
      </p:sp>
      <p:sp>
        <p:nvSpPr>
          <p:cNvPr id="17" name="TextBox 17"/>
          <p:cNvSpPr txBox="1"/>
          <p:nvPr/>
        </p:nvSpPr>
        <p:spPr>
          <a:xfrm>
            <a:off x="3657600" y="4224528"/>
            <a:ext cx="3429000" cy="548640"/>
          </a:xfrm>
          <a:prstGeom prst="rect">
            <a:avLst/>
          </a:prstGeom>
          <a:noFill/>
        </p:spPr>
        <p:txBody>
          <a:bodyPr wrap="square" lIns="9144" tIns="0" rIns="9144" bIns="0" anchor="t">
            <a:noAutofit/>
          </a:bodyPr>
          <a:lstStyle/>
          <a:p>
            <a:pPr algn="l">
              <a:spcAft>
                <a:spcPts val="0"/>
              </a:spcAft>
            </a:pPr>
            <a:r>
              <a:rPr lang="en-GB" sz="1300" b="0" dirty="0">
                <a:solidFill>
                  <a:srgbClr val="A6B8CF"/>
                </a:solidFill>
                <a:latin typeface="Aptos"/>
                <a:cs typeface="Aptos"/>
              </a:rPr>
              <a:t>Pizza program and network</a:t>
            </a:r>
          </a:p>
        </p:txBody>
      </p:sp>
      <p:sp>
        <p:nvSpPr>
          <p:cNvPr id="18" name="TextBox 18"/>
          <p:cNvSpPr txBox="1"/>
          <p:nvPr/>
        </p:nvSpPr>
        <p:spPr>
          <a:xfrm>
            <a:off x="896112" y="4946904"/>
            <a:ext cx="2743200" cy="32004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Nah'Kajsha Reid</a:t>
            </a:r>
          </a:p>
        </p:txBody>
      </p:sp>
      <p:sp>
        <p:nvSpPr>
          <p:cNvPr id="19" name="TextBox 19"/>
          <p:cNvSpPr txBox="1"/>
          <p:nvPr/>
        </p:nvSpPr>
        <p:spPr>
          <a:xfrm>
            <a:off x="3657600" y="4974336"/>
            <a:ext cx="3429000" cy="548640"/>
          </a:xfrm>
          <a:prstGeom prst="rect">
            <a:avLst/>
          </a:prstGeom>
          <a:noFill/>
        </p:spPr>
        <p:txBody>
          <a:bodyPr wrap="square" lIns="9144" tIns="0" rIns="9144" bIns="0" anchor="t">
            <a:noAutofit/>
          </a:bodyPr>
          <a:lstStyle/>
          <a:p>
            <a:pPr algn="l">
              <a:spcAft>
                <a:spcPts val="0"/>
              </a:spcAft>
            </a:pPr>
            <a:r>
              <a:rPr lang="en-GB" sz="1300" b="0" dirty="0">
                <a:solidFill>
                  <a:srgbClr val="A6B8CF"/>
                </a:solidFill>
                <a:latin typeface="Aptos"/>
                <a:cs typeface="Aptos"/>
              </a:rPr>
              <a:t>Live demo</a:t>
            </a:r>
          </a:p>
        </p:txBody>
      </p:sp>
      <p:sp>
        <p:nvSpPr>
          <p:cNvPr id="20" name="Shape 20"/>
          <p:cNvSpPr/>
          <p:nvPr/>
        </p:nvSpPr>
        <p:spPr>
          <a:xfrm>
            <a:off x="7498080" y="1719072"/>
            <a:ext cx="4050792" cy="4096512"/>
          </a:xfrm>
          <a:prstGeom prst="roundRect">
            <a:avLst>
              <a:gd name="adj" fmla="val 12000"/>
            </a:avLst>
          </a:prstGeom>
          <a:solidFill>
            <a:srgbClr val="172336"/>
          </a:solidFill>
          <a:ln>
            <a:noFill/>
          </a:ln>
        </p:spPr>
        <p:txBody>
          <a:bodyPr rtlCol="0" anchor="ctr"/>
          <a:lstStyle/>
          <a:p>
            <a:pPr algn="ctr"/>
            <a:endParaRPr/>
          </a:p>
        </p:txBody>
      </p:sp>
      <p:sp>
        <p:nvSpPr>
          <p:cNvPr id="21" name="TextBox 21"/>
          <p:cNvSpPr txBox="1"/>
          <p:nvPr/>
        </p:nvSpPr>
        <p:spPr>
          <a:xfrm>
            <a:off x="7863840" y="2084832"/>
            <a:ext cx="338328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AT A GLANCE</a:t>
            </a:r>
          </a:p>
        </p:txBody>
      </p:sp>
      <p:sp>
        <p:nvSpPr>
          <p:cNvPr id="22" name="TextBox 22"/>
          <p:cNvSpPr txBox="1"/>
          <p:nvPr/>
        </p:nvSpPr>
        <p:spPr>
          <a:xfrm>
            <a:off x="7863840" y="2468880"/>
            <a:ext cx="3383280" cy="685800"/>
          </a:xfrm>
          <a:prstGeom prst="rect">
            <a:avLst/>
          </a:prstGeom>
          <a:noFill/>
        </p:spPr>
        <p:txBody>
          <a:bodyPr wrap="square" lIns="9144" tIns="0" rIns="9144" bIns="0" anchor="t">
            <a:noAutofit/>
          </a:bodyPr>
          <a:lstStyle/>
          <a:p>
            <a:pPr algn="l">
              <a:spcAft>
                <a:spcPts val="0"/>
              </a:spcAft>
            </a:pPr>
            <a:r>
              <a:rPr lang="en-GB" sz="2900" b="1" dirty="0">
                <a:solidFill>
                  <a:srgbClr val="F4F8FE"/>
                </a:solidFill>
                <a:latin typeface="Aptos"/>
                <a:cs typeface="Aptos"/>
              </a:rPr>
              <a:t>5 weeks</a:t>
            </a:r>
          </a:p>
        </p:txBody>
      </p:sp>
      <p:sp>
        <p:nvSpPr>
          <p:cNvPr id="23" name="TextBox 23"/>
          <p:cNvSpPr txBox="1"/>
          <p:nvPr/>
        </p:nvSpPr>
        <p:spPr>
          <a:xfrm>
            <a:off x="7863840" y="3154680"/>
            <a:ext cx="3383280" cy="27432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of client work</a:t>
            </a:r>
          </a:p>
        </p:txBody>
      </p:sp>
      <p:sp>
        <p:nvSpPr>
          <p:cNvPr id="24" name="Shape 24"/>
          <p:cNvSpPr/>
          <p:nvPr/>
        </p:nvSpPr>
        <p:spPr>
          <a:xfrm>
            <a:off x="7863840" y="3749040"/>
            <a:ext cx="3108960" cy="10973"/>
          </a:xfrm>
          <a:prstGeom prst="rect">
            <a:avLst/>
          </a:prstGeom>
          <a:solidFill>
            <a:srgbClr val="314458"/>
          </a:solidFill>
          <a:ln>
            <a:noFill/>
          </a:ln>
        </p:spPr>
        <p:txBody>
          <a:bodyPr rtlCol="0" anchor="ctr"/>
          <a:lstStyle/>
          <a:p>
            <a:pPr algn="ctr"/>
            <a:endParaRPr/>
          </a:p>
        </p:txBody>
      </p:sp>
      <p:sp>
        <p:nvSpPr>
          <p:cNvPr id="25" name="TextBox 25"/>
          <p:cNvSpPr txBox="1"/>
          <p:nvPr/>
        </p:nvSpPr>
        <p:spPr>
          <a:xfrm>
            <a:off x="7863840" y="4023360"/>
            <a:ext cx="3383280" cy="685800"/>
          </a:xfrm>
          <a:prstGeom prst="rect">
            <a:avLst/>
          </a:prstGeom>
          <a:noFill/>
        </p:spPr>
        <p:txBody>
          <a:bodyPr wrap="square" lIns="9144" tIns="0" rIns="9144" bIns="0" anchor="t">
            <a:noAutofit/>
          </a:bodyPr>
          <a:lstStyle/>
          <a:p>
            <a:pPr algn="l">
              <a:spcAft>
                <a:spcPts val="0"/>
              </a:spcAft>
            </a:pPr>
            <a:r>
              <a:rPr lang="en-GB" sz="2900" b="1" dirty="0">
                <a:solidFill>
                  <a:srgbClr val="F4F8FE"/>
                </a:solidFill>
                <a:latin typeface="Aptos"/>
                <a:cs typeface="Aptos"/>
              </a:rPr>
              <a:t>2 clients</a:t>
            </a:r>
          </a:p>
        </p:txBody>
      </p:sp>
      <p:sp>
        <p:nvSpPr>
          <p:cNvPr id="26" name="TextBox 26"/>
          <p:cNvSpPr txBox="1"/>
          <p:nvPr/>
        </p:nvSpPr>
        <p:spPr>
          <a:xfrm>
            <a:off x="7863840" y="4709160"/>
            <a:ext cx="3383280" cy="27432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an architecture studio and a pizza shop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INTRO   /   WHAT WE DID   /   MARCUS</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Two clients, four jobs</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INTRODUCTION</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02</a:t>
            </a:r>
          </a:p>
        </p:txBody>
      </p:sp>
      <p:sp>
        <p:nvSpPr>
          <p:cNvPr id="9" name="Shape 9"/>
          <p:cNvSpPr/>
          <p:nvPr/>
        </p:nvSpPr>
        <p:spPr>
          <a:xfrm>
            <a:off x="603504" y="1691640"/>
            <a:ext cx="10945368" cy="914400"/>
          </a:xfrm>
          <a:prstGeom prst="roundRect">
            <a:avLst>
              <a:gd name="adj" fmla="val 8000"/>
            </a:avLst>
          </a:prstGeom>
          <a:solidFill>
            <a:srgbClr val="172336"/>
          </a:solidFill>
          <a:ln>
            <a:noFill/>
          </a:ln>
        </p:spPr>
        <p:txBody>
          <a:bodyPr rtlCol="0" anchor="ctr"/>
          <a:lstStyle/>
          <a:p>
            <a:pPr algn="ctr"/>
            <a:endParaRPr/>
          </a:p>
        </p:txBody>
      </p:sp>
      <p:sp>
        <p:nvSpPr>
          <p:cNvPr id="10" name="TextBox 10"/>
          <p:cNvSpPr txBox="1"/>
          <p:nvPr/>
        </p:nvSpPr>
        <p:spPr>
          <a:xfrm>
            <a:off x="896112" y="1965960"/>
            <a:ext cx="64008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01</a:t>
            </a:r>
          </a:p>
        </p:txBody>
      </p:sp>
      <p:sp>
        <p:nvSpPr>
          <p:cNvPr id="11" name="TextBox 11"/>
          <p:cNvSpPr txBox="1"/>
          <p:nvPr/>
        </p:nvSpPr>
        <p:spPr>
          <a:xfrm>
            <a:off x="1645920" y="1874520"/>
            <a:ext cx="4206240" cy="320040"/>
          </a:xfrm>
          <a:prstGeom prst="rect">
            <a:avLst/>
          </a:prstGeom>
          <a:noFill/>
        </p:spPr>
        <p:txBody>
          <a:bodyPr wrap="square" lIns="9144" tIns="0" rIns="9144" bIns="0" anchor="t">
            <a:noAutofit/>
          </a:bodyPr>
          <a:lstStyle/>
          <a:p>
            <a:pPr algn="l">
              <a:spcAft>
                <a:spcPts val="0"/>
              </a:spcAft>
            </a:pPr>
            <a:r>
              <a:rPr lang="en-GB" sz="1600" b="1" dirty="0">
                <a:solidFill>
                  <a:srgbClr val="F4F8FE"/>
                </a:solidFill>
                <a:latin typeface="Aptos"/>
                <a:cs typeface="Aptos"/>
              </a:rPr>
              <a:t>Computers</a:t>
            </a:r>
          </a:p>
        </p:txBody>
      </p:sp>
      <p:sp>
        <p:nvSpPr>
          <p:cNvPr id="12" name="TextBox 12"/>
          <p:cNvSpPr txBox="1"/>
          <p:nvPr/>
        </p:nvSpPr>
        <p:spPr>
          <a:xfrm>
            <a:off x="1645920" y="2221992"/>
            <a:ext cx="4206240" cy="228600"/>
          </a:xfrm>
          <a:prstGeom prst="rect">
            <a:avLst/>
          </a:prstGeom>
          <a:noFill/>
        </p:spPr>
        <p:txBody>
          <a:bodyPr wrap="square" lIns="9144" tIns="0" rIns="9144" bIns="0" anchor="t">
            <a:noAutofit/>
          </a:bodyPr>
          <a:lstStyle/>
          <a:p>
            <a:pPr algn="l">
              <a:spcAft>
                <a:spcPts val="0"/>
              </a:spcAft>
            </a:pPr>
            <a:r>
              <a:rPr lang="en-GB" sz="1000" b="1" dirty="0">
                <a:solidFill>
                  <a:srgbClr val="3DCCC0"/>
                </a:solidFill>
                <a:latin typeface="Aptos"/>
                <a:cs typeface="Aptos"/>
              </a:rPr>
              <a:t>NORTHWEST ARCHITECTURE STUDIO</a:t>
            </a:r>
          </a:p>
        </p:txBody>
      </p:sp>
      <p:sp>
        <p:nvSpPr>
          <p:cNvPr id="13" name="TextBox 13"/>
          <p:cNvSpPr txBox="1"/>
          <p:nvPr/>
        </p:nvSpPr>
        <p:spPr>
          <a:xfrm>
            <a:off x="5532120" y="1892808"/>
            <a:ext cx="6126480" cy="548640"/>
          </a:xfrm>
          <a:prstGeom prst="rect">
            <a:avLst/>
          </a:prstGeom>
          <a:noFill/>
        </p:spPr>
        <p:txBody>
          <a:bodyPr wrap="square" lIns="9144" tIns="0" rIns="9144" bIns="0" anchor="t">
            <a:noAutofit/>
          </a:bodyPr>
          <a:lstStyle/>
          <a:p>
            <a:pPr algn="l">
              <a:spcAft>
                <a:spcPts val="0"/>
              </a:spcAft>
            </a:pPr>
            <a:r>
              <a:rPr lang="en-GB" sz="1270" b="0" dirty="0">
                <a:solidFill>
                  <a:srgbClr val="A6B8CF"/>
                </a:solidFill>
                <a:latin typeface="Aptos"/>
                <a:cs typeface="Aptos"/>
              </a:rPr>
              <a:t>12 workstations across 4 job roles, priced and checked with SQL.</a:t>
            </a:r>
          </a:p>
        </p:txBody>
      </p:sp>
      <p:sp>
        <p:nvSpPr>
          <p:cNvPr id="14" name="Shape 14"/>
          <p:cNvSpPr/>
          <p:nvPr/>
        </p:nvSpPr>
        <p:spPr>
          <a:xfrm>
            <a:off x="603504" y="2715768"/>
            <a:ext cx="10945368" cy="914400"/>
          </a:xfrm>
          <a:prstGeom prst="roundRect">
            <a:avLst>
              <a:gd name="adj" fmla="val 8000"/>
            </a:avLst>
          </a:prstGeom>
          <a:solidFill>
            <a:srgbClr val="172336"/>
          </a:solidFill>
          <a:ln>
            <a:noFill/>
          </a:ln>
        </p:spPr>
        <p:txBody>
          <a:bodyPr rtlCol="0" anchor="ctr"/>
          <a:lstStyle/>
          <a:p>
            <a:pPr algn="ctr"/>
            <a:endParaRPr/>
          </a:p>
        </p:txBody>
      </p:sp>
      <p:sp>
        <p:nvSpPr>
          <p:cNvPr id="15" name="TextBox 15"/>
          <p:cNvSpPr txBox="1"/>
          <p:nvPr/>
        </p:nvSpPr>
        <p:spPr>
          <a:xfrm>
            <a:off x="896112" y="2990088"/>
            <a:ext cx="64008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02</a:t>
            </a:r>
          </a:p>
        </p:txBody>
      </p:sp>
      <p:sp>
        <p:nvSpPr>
          <p:cNvPr id="16" name="TextBox 16"/>
          <p:cNvSpPr txBox="1"/>
          <p:nvPr/>
        </p:nvSpPr>
        <p:spPr>
          <a:xfrm>
            <a:off x="1645920" y="2898648"/>
            <a:ext cx="4206240" cy="320040"/>
          </a:xfrm>
          <a:prstGeom prst="rect">
            <a:avLst/>
          </a:prstGeom>
          <a:noFill/>
        </p:spPr>
        <p:txBody>
          <a:bodyPr wrap="square" lIns="9144" tIns="0" rIns="9144" bIns="0" anchor="t">
            <a:noAutofit/>
          </a:bodyPr>
          <a:lstStyle/>
          <a:p>
            <a:pPr algn="l">
              <a:spcAft>
                <a:spcPts val="0"/>
              </a:spcAft>
            </a:pPr>
            <a:r>
              <a:rPr lang="en-GB" sz="1600" b="1" dirty="0">
                <a:solidFill>
                  <a:srgbClr val="F4F8FE"/>
                </a:solidFill>
                <a:latin typeface="Aptos"/>
                <a:cs typeface="Aptos"/>
              </a:rPr>
              <a:t>Ordering program</a:t>
            </a:r>
          </a:p>
        </p:txBody>
      </p:sp>
      <p:sp>
        <p:nvSpPr>
          <p:cNvPr id="17" name="TextBox 17"/>
          <p:cNvSpPr txBox="1"/>
          <p:nvPr/>
        </p:nvSpPr>
        <p:spPr>
          <a:xfrm>
            <a:off x="1645920" y="3246120"/>
            <a:ext cx="4206240" cy="228600"/>
          </a:xfrm>
          <a:prstGeom prst="rect">
            <a:avLst/>
          </a:prstGeom>
          <a:noFill/>
        </p:spPr>
        <p:txBody>
          <a:bodyPr wrap="square" lIns="9144" tIns="0" rIns="9144" bIns="0" anchor="t">
            <a:noAutofit/>
          </a:bodyPr>
          <a:lstStyle/>
          <a:p>
            <a:pPr algn="l">
              <a:spcAft>
                <a:spcPts val="0"/>
              </a:spcAft>
            </a:pPr>
            <a:r>
              <a:rPr lang="en-GB" sz="1000" b="1" dirty="0">
                <a:solidFill>
                  <a:srgbClr val="3DCCC0"/>
                </a:solidFill>
                <a:latin typeface="Aptos"/>
                <a:cs typeface="Aptos"/>
              </a:rPr>
              <a:t>PENNINE PIZZA WORKS</a:t>
            </a:r>
          </a:p>
        </p:txBody>
      </p:sp>
      <p:sp>
        <p:nvSpPr>
          <p:cNvPr id="18" name="TextBox 18"/>
          <p:cNvSpPr txBox="1"/>
          <p:nvPr/>
        </p:nvSpPr>
        <p:spPr>
          <a:xfrm>
            <a:off x="5532120" y="2916936"/>
            <a:ext cx="6126480" cy="548640"/>
          </a:xfrm>
          <a:prstGeom prst="rect">
            <a:avLst/>
          </a:prstGeom>
          <a:noFill/>
        </p:spPr>
        <p:txBody>
          <a:bodyPr wrap="square" lIns="9144" tIns="0" rIns="9144" bIns="0" anchor="t">
            <a:noAutofit/>
          </a:bodyPr>
          <a:lstStyle/>
          <a:p>
            <a:pPr algn="l">
              <a:spcAft>
                <a:spcPts val="0"/>
              </a:spcAft>
            </a:pPr>
            <a:r>
              <a:rPr lang="en-GB" sz="1270" b="0" dirty="0">
                <a:solidFill>
                  <a:srgbClr val="A6B8CF"/>
                </a:solidFill>
                <a:latin typeface="Aptos"/>
                <a:cs typeface="Aptos"/>
              </a:rPr>
              <a:t>Built in Flowgorithm, tested, fixed and retested until every test passed.</a:t>
            </a:r>
          </a:p>
        </p:txBody>
      </p:sp>
      <p:sp>
        <p:nvSpPr>
          <p:cNvPr id="19" name="Shape 19"/>
          <p:cNvSpPr/>
          <p:nvPr/>
        </p:nvSpPr>
        <p:spPr>
          <a:xfrm>
            <a:off x="603504" y="3739896"/>
            <a:ext cx="10945368" cy="914400"/>
          </a:xfrm>
          <a:prstGeom prst="roundRect">
            <a:avLst>
              <a:gd name="adj" fmla="val 8000"/>
            </a:avLst>
          </a:prstGeom>
          <a:solidFill>
            <a:srgbClr val="172336"/>
          </a:solidFill>
          <a:ln>
            <a:noFill/>
          </a:ln>
        </p:spPr>
        <p:txBody>
          <a:bodyPr rtlCol="0" anchor="ctr"/>
          <a:lstStyle/>
          <a:p>
            <a:pPr algn="ctr"/>
            <a:endParaRPr/>
          </a:p>
        </p:txBody>
      </p:sp>
      <p:sp>
        <p:nvSpPr>
          <p:cNvPr id="20" name="TextBox 20"/>
          <p:cNvSpPr txBox="1"/>
          <p:nvPr/>
        </p:nvSpPr>
        <p:spPr>
          <a:xfrm>
            <a:off x="896112" y="4014216"/>
            <a:ext cx="64008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03</a:t>
            </a:r>
          </a:p>
        </p:txBody>
      </p:sp>
      <p:sp>
        <p:nvSpPr>
          <p:cNvPr id="21" name="TextBox 21"/>
          <p:cNvSpPr txBox="1"/>
          <p:nvPr/>
        </p:nvSpPr>
        <p:spPr>
          <a:xfrm>
            <a:off x="1645920" y="3922776"/>
            <a:ext cx="4206240" cy="320040"/>
          </a:xfrm>
          <a:prstGeom prst="rect">
            <a:avLst/>
          </a:prstGeom>
          <a:noFill/>
        </p:spPr>
        <p:txBody>
          <a:bodyPr wrap="square" lIns="9144" tIns="0" rIns="9144" bIns="0" anchor="t">
            <a:noAutofit/>
          </a:bodyPr>
          <a:lstStyle/>
          <a:p>
            <a:pPr algn="l">
              <a:spcAft>
                <a:spcPts val="0"/>
              </a:spcAft>
            </a:pPr>
            <a:r>
              <a:rPr lang="en-GB" sz="1600" b="1" dirty="0">
                <a:solidFill>
                  <a:srgbClr val="F4F8FE"/>
                </a:solidFill>
                <a:latin typeface="Aptos"/>
                <a:cs typeface="Aptos"/>
              </a:rPr>
              <a:t>Office network</a:t>
            </a:r>
          </a:p>
        </p:txBody>
      </p:sp>
      <p:sp>
        <p:nvSpPr>
          <p:cNvPr id="22" name="TextBox 22"/>
          <p:cNvSpPr txBox="1"/>
          <p:nvPr/>
        </p:nvSpPr>
        <p:spPr>
          <a:xfrm>
            <a:off x="1645920" y="4270248"/>
            <a:ext cx="4206240" cy="228600"/>
          </a:xfrm>
          <a:prstGeom prst="rect">
            <a:avLst/>
          </a:prstGeom>
          <a:noFill/>
        </p:spPr>
        <p:txBody>
          <a:bodyPr wrap="square" lIns="9144" tIns="0" rIns="9144" bIns="0" anchor="t">
            <a:noAutofit/>
          </a:bodyPr>
          <a:lstStyle/>
          <a:p>
            <a:pPr algn="l">
              <a:spcAft>
                <a:spcPts val="0"/>
              </a:spcAft>
            </a:pPr>
            <a:r>
              <a:rPr lang="en-GB" sz="1000" b="1" dirty="0">
                <a:solidFill>
                  <a:srgbClr val="3DCCC0"/>
                </a:solidFill>
                <a:latin typeface="Aptos"/>
                <a:cs typeface="Aptos"/>
              </a:rPr>
              <a:t>NORTHWEST ARCHITECTURE STUDIO</a:t>
            </a:r>
          </a:p>
        </p:txBody>
      </p:sp>
      <p:sp>
        <p:nvSpPr>
          <p:cNvPr id="23" name="TextBox 23"/>
          <p:cNvSpPr txBox="1"/>
          <p:nvPr/>
        </p:nvSpPr>
        <p:spPr>
          <a:xfrm>
            <a:off x="5532120" y="3941064"/>
            <a:ext cx="6126480" cy="548640"/>
          </a:xfrm>
          <a:prstGeom prst="rect">
            <a:avLst/>
          </a:prstGeom>
          <a:noFill/>
        </p:spPr>
        <p:txBody>
          <a:bodyPr wrap="square" lIns="9144" tIns="0" rIns="9144" bIns="0" anchor="t">
            <a:noAutofit/>
          </a:bodyPr>
          <a:lstStyle/>
          <a:p>
            <a:pPr algn="l">
              <a:spcAft>
                <a:spcPts val="0"/>
              </a:spcAft>
            </a:pPr>
            <a:r>
              <a:rPr lang="en-GB" sz="1270" b="0" dirty="0">
                <a:solidFill>
                  <a:srgbClr val="A6B8CF"/>
                </a:solidFill>
                <a:latin typeface="Aptos"/>
                <a:cs typeface="Aptos"/>
              </a:rPr>
              <a:t>Built in Filius, with all 8 network tests passing.</a:t>
            </a:r>
          </a:p>
        </p:txBody>
      </p:sp>
      <p:sp>
        <p:nvSpPr>
          <p:cNvPr id="24" name="Shape 24"/>
          <p:cNvSpPr/>
          <p:nvPr/>
        </p:nvSpPr>
        <p:spPr>
          <a:xfrm>
            <a:off x="603504" y="4764024"/>
            <a:ext cx="10945368" cy="914400"/>
          </a:xfrm>
          <a:prstGeom prst="roundRect">
            <a:avLst>
              <a:gd name="adj" fmla="val 8000"/>
            </a:avLst>
          </a:prstGeom>
          <a:solidFill>
            <a:srgbClr val="172336"/>
          </a:solidFill>
          <a:ln>
            <a:noFill/>
          </a:ln>
        </p:spPr>
        <p:txBody>
          <a:bodyPr rtlCol="0" anchor="ctr"/>
          <a:lstStyle/>
          <a:p>
            <a:pPr algn="ctr"/>
            <a:endParaRPr/>
          </a:p>
        </p:txBody>
      </p:sp>
      <p:sp>
        <p:nvSpPr>
          <p:cNvPr id="25" name="TextBox 25"/>
          <p:cNvSpPr txBox="1"/>
          <p:nvPr/>
        </p:nvSpPr>
        <p:spPr>
          <a:xfrm>
            <a:off x="896112" y="5038344"/>
            <a:ext cx="64008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04</a:t>
            </a:r>
          </a:p>
        </p:txBody>
      </p:sp>
      <p:sp>
        <p:nvSpPr>
          <p:cNvPr id="26" name="TextBox 26"/>
          <p:cNvSpPr txBox="1"/>
          <p:nvPr/>
        </p:nvSpPr>
        <p:spPr>
          <a:xfrm>
            <a:off x="1645920" y="4946904"/>
            <a:ext cx="4206240" cy="320040"/>
          </a:xfrm>
          <a:prstGeom prst="rect">
            <a:avLst/>
          </a:prstGeom>
          <a:noFill/>
        </p:spPr>
        <p:txBody>
          <a:bodyPr wrap="square" lIns="9144" tIns="0" rIns="9144" bIns="0" anchor="t">
            <a:noAutofit/>
          </a:bodyPr>
          <a:lstStyle/>
          <a:p>
            <a:pPr algn="l">
              <a:spcAft>
                <a:spcPts val="0"/>
              </a:spcAft>
            </a:pPr>
            <a:r>
              <a:rPr lang="en-GB" sz="1600" b="1" dirty="0">
                <a:solidFill>
                  <a:srgbClr val="F4F8FE"/>
                </a:solidFill>
                <a:latin typeface="Aptos"/>
                <a:cs typeface="Aptos"/>
              </a:rPr>
              <a:t>Online safety guide</a:t>
            </a:r>
          </a:p>
        </p:txBody>
      </p:sp>
      <p:sp>
        <p:nvSpPr>
          <p:cNvPr id="27" name="TextBox 27"/>
          <p:cNvSpPr txBox="1"/>
          <p:nvPr/>
        </p:nvSpPr>
        <p:spPr>
          <a:xfrm>
            <a:off x="1645920" y="5294376"/>
            <a:ext cx="4206240" cy="228600"/>
          </a:xfrm>
          <a:prstGeom prst="rect">
            <a:avLst/>
          </a:prstGeom>
          <a:noFill/>
        </p:spPr>
        <p:txBody>
          <a:bodyPr wrap="square" lIns="9144" tIns="0" rIns="9144" bIns="0" anchor="t">
            <a:noAutofit/>
          </a:bodyPr>
          <a:lstStyle/>
          <a:p>
            <a:pPr algn="l">
              <a:spcAft>
                <a:spcPts val="0"/>
              </a:spcAft>
            </a:pPr>
            <a:r>
              <a:rPr lang="en-GB" sz="1000" b="1" dirty="0">
                <a:solidFill>
                  <a:srgbClr val="3DCCC0"/>
                </a:solidFill>
                <a:latin typeface="Aptos"/>
                <a:cs typeface="Aptos"/>
              </a:rPr>
              <a:t>EVERYDAY USERS</a:t>
            </a:r>
          </a:p>
        </p:txBody>
      </p:sp>
      <p:sp>
        <p:nvSpPr>
          <p:cNvPr id="28" name="TextBox 28"/>
          <p:cNvSpPr txBox="1"/>
          <p:nvPr/>
        </p:nvSpPr>
        <p:spPr>
          <a:xfrm>
            <a:off x="5532120" y="4965192"/>
            <a:ext cx="6126480" cy="548640"/>
          </a:xfrm>
          <a:prstGeom prst="rect">
            <a:avLst/>
          </a:prstGeom>
          <a:noFill/>
        </p:spPr>
        <p:txBody>
          <a:bodyPr wrap="square" lIns="9144" tIns="0" rIns="9144" bIns="0" anchor="t">
            <a:noAutofit/>
          </a:bodyPr>
          <a:lstStyle/>
          <a:p>
            <a:pPr algn="l">
              <a:spcAft>
                <a:spcPts val="0"/>
              </a:spcAft>
            </a:pPr>
            <a:r>
              <a:rPr lang="en-GB" sz="1270" b="0" dirty="0">
                <a:solidFill>
                  <a:srgbClr val="A6B8CF"/>
                </a:solidFill>
                <a:latin typeface="Aptos"/>
                <a:cs typeface="Aptos"/>
              </a:rPr>
              <a:t>A report on passwords, two-factor login, phishing and safe devices.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INTRO   /   HAND-OVER   /   MARCUS</a:t>
            </a:r>
          </a:p>
        </p:txBody>
      </p:sp>
      <p:sp>
        <p:nvSpPr>
          <p:cNvPr id="5" name="Shape 5"/>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6" name="TextBox 6"/>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INTRODUCTION</a:t>
            </a:r>
          </a:p>
        </p:txBody>
      </p:sp>
      <p:sp>
        <p:nvSpPr>
          <p:cNvPr id="7" name="TextBox 7"/>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03</a:t>
            </a:r>
          </a:p>
        </p:txBody>
      </p:sp>
      <p:sp>
        <p:nvSpPr>
          <p:cNvPr id="8" name="Shape 8"/>
          <p:cNvSpPr/>
          <p:nvPr/>
        </p:nvSpPr>
        <p:spPr>
          <a:xfrm>
            <a:off x="2441448" y="1828800"/>
            <a:ext cx="7315200" cy="3017520"/>
          </a:xfrm>
          <a:prstGeom prst="roundRect">
            <a:avLst>
              <a:gd name="adj" fmla="val 12000"/>
            </a:avLst>
          </a:prstGeom>
          <a:solidFill>
            <a:srgbClr val="172336"/>
          </a:solidFill>
          <a:ln>
            <a:noFill/>
          </a:ln>
        </p:spPr>
        <p:txBody>
          <a:bodyPr rtlCol="0" anchor="ctr"/>
          <a:lstStyle/>
          <a:p>
            <a:pPr algn="ctr"/>
            <a:endParaRPr/>
          </a:p>
        </p:txBody>
      </p:sp>
      <p:sp>
        <p:nvSpPr>
          <p:cNvPr id="9" name="TextBox 9"/>
          <p:cNvSpPr txBox="1"/>
          <p:nvPr/>
        </p:nvSpPr>
        <p:spPr>
          <a:xfrm>
            <a:off x="2441448" y="2286000"/>
            <a:ext cx="7315200" cy="320040"/>
          </a:xfrm>
          <a:prstGeom prst="rect">
            <a:avLst/>
          </a:prstGeom>
          <a:noFill/>
        </p:spPr>
        <p:txBody>
          <a:bodyPr wrap="square" lIns="9144" tIns="0" rIns="9144" bIns="0" anchor="t">
            <a:noAutofit/>
          </a:bodyPr>
          <a:lstStyle/>
          <a:p>
            <a:pPr algn="ctr">
              <a:spcAft>
                <a:spcPts val="0"/>
              </a:spcAft>
            </a:pPr>
            <a:r>
              <a:rPr lang="en-GB" sz="1300" b="1" dirty="0">
                <a:solidFill>
                  <a:srgbClr val="3DCCC0"/>
                </a:solidFill>
                <a:latin typeface="Aptos"/>
                <a:cs typeface="Aptos"/>
              </a:rPr>
              <a:t>UP NEXT</a:t>
            </a:r>
          </a:p>
        </p:txBody>
      </p:sp>
      <p:sp>
        <p:nvSpPr>
          <p:cNvPr id="10" name="TextBox 10"/>
          <p:cNvSpPr txBox="1"/>
          <p:nvPr/>
        </p:nvSpPr>
        <p:spPr>
          <a:xfrm>
            <a:off x="2441448" y="2743200"/>
            <a:ext cx="7315200" cy="822960"/>
          </a:xfrm>
          <a:prstGeom prst="rect">
            <a:avLst/>
          </a:prstGeom>
          <a:noFill/>
        </p:spPr>
        <p:txBody>
          <a:bodyPr wrap="square" lIns="9144" tIns="0" rIns="9144" bIns="0" anchor="t">
            <a:noAutofit/>
          </a:bodyPr>
          <a:lstStyle/>
          <a:p>
            <a:pPr algn="ctr">
              <a:spcAft>
                <a:spcPts val="0"/>
              </a:spcAft>
            </a:pPr>
            <a:r>
              <a:rPr lang="en-GB" sz="4000" b="1" dirty="0">
                <a:solidFill>
                  <a:srgbClr val="F4F8FE"/>
                </a:solidFill>
                <a:latin typeface="Aptos"/>
                <a:cs typeface="Aptos"/>
              </a:rPr>
              <a:t>Charlie Broughton</a:t>
            </a:r>
          </a:p>
        </p:txBody>
      </p:sp>
      <p:sp>
        <p:nvSpPr>
          <p:cNvPr id="11" name="TextBox 11"/>
          <p:cNvSpPr txBox="1"/>
          <p:nvPr/>
        </p:nvSpPr>
        <p:spPr>
          <a:xfrm>
            <a:off x="2441448" y="3794760"/>
            <a:ext cx="7315200" cy="411480"/>
          </a:xfrm>
          <a:prstGeom prst="rect">
            <a:avLst/>
          </a:prstGeom>
          <a:noFill/>
        </p:spPr>
        <p:txBody>
          <a:bodyPr wrap="square" lIns="9144" tIns="0" rIns="9144" bIns="0" anchor="t">
            <a:noAutofit/>
          </a:bodyPr>
          <a:lstStyle/>
          <a:p>
            <a:pPr algn="ctr">
              <a:spcAft>
                <a:spcPts val="0"/>
              </a:spcAft>
            </a:pPr>
            <a:r>
              <a:rPr lang="en-GB" sz="1600" b="0" dirty="0">
                <a:solidFill>
                  <a:srgbClr val="A6B8CF"/>
                </a:solidFill>
                <a:latin typeface="Aptos"/>
                <a:cs typeface="Aptos"/>
              </a:rPr>
              <a:t>The studio's new computers  ·  MP1 Computing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2" name="Rectangle 1"/>
          <p:cNvSpPr/>
          <p:nvPr/>
        </p:nvSpPr>
        <p:spPr>
          <a:xfrm>
            <a:off x="502920" y="411480"/>
            <a:ext cx="64008" cy="320040"/>
          </a:xfrm>
          <a:prstGeom prst="rect">
            <a:avLst/>
          </a:prstGeom>
          <a:solidFill>
            <a:srgbClr val="3DCC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04088" y="393192"/>
            <a:ext cx="5486400" cy="292608"/>
          </a:xfrm>
          <a:prstGeom prst="rect">
            <a:avLst/>
          </a:prstGeom>
          <a:noFill/>
        </p:spPr>
        <p:txBody>
          <a:bodyPr wrap="square" lIns="9144" tIns="0" rIns="9144" bIns="0">
            <a:spAutoFit/>
          </a:bodyPr>
          <a:lstStyle/>
          <a:p>
            <a:pPr>
              <a:spcAft>
                <a:spcPts val="400"/>
              </a:spcAft>
              <a:defRPr sz="1200" b="1">
                <a:solidFill>
                  <a:srgbClr val="3DCCC0"/>
                </a:solidFill>
                <a:latin typeface="Aptos"/>
              </a:defRPr>
            </a:pPr>
            <a:r>
              <a:t>MP1   /   COMPUTING   /   CHARLIE</a:t>
            </a:r>
          </a:p>
        </p:txBody>
      </p:sp>
      <p:sp>
        <p:nvSpPr>
          <p:cNvPr id="4" name="TextBox 3"/>
          <p:cNvSpPr txBox="1"/>
          <p:nvPr/>
        </p:nvSpPr>
        <p:spPr>
          <a:xfrm>
            <a:off x="566928" y="859536"/>
            <a:ext cx="11201400" cy="530352"/>
          </a:xfrm>
          <a:prstGeom prst="rect">
            <a:avLst/>
          </a:prstGeom>
          <a:noFill/>
        </p:spPr>
        <p:txBody>
          <a:bodyPr wrap="square" lIns="9144" tIns="0" rIns="9144" bIns="0">
            <a:spAutoFit/>
          </a:bodyPr>
          <a:lstStyle/>
          <a:p>
            <a:pPr>
              <a:spcAft>
                <a:spcPts val="400"/>
              </a:spcAft>
              <a:defRPr sz="2700" b="1">
                <a:solidFill>
                  <a:srgbClr val="F4F8FE"/>
                </a:solidFill>
                <a:latin typeface="Aptos"/>
              </a:defRPr>
            </a:pPr>
            <a:r>
              <a:t>A workstation built for 3D visualisation</a:t>
            </a:r>
          </a:p>
        </p:txBody>
      </p:sp>
      <p:sp>
        <p:nvSpPr>
          <p:cNvPr id="6" name="Rectangle 5"/>
          <p:cNvSpPr/>
          <p:nvPr/>
        </p:nvSpPr>
        <p:spPr>
          <a:xfrm>
            <a:off x="585216" y="6473952"/>
            <a:ext cx="11018520" cy="10972"/>
          </a:xfrm>
          <a:prstGeom prst="rect">
            <a:avLst/>
          </a:prstGeom>
          <a:solidFill>
            <a:srgbClr val="31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47104"/>
            <a:ext cx="9144000" cy="164592"/>
          </a:xfrm>
          <a:prstGeom prst="rect">
            <a:avLst/>
          </a:prstGeom>
          <a:noFill/>
        </p:spPr>
        <p:txBody>
          <a:bodyPr wrap="square" lIns="9144" tIns="0" rIns="9144" bIns="0">
            <a:spAutoFit/>
          </a:bodyPr>
          <a:lstStyle/>
          <a:p>
            <a:pPr>
              <a:spcAft>
                <a:spcPts val="400"/>
              </a:spcAft>
              <a:defRPr sz="900" b="0">
                <a:solidFill>
                  <a:srgbClr val="A6B8CF"/>
                </a:solidFill>
                <a:latin typeface="Aptos"/>
              </a:defRPr>
            </a:pPr>
            <a:r>
              <a:rPr dirty="0"/>
              <a:t>NORTHWEST ARCHITECTURE STUDIO   •   3D VISUALISATION SPECIALIST</a:t>
            </a:r>
          </a:p>
        </p:txBody>
      </p:sp>
      <p:sp>
        <p:nvSpPr>
          <p:cNvPr id="8" name="TextBox 7"/>
          <p:cNvSpPr txBox="1"/>
          <p:nvPr/>
        </p:nvSpPr>
        <p:spPr>
          <a:xfrm>
            <a:off x="11018520" y="6510528"/>
            <a:ext cx="502920" cy="210312"/>
          </a:xfrm>
          <a:prstGeom prst="rect">
            <a:avLst/>
          </a:prstGeom>
          <a:noFill/>
        </p:spPr>
        <p:txBody>
          <a:bodyPr wrap="square" lIns="9144" tIns="0" rIns="9144" bIns="0">
            <a:spAutoFit/>
          </a:bodyPr>
          <a:lstStyle/>
          <a:p>
            <a:pPr algn="r">
              <a:spcAft>
                <a:spcPts val="400"/>
              </a:spcAft>
              <a:defRPr sz="1100" b="1">
                <a:solidFill>
                  <a:srgbClr val="3DCCC0"/>
                </a:solidFill>
                <a:latin typeface="Aptos"/>
              </a:defRPr>
            </a:pPr>
            <a:r>
              <a:rPr dirty="0"/>
              <a:t>04</a:t>
            </a:r>
          </a:p>
        </p:txBody>
      </p:sp>
      <p:sp>
        <p:nvSpPr>
          <p:cNvPr id="9" name="Rounded Rectangle 8"/>
          <p:cNvSpPr/>
          <p:nvPr/>
        </p:nvSpPr>
        <p:spPr>
          <a:xfrm>
            <a:off x="559309" y="1719072"/>
            <a:ext cx="6720840" cy="4096512"/>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3629" y="1947672"/>
            <a:ext cx="4572000" cy="256032"/>
          </a:xfrm>
          <a:prstGeom prst="rect">
            <a:avLst/>
          </a:prstGeom>
          <a:noFill/>
        </p:spPr>
        <p:txBody>
          <a:bodyPr wrap="square" lIns="9144" tIns="0" rIns="9144" bIns="0">
            <a:spAutoFit/>
          </a:bodyPr>
          <a:lstStyle/>
          <a:p>
            <a:pPr>
              <a:spcAft>
                <a:spcPts val="400"/>
              </a:spcAft>
              <a:defRPr sz="1100" b="1">
                <a:solidFill>
                  <a:srgbClr val="3DCCC0"/>
                </a:solidFill>
                <a:latin typeface="Aptos"/>
              </a:defRPr>
            </a:pPr>
            <a:r>
              <a:t>THE WORKLOAD</a:t>
            </a:r>
          </a:p>
        </p:txBody>
      </p:sp>
      <p:sp>
        <p:nvSpPr>
          <p:cNvPr id="11" name="TextBox 10"/>
          <p:cNvSpPr txBox="1"/>
          <p:nvPr/>
        </p:nvSpPr>
        <p:spPr>
          <a:xfrm>
            <a:off x="833629" y="2368296"/>
            <a:ext cx="6053328" cy="777240"/>
          </a:xfrm>
          <a:prstGeom prst="rect">
            <a:avLst/>
          </a:prstGeom>
          <a:noFill/>
        </p:spPr>
        <p:txBody>
          <a:bodyPr wrap="square" lIns="9144" tIns="0" rIns="9144" bIns="0">
            <a:spAutoFit/>
          </a:bodyPr>
          <a:lstStyle/>
          <a:p>
            <a:pPr>
              <a:spcAft>
                <a:spcPts val="400"/>
              </a:spcAft>
              <a:defRPr sz="2300" b="1">
                <a:solidFill>
                  <a:srgbClr val="F4F8FE"/>
                </a:solidFill>
                <a:latin typeface="Aptos"/>
              </a:defRPr>
            </a:pPr>
            <a:r>
              <a:t>Rendering, large 3D models and high-resolution textures</a:t>
            </a:r>
          </a:p>
        </p:txBody>
      </p:sp>
      <p:sp>
        <p:nvSpPr>
          <p:cNvPr id="12" name="Rectangle 11"/>
          <p:cNvSpPr/>
          <p:nvPr/>
        </p:nvSpPr>
        <p:spPr>
          <a:xfrm>
            <a:off x="833629" y="3364992"/>
            <a:ext cx="6135624" cy="10972"/>
          </a:xfrm>
          <a:prstGeom prst="rect">
            <a:avLst/>
          </a:prstGeom>
          <a:solidFill>
            <a:srgbClr val="31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1061" y="3538728"/>
            <a:ext cx="1371600" cy="256032"/>
          </a:xfrm>
          <a:prstGeom prst="rect">
            <a:avLst/>
          </a:prstGeom>
          <a:noFill/>
        </p:spPr>
        <p:txBody>
          <a:bodyPr wrap="square" lIns="9144" tIns="0" rIns="9144" bIns="0">
            <a:spAutoFit/>
          </a:bodyPr>
          <a:lstStyle/>
          <a:p>
            <a:pPr>
              <a:spcAft>
                <a:spcPts val="400"/>
              </a:spcAft>
              <a:defRPr sz="1000" b="1">
                <a:solidFill>
                  <a:srgbClr val="A6B8CF"/>
                </a:solidFill>
                <a:latin typeface="Aptos"/>
              </a:defRPr>
            </a:pPr>
            <a:r>
              <a:t>PROCESSOR</a:t>
            </a:r>
          </a:p>
        </p:txBody>
      </p:sp>
      <p:sp>
        <p:nvSpPr>
          <p:cNvPr id="14" name="TextBox 13"/>
          <p:cNvSpPr txBox="1"/>
          <p:nvPr/>
        </p:nvSpPr>
        <p:spPr>
          <a:xfrm>
            <a:off x="2269237" y="3538728"/>
            <a:ext cx="4535424" cy="283464"/>
          </a:xfrm>
          <a:prstGeom prst="rect">
            <a:avLst/>
          </a:prstGeom>
          <a:noFill/>
        </p:spPr>
        <p:txBody>
          <a:bodyPr wrap="square" lIns="9144" tIns="0" rIns="9144" bIns="0">
            <a:spAutoFit/>
          </a:bodyPr>
          <a:lstStyle/>
          <a:p>
            <a:pPr>
              <a:spcAft>
                <a:spcPts val="400"/>
              </a:spcAft>
              <a:defRPr sz="1300" b="0">
                <a:solidFill>
                  <a:srgbClr val="F4F8FE"/>
                </a:solidFill>
                <a:latin typeface="Aptos"/>
              </a:defRPr>
            </a:pPr>
            <a:r>
              <a:t>AMD Ryzen 9 9950X · 16 cores</a:t>
            </a:r>
          </a:p>
        </p:txBody>
      </p:sp>
      <p:sp>
        <p:nvSpPr>
          <p:cNvPr id="15" name="TextBox 14"/>
          <p:cNvSpPr txBox="1"/>
          <p:nvPr/>
        </p:nvSpPr>
        <p:spPr>
          <a:xfrm>
            <a:off x="861061" y="3950208"/>
            <a:ext cx="1371600" cy="256032"/>
          </a:xfrm>
          <a:prstGeom prst="rect">
            <a:avLst/>
          </a:prstGeom>
          <a:noFill/>
        </p:spPr>
        <p:txBody>
          <a:bodyPr wrap="square" lIns="9144" tIns="0" rIns="9144" bIns="0">
            <a:spAutoFit/>
          </a:bodyPr>
          <a:lstStyle/>
          <a:p>
            <a:pPr>
              <a:spcAft>
                <a:spcPts val="400"/>
              </a:spcAft>
              <a:defRPr sz="1000" b="1">
                <a:solidFill>
                  <a:srgbClr val="A6B8CF"/>
                </a:solidFill>
                <a:latin typeface="Aptos"/>
              </a:defRPr>
            </a:pPr>
            <a:r>
              <a:t>GRAPHICS</a:t>
            </a:r>
          </a:p>
        </p:txBody>
      </p:sp>
      <p:sp>
        <p:nvSpPr>
          <p:cNvPr id="16" name="TextBox 15"/>
          <p:cNvSpPr txBox="1"/>
          <p:nvPr/>
        </p:nvSpPr>
        <p:spPr>
          <a:xfrm>
            <a:off x="2269237" y="3950208"/>
            <a:ext cx="4535424" cy="283464"/>
          </a:xfrm>
          <a:prstGeom prst="rect">
            <a:avLst/>
          </a:prstGeom>
          <a:noFill/>
        </p:spPr>
        <p:txBody>
          <a:bodyPr wrap="square" lIns="9144" tIns="0" rIns="9144" bIns="0">
            <a:spAutoFit/>
          </a:bodyPr>
          <a:lstStyle/>
          <a:p>
            <a:pPr>
              <a:spcAft>
                <a:spcPts val="400"/>
              </a:spcAft>
              <a:defRPr sz="1300" b="0">
                <a:solidFill>
                  <a:srgbClr val="F4F8FE"/>
                </a:solidFill>
                <a:latin typeface="Aptos"/>
              </a:defRPr>
            </a:pPr>
            <a:r>
              <a:t>NVIDIA RTX 5070 Ti · 16 GB VRAM</a:t>
            </a:r>
          </a:p>
        </p:txBody>
      </p:sp>
      <p:sp>
        <p:nvSpPr>
          <p:cNvPr id="17" name="TextBox 16"/>
          <p:cNvSpPr txBox="1"/>
          <p:nvPr/>
        </p:nvSpPr>
        <p:spPr>
          <a:xfrm>
            <a:off x="861061" y="4361688"/>
            <a:ext cx="1371600" cy="256032"/>
          </a:xfrm>
          <a:prstGeom prst="rect">
            <a:avLst/>
          </a:prstGeom>
          <a:noFill/>
        </p:spPr>
        <p:txBody>
          <a:bodyPr wrap="square" lIns="9144" tIns="0" rIns="9144" bIns="0">
            <a:spAutoFit/>
          </a:bodyPr>
          <a:lstStyle/>
          <a:p>
            <a:pPr>
              <a:spcAft>
                <a:spcPts val="400"/>
              </a:spcAft>
              <a:defRPr sz="1000" b="1">
                <a:solidFill>
                  <a:srgbClr val="A6B8CF"/>
                </a:solidFill>
                <a:latin typeface="Aptos"/>
              </a:defRPr>
            </a:pPr>
            <a:r>
              <a:t>MEMORY</a:t>
            </a:r>
          </a:p>
        </p:txBody>
      </p:sp>
      <p:sp>
        <p:nvSpPr>
          <p:cNvPr id="18" name="TextBox 17"/>
          <p:cNvSpPr txBox="1"/>
          <p:nvPr/>
        </p:nvSpPr>
        <p:spPr>
          <a:xfrm>
            <a:off x="2269237" y="4361688"/>
            <a:ext cx="4535424" cy="283464"/>
          </a:xfrm>
          <a:prstGeom prst="rect">
            <a:avLst/>
          </a:prstGeom>
          <a:noFill/>
        </p:spPr>
        <p:txBody>
          <a:bodyPr wrap="square" lIns="9144" tIns="0" rIns="9144" bIns="0">
            <a:spAutoFit/>
          </a:bodyPr>
          <a:lstStyle/>
          <a:p>
            <a:pPr>
              <a:spcAft>
                <a:spcPts val="400"/>
              </a:spcAft>
              <a:defRPr sz="1300" b="0">
                <a:solidFill>
                  <a:srgbClr val="F4F8FE"/>
                </a:solidFill>
                <a:latin typeface="Aptos"/>
              </a:defRPr>
            </a:pPr>
            <a:r>
              <a:rPr dirty="0"/>
              <a:t>64 GB DDR5 · 6000 MHz</a:t>
            </a:r>
          </a:p>
        </p:txBody>
      </p:sp>
      <p:sp>
        <p:nvSpPr>
          <p:cNvPr id="19" name="TextBox 18"/>
          <p:cNvSpPr txBox="1"/>
          <p:nvPr/>
        </p:nvSpPr>
        <p:spPr>
          <a:xfrm>
            <a:off x="861061" y="4773168"/>
            <a:ext cx="1371600" cy="256032"/>
          </a:xfrm>
          <a:prstGeom prst="rect">
            <a:avLst/>
          </a:prstGeom>
          <a:noFill/>
        </p:spPr>
        <p:txBody>
          <a:bodyPr wrap="square" lIns="9144" tIns="0" rIns="9144" bIns="0">
            <a:spAutoFit/>
          </a:bodyPr>
          <a:lstStyle/>
          <a:p>
            <a:pPr>
              <a:spcAft>
                <a:spcPts val="400"/>
              </a:spcAft>
              <a:defRPr sz="1000" b="1">
                <a:solidFill>
                  <a:srgbClr val="A6B8CF"/>
                </a:solidFill>
                <a:latin typeface="Aptos"/>
              </a:defRPr>
            </a:pPr>
            <a:r>
              <a:t>STORAGE</a:t>
            </a:r>
          </a:p>
        </p:txBody>
      </p:sp>
      <p:sp>
        <p:nvSpPr>
          <p:cNvPr id="20" name="TextBox 19"/>
          <p:cNvSpPr txBox="1"/>
          <p:nvPr/>
        </p:nvSpPr>
        <p:spPr>
          <a:xfrm>
            <a:off x="2269237" y="4773168"/>
            <a:ext cx="4535424" cy="283464"/>
          </a:xfrm>
          <a:prstGeom prst="rect">
            <a:avLst/>
          </a:prstGeom>
          <a:noFill/>
        </p:spPr>
        <p:txBody>
          <a:bodyPr wrap="square" lIns="9144" tIns="0" rIns="9144" bIns="0">
            <a:spAutoFit/>
          </a:bodyPr>
          <a:lstStyle/>
          <a:p>
            <a:pPr>
              <a:spcAft>
                <a:spcPts val="400"/>
              </a:spcAft>
              <a:defRPr sz="1300" b="0">
                <a:solidFill>
                  <a:srgbClr val="F4F8FE"/>
                </a:solidFill>
                <a:latin typeface="Aptos"/>
              </a:defRPr>
            </a:pPr>
            <a:r>
              <a:t>2 TB NVMe SSD</a:t>
            </a:r>
          </a:p>
        </p:txBody>
      </p:sp>
      <p:sp>
        <p:nvSpPr>
          <p:cNvPr id="21" name="TextBox 20"/>
          <p:cNvSpPr txBox="1"/>
          <p:nvPr/>
        </p:nvSpPr>
        <p:spPr>
          <a:xfrm>
            <a:off x="861061" y="5184648"/>
            <a:ext cx="1371600" cy="256032"/>
          </a:xfrm>
          <a:prstGeom prst="rect">
            <a:avLst/>
          </a:prstGeom>
          <a:noFill/>
        </p:spPr>
        <p:txBody>
          <a:bodyPr wrap="square" lIns="9144" tIns="0" rIns="9144" bIns="0">
            <a:spAutoFit/>
          </a:bodyPr>
          <a:lstStyle/>
          <a:p>
            <a:pPr>
              <a:spcAft>
                <a:spcPts val="400"/>
              </a:spcAft>
              <a:defRPr sz="1000" b="1">
                <a:solidFill>
                  <a:srgbClr val="A6B8CF"/>
                </a:solidFill>
                <a:latin typeface="Aptos"/>
              </a:defRPr>
            </a:pPr>
            <a:r>
              <a:t>DISPLAY</a:t>
            </a:r>
          </a:p>
        </p:txBody>
      </p:sp>
      <p:sp>
        <p:nvSpPr>
          <p:cNvPr id="22" name="TextBox 21"/>
          <p:cNvSpPr txBox="1"/>
          <p:nvPr/>
        </p:nvSpPr>
        <p:spPr>
          <a:xfrm>
            <a:off x="2269237" y="5184648"/>
            <a:ext cx="4535424" cy="283464"/>
          </a:xfrm>
          <a:prstGeom prst="rect">
            <a:avLst/>
          </a:prstGeom>
          <a:noFill/>
        </p:spPr>
        <p:txBody>
          <a:bodyPr wrap="square" lIns="9144" tIns="0" rIns="9144" bIns="0">
            <a:spAutoFit/>
          </a:bodyPr>
          <a:lstStyle/>
          <a:p>
            <a:pPr>
              <a:spcAft>
                <a:spcPts val="400"/>
              </a:spcAft>
              <a:defRPr sz="1300" b="0">
                <a:solidFill>
                  <a:srgbClr val="F4F8FE"/>
                </a:solidFill>
                <a:latin typeface="Aptos"/>
              </a:defRPr>
            </a:pPr>
            <a:r>
              <a:t>AOC U27B3A · 27-inch 4K IPS</a:t>
            </a:r>
          </a:p>
        </p:txBody>
      </p:sp>
      <p:sp>
        <p:nvSpPr>
          <p:cNvPr id="23" name="Rounded Rectangle 22"/>
          <p:cNvSpPr/>
          <p:nvPr/>
        </p:nvSpPr>
        <p:spPr>
          <a:xfrm>
            <a:off x="7508749" y="1719072"/>
            <a:ext cx="4050791" cy="4096512"/>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45552" y="2258568"/>
            <a:ext cx="4572000" cy="256032"/>
          </a:xfrm>
          <a:prstGeom prst="rect">
            <a:avLst/>
          </a:prstGeom>
          <a:noFill/>
        </p:spPr>
        <p:txBody>
          <a:bodyPr wrap="square" lIns="9144" tIns="0" rIns="9144" bIns="0">
            <a:spAutoFit/>
          </a:bodyPr>
          <a:lstStyle/>
          <a:p>
            <a:pPr>
              <a:spcAft>
                <a:spcPts val="400"/>
              </a:spcAft>
              <a:defRPr sz="1100" b="1">
                <a:solidFill>
                  <a:srgbClr val="3DCCC0"/>
                </a:solidFill>
                <a:latin typeface="Aptos"/>
              </a:defRPr>
            </a:pPr>
            <a:r>
              <a:t>BUDGET / PER WORKSTATION</a:t>
            </a:r>
          </a:p>
        </p:txBody>
      </p:sp>
      <p:sp>
        <p:nvSpPr>
          <p:cNvPr id="25" name="TextBox 24"/>
          <p:cNvSpPr txBox="1"/>
          <p:nvPr/>
        </p:nvSpPr>
        <p:spPr>
          <a:xfrm>
            <a:off x="7810501" y="2505456"/>
            <a:ext cx="2743200" cy="493776"/>
          </a:xfrm>
          <a:prstGeom prst="rect">
            <a:avLst/>
          </a:prstGeom>
          <a:noFill/>
        </p:spPr>
        <p:txBody>
          <a:bodyPr wrap="square" lIns="9144" tIns="0" rIns="9144" bIns="0">
            <a:spAutoFit/>
          </a:bodyPr>
          <a:lstStyle/>
          <a:p>
            <a:pPr>
              <a:spcAft>
                <a:spcPts val="400"/>
              </a:spcAft>
              <a:defRPr sz="2900" b="1">
                <a:solidFill>
                  <a:srgbClr val="F4F8FE"/>
                </a:solidFill>
                <a:latin typeface="Aptos"/>
              </a:defRPr>
            </a:pPr>
            <a:r>
              <a:t>£3,750.00</a:t>
            </a:r>
          </a:p>
        </p:txBody>
      </p:sp>
      <p:sp>
        <p:nvSpPr>
          <p:cNvPr id="26" name="TextBox 25"/>
          <p:cNvSpPr txBox="1"/>
          <p:nvPr/>
        </p:nvSpPr>
        <p:spPr>
          <a:xfrm>
            <a:off x="7810501" y="3017520"/>
            <a:ext cx="3108960" cy="246888"/>
          </a:xfrm>
          <a:prstGeom prst="rect">
            <a:avLst/>
          </a:prstGeom>
          <a:noFill/>
        </p:spPr>
        <p:txBody>
          <a:bodyPr wrap="square" lIns="9144" tIns="0" rIns="9144" bIns="0">
            <a:spAutoFit/>
          </a:bodyPr>
          <a:lstStyle/>
          <a:p>
            <a:pPr>
              <a:spcAft>
                <a:spcPts val="400"/>
              </a:spcAft>
              <a:defRPr sz="1200" b="0">
                <a:solidFill>
                  <a:srgbClr val="A6B8CF"/>
                </a:solidFill>
                <a:latin typeface="Aptos"/>
              </a:defRPr>
            </a:pPr>
            <a:r>
              <a:t>Allocated budget</a:t>
            </a:r>
          </a:p>
        </p:txBody>
      </p:sp>
      <p:sp>
        <p:nvSpPr>
          <p:cNvPr id="27" name="Rounded Rectangle 26"/>
          <p:cNvSpPr/>
          <p:nvPr/>
        </p:nvSpPr>
        <p:spPr>
          <a:xfrm>
            <a:off x="7819645" y="3474719"/>
            <a:ext cx="3401568" cy="109728"/>
          </a:xfrm>
          <a:prstGeom prst="roundRect">
            <a:avLst>
              <a:gd name="adj" fmla="val 12000"/>
            </a:avLst>
          </a:prstGeom>
          <a:solidFill>
            <a:srgbClr val="31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819645" y="3474719"/>
            <a:ext cx="3127248" cy="109728"/>
          </a:xfrm>
          <a:prstGeom prst="roundRect">
            <a:avLst>
              <a:gd name="adj" fmla="val 12000"/>
            </a:avLst>
          </a:prstGeom>
          <a:solidFill>
            <a:srgbClr val="3DCC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10501" y="3877056"/>
            <a:ext cx="3154680" cy="475488"/>
          </a:xfrm>
          <a:prstGeom prst="rect">
            <a:avLst/>
          </a:prstGeom>
          <a:noFill/>
        </p:spPr>
        <p:txBody>
          <a:bodyPr wrap="square" lIns="9144" tIns="0" rIns="9144" bIns="0">
            <a:spAutoFit/>
          </a:bodyPr>
          <a:lstStyle/>
          <a:p>
            <a:pPr>
              <a:spcAft>
                <a:spcPts val="400"/>
              </a:spcAft>
              <a:defRPr sz="2700" b="1">
                <a:solidFill>
                  <a:srgbClr val="F4F8FE"/>
                </a:solidFill>
                <a:latin typeface="Aptos"/>
              </a:defRPr>
            </a:pPr>
            <a:r>
              <a:rPr dirty="0"/>
              <a:t>£3,445.21</a:t>
            </a:r>
          </a:p>
        </p:txBody>
      </p:sp>
      <p:sp>
        <p:nvSpPr>
          <p:cNvPr id="30" name="TextBox 29"/>
          <p:cNvSpPr txBox="1"/>
          <p:nvPr/>
        </p:nvSpPr>
        <p:spPr>
          <a:xfrm>
            <a:off x="7810501" y="4389120"/>
            <a:ext cx="3273552" cy="310896"/>
          </a:xfrm>
          <a:prstGeom prst="rect">
            <a:avLst/>
          </a:prstGeom>
          <a:noFill/>
        </p:spPr>
        <p:txBody>
          <a:bodyPr wrap="square" lIns="9144" tIns="0" rIns="9144" bIns="0">
            <a:spAutoFit/>
          </a:bodyPr>
          <a:lstStyle/>
          <a:p>
            <a:pPr>
              <a:spcAft>
                <a:spcPts val="400"/>
              </a:spcAft>
              <a:defRPr sz="1100" b="0">
                <a:solidFill>
                  <a:srgbClr val="A6B8CF"/>
                </a:solidFill>
                <a:latin typeface="Aptos"/>
              </a:defRPr>
            </a:pPr>
            <a:r>
              <a:t>SQL-reported workstation cost</a:t>
            </a:r>
          </a:p>
        </p:txBody>
      </p:sp>
      <p:sp>
        <p:nvSpPr>
          <p:cNvPr id="31" name="TextBox 30"/>
          <p:cNvSpPr txBox="1"/>
          <p:nvPr/>
        </p:nvSpPr>
        <p:spPr>
          <a:xfrm>
            <a:off x="7810501" y="5065776"/>
            <a:ext cx="3291840" cy="292608"/>
          </a:xfrm>
          <a:prstGeom prst="rect">
            <a:avLst/>
          </a:prstGeom>
          <a:noFill/>
        </p:spPr>
        <p:txBody>
          <a:bodyPr wrap="square" lIns="9144" tIns="0" rIns="9144" bIns="0">
            <a:spAutoFit/>
          </a:bodyPr>
          <a:lstStyle/>
          <a:p>
            <a:pPr>
              <a:spcAft>
                <a:spcPts val="400"/>
              </a:spcAft>
              <a:defRPr sz="1600" b="1">
                <a:solidFill>
                  <a:srgbClr val="3DCCC0"/>
                </a:solidFill>
                <a:latin typeface="Aptos"/>
              </a:defRPr>
            </a:pPr>
            <a:r>
              <a:t>£304.79 remaining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2" name="Rectangle 1"/>
          <p:cNvSpPr/>
          <p:nvPr/>
        </p:nvSpPr>
        <p:spPr>
          <a:xfrm>
            <a:off x="502920" y="411480"/>
            <a:ext cx="64008" cy="320040"/>
          </a:xfrm>
          <a:prstGeom prst="rect">
            <a:avLst/>
          </a:prstGeom>
          <a:solidFill>
            <a:srgbClr val="3DCC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04088" y="393192"/>
            <a:ext cx="5486400" cy="292608"/>
          </a:xfrm>
          <a:prstGeom prst="rect">
            <a:avLst/>
          </a:prstGeom>
          <a:noFill/>
        </p:spPr>
        <p:txBody>
          <a:bodyPr wrap="square" lIns="9144" tIns="0" rIns="9144" bIns="0">
            <a:spAutoFit/>
          </a:bodyPr>
          <a:lstStyle/>
          <a:p>
            <a:pPr>
              <a:spcAft>
                <a:spcPts val="400"/>
              </a:spcAft>
              <a:defRPr sz="1200" b="1">
                <a:solidFill>
                  <a:srgbClr val="3DCCC0"/>
                </a:solidFill>
                <a:latin typeface="Aptos"/>
              </a:defRPr>
            </a:pPr>
            <a:r>
              <a:t>MP1   /   COMPUTING   /   CHARLIE</a:t>
            </a:r>
          </a:p>
        </p:txBody>
      </p:sp>
      <p:sp>
        <p:nvSpPr>
          <p:cNvPr id="4" name="TextBox 3"/>
          <p:cNvSpPr txBox="1"/>
          <p:nvPr/>
        </p:nvSpPr>
        <p:spPr>
          <a:xfrm>
            <a:off x="566928" y="859536"/>
            <a:ext cx="11201400" cy="530352"/>
          </a:xfrm>
          <a:prstGeom prst="rect">
            <a:avLst/>
          </a:prstGeom>
          <a:noFill/>
        </p:spPr>
        <p:txBody>
          <a:bodyPr wrap="square" lIns="9144" tIns="0" rIns="9144" bIns="0">
            <a:spAutoFit/>
          </a:bodyPr>
          <a:lstStyle/>
          <a:p>
            <a:pPr>
              <a:spcAft>
                <a:spcPts val="400"/>
              </a:spcAft>
              <a:defRPr sz="2700" b="1">
                <a:solidFill>
                  <a:srgbClr val="F4F8FE"/>
                </a:solidFill>
                <a:latin typeface="Aptos"/>
              </a:defRPr>
            </a:pPr>
            <a:r>
              <a:t>Why each component was selected</a:t>
            </a:r>
          </a:p>
        </p:txBody>
      </p:sp>
      <p:sp>
        <p:nvSpPr>
          <p:cNvPr id="6" name="Rectangle 5"/>
          <p:cNvSpPr/>
          <p:nvPr/>
        </p:nvSpPr>
        <p:spPr>
          <a:xfrm>
            <a:off x="585216" y="6473952"/>
            <a:ext cx="11018520" cy="10972"/>
          </a:xfrm>
          <a:prstGeom prst="rect">
            <a:avLst/>
          </a:prstGeom>
          <a:solidFill>
            <a:srgbClr val="31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47104"/>
            <a:ext cx="9144000" cy="164592"/>
          </a:xfrm>
          <a:prstGeom prst="rect">
            <a:avLst/>
          </a:prstGeom>
          <a:noFill/>
        </p:spPr>
        <p:txBody>
          <a:bodyPr wrap="square" lIns="9144" tIns="0" rIns="9144" bIns="0">
            <a:spAutoFit/>
          </a:bodyPr>
          <a:lstStyle/>
          <a:p>
            <a:pPr>
              <a:spcAft>
                <a:spcPts val="400"/>
              </a:spcAft>
              <a:defRPr sz="900" b="0">
                <a:solidFill>
                  <a:srgbClr val="A6B8CF"/>
                </a:solidFill>
                <a:latin typeface="Aptos"/>
              </a:defRPr>
            </a:pPr>
            <a:r>
              <a:t>NORTHWEST ARCHITECTURE STUDIO   •   3D VISUALISATION SPECIALIST</a:t>
            </a:r>
          </a:p>
        </p:txBody>
      </p:sp>
      <p:sp>
        <p:nvSpPr>
          <p:cNvPr id="8" name="TextBox 7"/>
          <p:cNvSpPr txBox="1"/>
          <p:nvPr/>
        </p:nvSpPr>
        <p:spPr>
          <a:xfrm>
            <a:off x="11018520" y="6510528"/>
            <a:ext cx="502920" cy="210312"/>
          </a:xfrm>
          <a:prstGeom prst="rect">
            <a:avLst/>
          </a:prstGeom>
          <a:noFill/>
        </p:spPr>
        <p:txBody>
          <a:bodyPr wrap="square" lIns="9144" tIns="0" rIns="9144" bIns="0">
            <a:spAutoFit/>
          </a:bodyPr>
          <a:lstStyle/>
          <a:p>
            <a:pPr algn="r">
              <a:spcAft>
                <a:spcPts val="400"/>
              </a:spcAft>
              <a:defRPr sz="1100" b="1">
                <a:solidFill>
                  <a:srgbClr val="3DCCC0"/>
                </a:solidFill>
                <a:latin typeface="Aptos"/>
              </a:defRPr>
            </a:pPr>
            <a:r>
              <a:t>05</a:t>
            </a:r>
          </a:p>
        </p:txBody>
      </p:sp>
      <p:sp>
        <p:nvSpPr>
          <p:cNvPr id="9" name="Rounded Rectangle 8"/>
          <p:cNvSpPr/>
          <p:nvPr/>
        </p:nvSpPr>
        <p:spPr>
          <a:xfrm>
            <a:off x="502920" y="1618488"/>
            <a:ext cx="10972800" cy="770232"/>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0664" y="1801368"/>
            <a:ext cx="521207" cy="310896"/>
          </a:xfrm>
          <a:prstGeom prst="rect">
            <a:avLst/>
          </a:prstGeom>
          <a:noFill/>
        </p:spPr>
        <p:txBody>
          <a:bodyPr wrap="square" lIns="9144" tIns="0" rIns="9144" bIns="0">
            <a:spAutoFit/>
          </a:bodyPr>
          <a:lstStyle/>
          <a:p>
            <a:pPr>
              <a:spcAft>
                <a:spcPts val="400"/>
              </a:spcAft>
              <a:defRPr sz="1700" b="1">
                <a:solidFill>
                  <a:srgbClr val="3DCCC0"/>
                </a:solidFill>
                <a:latin typeface="Aptos"/>
              </a:defRPr>
            </a:pPr>
            <a:r>
              <a:t>01</a:t>
            </a:r>
          </a:p>
        </p:txBody>
      </p:sp>
      <p:sp>
        <p:nvSpPr>
          <p:cNvPr id="11" name="TextBox 10"/>
          <p:cNvSpPr txBox="1"/>
          <p:nvPr/>
        </p:nvSpPr>
        <p:spPr>
          <a:xfrm>
            <a:off x="1362456" y="1737360"/>
            <a:ext cx="3154680" cy="310896"/>
          </a:xfrm>
          <a:prstGeom prst="rect">
            <a:avLst/>
          </a:prstGeom>
          <a:noFill/>
        </p:spPr>
        <p:txBody>
          <a:bodyPr wrap="square" lIns="9144" tIns="0" rIns="9144" bIns="0">
            <a:spAutoFit/>
          </a:bodyPr>
          <a:lstStyle/>
          <a:p>
            <a:pPr>
              <a:spcAft>
                <a:spcPts val="400"/>
              </a:spcAft>
              <a:defRPr sz="1600" b="1">
                <a:solidFill>
                  <a:srgbClr val="F4F8FE"/>
                </a:solidFill>
                <a:latin typeface="Aptos"/>
              </a:defRPr>
            </a:pPr>
            <a:r>
              <a:t>CPU · Ryzen 9 9950X</a:t>
            </a:r>
          </a:p>
        </p:txBody>
      </p:sp>
      <p:sp>
        <p:nvSpPr>
          <p:cNvPr id="12" name="TextBox 11"/>
          <p:cNvSpPr txBox="1"/>
          <p:nvPr/>
        </p:nvSpPr>
        <p:spPr>
          <a:xfrm>
            <a:off x="4590288" y="1728216"/>
            <a:ext cx="6519672" cy="512064"/>
          </a:xfrm>
          <a:prstGeom prst="rect">
            <a:avLst/>
          </a:prstGeom>
          <a:noFill/>
        </p:spPr>
        <p:txBody>
          <a:bodyPr wrap="square" lIns="9144" tIns="0" rIns="9144" bIns="0">
            <a:spAutoFit/>
          </a:bodyPr>
          <a:lstStyle/>
          <a:p>
            <a:pPr>
              <a:spcAft>
                <a:spcPts val="400"/>
              </a:spcAft>
              <a:defRPr sz="1270" b="0">
                <a:solidFill>
                  <a:srgbClr val="A6B8CF"/>
                </a:solidFill>
                <a:latin typeface="Aptos"/>
              </a:defRPr>
            </a:pPr>
            <a:r>
              <a:t>16 CPU cores support demanding workloads and improve performance in rendering software that uses multiple cores.</a:t>
            </a:r>
          </a:p>
        </p:txBody>
      </p:sp>
      <p:sp>
        <p:nvSpPr>
          <p:cNvPr id="13" name="Rounded Rectangle 12"/>
          <p:cNvSpPr/>
          <p:nvPr/>
        </p:nvSpPr>
        <p:spPr>
          <a:xfrm>
            <a:off x="502920" y="2432304"/>
            <a:ext cx="10972800" cy="770232"/>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2615184"/>
            <a:ext cx="521207" cy="310896"/>
          </a:xfrm>
          <a:prstGeom prst="rect">
            <a:avLst/>
          </a:prstGeom>
          <a:noFill/>
        </p:spPr>
        <p:txBody>
          <a:bodyPr wrap="square" lIns="9144" tIns="0" rIns="9144" bIns="0">
            <a:spAutoFit/>
          </a:bodyPr>
          <a:lstStyle/>
          <a:p>
            <a:pPr>
              <a:spcAft>
                <a:spcPts val="400"/>
              </a:spcAft>
              <a:defRPr sz="1700" b="1">
                <a:solidFill>
                  <a:srgbClr val="3DCCC0"/>
                </a:solidFill>
                <a:latin typeface="Aptos"/>
              </a:defRPr>
            </a:pPr>
            <a:r>
              <a:t>02</a:t>
            </a:r>
          </a:p>
        </p:txBody>
      </p:sp>
      <p:sp>
        <p:nvSpPr>
          <p:cNvPr id="15" name="TextBox 14"/>
          <p:cNvSpPr txBox="1"/>
          <p:nvPr/>
        </p:nvSpPr>
        <p:spPr>
          <a:xfrm>
            <a:off x="1362456" y="2551176"/>
            <a:ext cx="3154680" cy="310896"/>
          </a:xfrm>
          <a:prstGeom prst="rect">
            <a:avLst/>
          </a:prstGeom>
          <a:noFill/>
        </p:spPr>
        <p:txBody>
          <a:bodyPr wrap="square" lIns="9144" tIns="0" rIns="9144" bIns="0">
            <a:spAutoFit/>
          </a:bodyPr>
          <a:lstStyle/>
          <a:p>
            <a:pPr>
              <a:spcAft>
                <a:spcPts val="400"/>
              </a:spcAft>
              <a:defRPr sz="1600" b="1">
                <a:solidFill>
                  <a:srgbClr val="F4F8FE"/>
                </a:solidFill>
                <a:latin typeface="Aptos"/>
              </a:defRPr>
            </a:pPr>
            <a:r>
              <a:t>GPU · RTX 5070 Ti</a:t>
            </a:r>
          </a:p>
        </p:txBody>
      </p:sp>
      <p:sp>
        <p:nvSpPr>
          <p:cNvPr id="16" name="TextBox 15"/>
          <p:cNvSpPr txBox="1"/>
          <p:nvPr/>
        </p:nvSpPr>
        <p:spPr>
          <a:xfrm>
            <a:off x="4590288" y="2542032"/>
            <a:ext cx="6519672" cy="512064"/>
          </a:xfrm>
          <a:prstGeom prst="rect">
            <a:avLst/>
          </a:prstGeom>
          <a:noFill/>
        </p:spPr>
        <p:txBody>
          <a:bodyPr wrap="square" lIns="9144" tIns="0" rIns="9144" bIns="0">
            <a:spAutoFit/>
          </a:bodyPr>
          <a:lstStyle/>
          <a:p>
            <a:pPr>
              <a:spcAft>
                <a:spcPts val="400"/>
              </a:spcAft>
              <a:defRPr sz="1270" b="0">
                <a:solidFill>
                  <a:srgbClr val="A6B8CF"/>
                </a:solidFill>
                <a:latin typeface="Aptos"/>
              </a:defRPr>
            </a:pPr>
            <a:r>
              <a:t>Dedicated graphics processing supports 3D visualisation; 16 GB VRAM accommodates complex scenes and high-resolution texture data.</a:t>
            </a:r>
          </a:p>
        </p:txBody>
      </p:sp>
      <p:sp>
        <p:nvSpPr>
          <p:cNvPr id="17" name="Rounded Rectangle 16"/>
          <p:cNvSpPr/>
          <p:nvPr/>
        </p:nvSpPr>
        <p:spPr>
          <a:xfrm>
            <a:off x="502920" y="3246120"/>
            <a:ext cx="10972800" cy="770232"/>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0664" y="3429000"/>
            <a:ext cx="521207" cy="310896"/>
          </a:xfrm>
          <a:prstGeom prst="rect">
            <a:avLst/>
          </a:prstGeom>
          <a:noFill/>
        </p:spPr>
        <p:txBody>
          <a:bodyPr wrap="square" lIns="9144" tIns="0" rIns="9144" bIns="0">
            <a:spAutoFit/>
          </a:bodyPr>
          <a:lstStyle/>
          <a:p>
            <a:pPr>
              <a:spcAft>
                <a:spcPts val="400"/>
              </a:spcAft>
              <a:defRPr sz="1700" b="1">
                <a:solidFill>
                  <a:srgbClr val="3DCCC0"/>
                </a:solidFill>
                <a:latin typeface="Aptos"/>
              </a:defRPr>
            </a:pPr>
            <a:r>
              <a:t>03</a:t>
            </a:r>
          </a:p>
        </p:txBody>
      </p:sp>
      <p:sp>
        <p:nvSpPr>
          <p:cNvPr id="19" name="TextBox 18"/>
          <p:cNvSpPr txBox="1"/>
          <p:nvPr/>
        </p:nvSpPr>
        <p:spPr>
          <a:xfrm>
            <a:off x="1362456" y="3364992"/>
            <a:ext cx="3154680" cy="310896"/>
          </a:xfrm>
          <a:prstGeom prst="rect">
            <a:avLst/>
          </a:prstGeom>
          <a:noFill/>
        </p:spPr>
        <p:txBody>
          <a:bodyPr wrap="square" lIns="9144" tIns="0" rIns="9144" bIns="0">
            <a:spAutoFit/>
          </a:bodyPr>
          <a:lstStyle/>
          <a:p>
            <a:pPr>
              <a:spcAft>
                <a:spcPts val="400"/>
              </a:spcAft>
              <a:defRPr sz="1600" b="1">
                <a:solidFill>
                  <a:srgbClr val="F4F8FE"/>
                </a:solidFill>
                <a:latin typeface="Aptos"/>
              </a:defRPr>
            </a:pPr>
            <a:r>
              <a:rPr dirty="0"/>
              <a:t>RAM · 64 GB, 6000 MHz</a:t>
            </a:r>
          </a:p>
        </p:txBody>
      </p:sp>
      <p:sp>
        <p:nvSpPr>
          <p:cNvPr id="20" name="TextBox 19"/>
          <p:cNvSpPr txBox="1"/>
          <p:nvPr/>
        </p:nvSpPr>
        <p:spPr>
          <a:xfrm>
            <a:off x="4590288" y="3355848"/>
            <a:ext cx="6519672" cy="512064"/>
          </a:xfrm>
          <a:prstGeom prst="rect">
            <a:avLst/>
          </a:prstGeom>
          <a:noFill/>
        </p:spPr>
        <p:txBody>
          <a:bodyPr wrap="square" lIns="9144" tIns="0" rIns="9144" bIns="0">
            <a:spAutoFit/>
          </a:bodyPr>
          <a:lstStyle/>
          <a:p>
            <a:pPr>
              <a:spcAft>
                <a:spcPts val="400"/>
              </a:spcAft>
              <a:defRPr sz="1270" b="0">
                <a:solidFill>
                  <a:srgbClr val="A6B8CF"/>
                </a:solidFill>
                <a:latin typeface="Aptos"/>
              </a:defRPr>
            </a:pPr>
            <a:r>
              <a:t>Capacity for large 3D projects and assets, while allowing demanding applications and supporting software to run together.</a:t>
            </a:r>
          </a:p>
        </p:txBody>
      </p:sp>
      <p:sp>
        <p:nvSpPr>
          <p:cNvPr id="21" name="Rounded Rectangle 20"/>
          <p:cNvSpPr/>
          <p:nvPr/>
        </p:nvSpPr>
        <p:spPr>
          <a:xfrm>
            <a:off x="502920" y="4059936"/>
            <a:ext cx="10972800" cy="770232"/>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0664" y="4242816"/>
            <a:ext cx="521207" cy="310896"/>
          </a:xfrm>
          <a:prstGeom prst="rect">
            <a:avLst/>
          </a:prstGeom>
          <a:noFill/>
        </p:spPr>
        <p:txBody>
          <a:bodyPr wrap="square" lIns="9144" tIns="0" rIns="9144" bIns="0">
            <a:spAutoFit/>
          </a:bodyPr>
          <a:lstStyle/>
          <a:p>
            <a:pPr>
              <a:spcAft>
                <a:spcPts val="400"/>
              </a:spcAft>
              <a:defRPr sz="1700" b="1">
                <a:solidFill>
                  <a:srgbClr val="3DCCC0"/>
                </a:solidFill>
                <a:latin typeface="Aptos"/>
              </a:defRPr>
            </a:pPr>
            <a:r>
              <a:t>04</a:t>
            </a:r>
          </a:p>
        </p:txBody>
      </p:sp>
      <p:sp>
        <p:nvSpPr>
          <p:cNvPr id="23" name="TextBox 22"/>
          <p:cNvSpPr txBox="1"/>
          <p:nvPr/>
        </p:nvSpPr>
        <p:spPr>
          <a:xfrm>
            <a:off x="1362456" y="4178808"/>
            <a:ext cx="3154680" cy="310896"/>
          </a:xfrm>
          <a:prstGeom prst="rect">
            <a:avLst/>
          </a:prstGeom>
          <a:noFill/>
        </p:spPr>
        <p:txBody>
          <a:bodyPr wrap="square" lIns="9144" tIns="0" rIns="9144" bIns="0">
            <a:spAutoFit/>
          </a:bodyPr>
          <a:lstStyle/>
          <a:p>
            <a:pPr>
              <a:spcAft>
                <a:spcPts val="400"/>
              </a:spcAft>
              <a:defRPr sz="1600" b="1">
                <a:solidFill>
                  <a:srgbClr val="F4F8FE"/>
                </a:solidFill>
                <a:latin typeface="Aptos"/>
              </a:defRPr>
            </a:pPr>
            <a:r>
              <a:rPr dirty="0"/>
              <a:t>Storage · 2 TB </a:t>
            </a:r>
            <a:r>
              <a:rPr dirty="0" err="1"/>
              <a:t>NVMe</a:t>
            </a:r>
            <a:r>
              <a:rPr dirty="0"/>
              <a:t> SSD</a:t>
            </a:r>
          </a:p>
        </p:txBody>
      </p:sp>
      <p:sp>
        <p:nvSpPr>
          <p:cNvPr id="24" name="TextBox 23"/>
          <p:cNvSpPr txBox="1"/>
          <p:nvPr/>
        </p:nvSpPr>
        <p:spPr>
          <a:xfrm>
            <a:off x="4590288" y="4169664"/>
            <a:ext cx="6519672" cy="512064"/>
          </a:xfrm>
          <a:prstGeom prst="rect">
            <a:avLst/>
          </a:prstGeom>
          <a:noFill/>
        </p:spPr>
        <p:txBody>
          <a:bodyPr wrap="square" lIns="9144" tIns="0" rIns="9144" bIns="0">
            <a:spAutoFit/>
          </a:bodyPr>
          <a:lstStyle/>
          <a:p>
            <a:pPr>
              <a:spcAft>
                <a:spcPts val="400"/>
              </a:spcAft>
              <a:defRPr sz="1270" b="0">
                <a:solidFill>
                  <a:srgbClr val="A6B8CF"/>
                </a:solidFill>
                <a:latin typeface="Aptos"/>
              </a:defRPr>
            </a:pPr>
            <a:r>
              <a:t>Room for large project files, with faster loading and saving than traditional hard drives.</a:t>
            </a:r>
          </a:p>
        </p:txBody>
      </p:sp>
      <p:sp>
        <p:nvSpPr>
          <p:cNvPr id="25" name="Rounded Rectangle 24"/>
          <p:cNvSpPr/>
          <p:nvPr/>
        </p:nvSpPr>
        <p:spPr>
          <a:xfrm>
            <a:off x="502920" y="4873752"/>
            <a:ext cx="10972800" cy="770232"/>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0664" y="5056632"/>
            <a:ext cx="521207" cy="310896"/>
          </a:xfrm>
          <a:prstGeom prst="rect">
            <a:avLst/>
          </a:prstGeom>
          <a:noFill/>
        </p:spPr>
        <p:txBody>
          <a:bodyPr wrap="square" lIns="9144" tIns="0" rIns="9144" bIns="0">
            <a:spAutoFit/>
          </a:bodyPr>
          <a:lstStyle/>
          <a:p>
            <a:pPr>
              <a:spcAft>
                <a:spcPts val="400"/>
              </a:spcAft>
              <a:defRPr sz="1700" b="1">
                <a:solidFill>
                  <a:srgbClr val="3DCCC0"/>
                </a:solidFill>
                <a:latin typeface="Aptos"/>
              </a:defRPr>
            </a:pPr>
            <a:r>
              <a:t>05</a:t>
            </a:r>
          </a:p>
        </p:txBody>
      </p:sp>
      <p:sp>
        <p:nvSpPr>
          <p:cNvPr id="27" name="TextBox 26"/>
          <p:cNvSpPr txBox="1"/>
          <p:nvPr/>
        </p:nvSpPr>
        <p:spPr>
          <a:xfrm>
            <a:off x="1362456" y="4992624"/>
            <a:ext cx="3154680" cy="310896"/>
          </a:xfrm>
          <a:prstGeom prst="rect">
            <a:avLst/>
          </a:prstGeom>
          <a:noFill/>
        </p:spPr>
        <p:txBody>
          <a:bodyPr wrap="square" lIns="9144" tIns="0" rIns="9144" bIns="0">
            <a:spAutoFit/>
          </a:bodyPr>
          <a:lstStyle/>
          <a:p>
            <a:pPr>
              <a:spcAft>
                <a:spcPts val="400"/>
              </a:spcAft>
              <a:defRPr sz="1600" b="1">
                <a:solidFill>
                  <a:srgbClr val="F4F8FE"/>
                </a:solidFill>
                <a:latin typeface="Aptos"/>
              </a:defRPr>
            </a:pPr>
            <a:r>
              <a:t>Monitor · AOC U27B3A 4K IPS</a:t>
            </a:r>
          </a:p>
        </p:txBody>
      </p:sp>
      <p:sp>
        <p:nvSpPr>
          <p:cNvPr id="28" name="TextBox 27"/>
          <p:cNvSpPr txBox="1"/>
          <p:nvPr/>
        </p:nvSpPr>
        <p:spPr>
          <a:xfrm>
            <a:off x="4590288" y="4983480"/>
            <a:ext cx="6519672" cy="512064"/>
          </a:xfrm>
          <a:prstGeom prst="rect">
            <a:avLst/>
          </a:prstGeom>
          <a:noFill/>
        </p:spPr>
        <p:txBody>
          <a:bodyPr wrap="square" lIns="9144" tIns="0" rIns="9144" bIns="0">
            <a:spAutoFit/>
          </a:bodyPr>
          <a:lstStyle/>
          <a:p>
            <a:pPr>
              <a:spcAft>
                <a:spcPts val="400"/>
              </a:spcAft>
              <a:defRPr sz="1270" b="0">
                <a:solidFill>
                  <a:srgbClr val="A6B8CF"/>
                </a:solidFill>
                <a:latin typeface="Aptos"/>
              </a:defRPr>
            </a:pPr>
            <a:r>
              <a:t>4K resolution helps inspect fine visual detail, and IPS technology provides wide viewing angles for reviewing 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2" name="Rectangle 1"/>
          <p:cNvSpPr/>
          <p:nvPr/>
        </p:nvSpPr>
        <p:spPr>
          <a:xfrm>
            <a:off x="502920" y="411480"/>
            <a:ext cx="64008" cy="320040"/>
          </a:xfrm>
          <a:prstGeom prst="rect">
            <a:avLst/>
          </a:prstGeom>
          <a:solidFill>
            <a:srgbClr val="3DCC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04088" y="393192"/>
            <a:ext cx="5486400" cy="292608"/>
          </a:xfrm>
          <a:prstGeom prst="rect">
            <a:avLst/>
          </a:prstGeom>
          <a:noFill/>
        </p:spPr>
        <p:txBody>
          <a:bodyPr wrap="square" lIns="9144" tIns="0" rIns="9144" bIns="0">
            <a:spAutoFit/>
          </a:bodyPr>
          <a:lstStyle/>
          <a:p>
            <a:pPr>
              <a:spcAft>
                <a:spcPts val="400"/>
              </a:spcAft>
              <a:defRPr sz="1200" b="1">
                <a:solidFill>
                  <a:srgbClr val="3DCCC0"/>
                </a:solidFill>
                <a:latin typeface="Aptos"/>
              </a:defRPr>
            </a:pPr>
            <a:r>
              <a:t>MP1   /   COMPUTING   /   CHARLIE</a:t>
            </a:r>
          </a:p>
        </p:txBody>
      </p:sp>
      <p:sp>
        <p:nvSpPr>
          <p:cNvPr id="4" name="TextBox 3"/>
          <p:cNvSpPr txBox="1"/>
          <p:nvPr/>
        </p:nvSpPr>
        <p:spPr>
          <a:xfrm>
            <a:off x="495300" y="928116"/>
            <a:ext cx="11201400" cy="530352"/>
          </a:xfrm>
          <a:prstGeom prst="rect">
            <a:avLst/>
          </a:prstGeom>
          <a:noFill/>
        </p:spPr>
        <p:txBody>
          <a:bodyPr wrap="square" lIns="9144" tIns="0" rIns="9144" bIns="0">
            <a:spAutoFit/>
          </a:bodyPr>
          <a:lstStyle/>
          <a:p>
            <a:pPr>
              <a:spcAft>
                <a:spcPts val="400"/>
              </a:spcAft>
              <a:defRPr sz="2700" b="1">
                <a:solidFill>
                  <a:srgbClr val="F4F8FE"/>
                </a:solidFill>
                <a:latin typeface="Aptos"/>
              </a:defRPr>
            </a:pPr>
            <a:r>
              <a:t>Original BuildCores evidence</a:t>
            </a:r>
          </a:p>
        </p:txBody>
      </p:sp>
      <p:sp>
        <p:nvSpPr>
          <p:cNvPr id="6" name="Rectangle 5"/>
          <p:cNvSpPr/>
          <p:nvPr/>
        </p:nvSpPr>
        <p:spPr>
          <a:xfrm>
            <a:off x="585216" y="6473952"/>
            <a:ext cx="11018520" cy="10972"/>
          </a:xfrm>
          <a:prstGeom prst="rect">
            <a:avLst/>
          </a:prstGeom>
          <a:solidFill>
            <a:srgbClr val="31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47104"/>
            <a:ext cx="9144000" cy="164592"/>
          </a:xfrm>
          <a:prstGeom prst="rect">
            <a:avLst/>
          </a:prstGeom>
          <a:noFill/>
        </p:spPr>
        <p:txBody>
          <a:bodyPr wrap="square" lIns="9144" tIns="0" rIns="9144" bIns="0">
            <a:spAutoFit/>
          </a:bodyPr>
          <a:lstStyle/>
          <a:p>
            <a:pPr>
              <a:spcAft>
                <a:spcPts val="400"/>
              </a:spcAft>
              <a:defRPr sz="900" b="0">
                <a:solidFill>
                  <a:srgbClr val="A6B8CF"/>
                </a:solidFill>
                <a:latin typeface="Aptos"/>
              </a:defRPr>
            </a:pPr>
            <a:r>
              <a:rPr dirty="0"/>
              <a:t>NORTHWEST ARCHITECTURE STUDIO   •   3D VISUALISATION SPECIALIST</a:t>
            </a:r>
          </a:p>
        </p:txBody>
      </p:sp>
      <p:sp>
        <p:nvSpPr>
          <p:cNvPr id="8" name="TextBox 7"/>
          <p:cNvSpPr txBox="1"/>
          <p:nvPr/>
        </p:nvSpPr>
        <p:spPr>
          <a:xfrm>
            <a:off x="11018520" y="6510528"/>
            <a:ext cx="502920" cy="210312"/>
          </a:xfrm>
          <a:prstGeom prst="rect">
            <a:avLst/>
          </a:prstGeom>
          <a:noFill/>
        </p:spPr>
        <p:txBody>
          <a:bodyPr wrap="square" lIns="9144" tIns="0" rIns="9144" bIns="0">
            <a:spAutoFit/>
          </a:bodyPr>
          <a:lstStyle/>
          <a:p>
            <a:pPr algn="r">
              <a:spcAft>
                <a:spcPts val="400"/>
              </a:spcAft>
              <a:defRPr sz="1100" b="1">
                <a:solidFill>
                  <a:srgbClr val="3DCCC0"/>
                </a:solidFill>
                <a:latin typeface="Aptos"/>
              </a:defRPr>
            </a:pPr>
            <a:r>
              <a:t>06</a:t>
            </a:r>
          </a:p>
        </p:txBody>
      </p:sp>
      <p:sp>
        <p:nvSpPr>
          <p:cNvPr id="9" name="Rounded Rectangle 8"/>
          <p:cNvSpPr/>
          <p:nvPr/>
        </p:nvSpPr>
        <p:spPr>
          <a:xfrm>
            <a:off x="585216" y="1655064"/>
            <a:ext cx="7342631" cy="411480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3"/>
          <a:stretch>
            <a:fillRect/>
          </a:stretch>
        </p:blipFill>
        <p:spPr>
          <a:xfrm>
            <a:off x="795528" y="1893375"/>
            <a:ext cx="6931152" cy="3638177"/>
          </a:xfrm>
          <a:prstGeom prst="rect">
            <a:avLst/>
          </a:prstGeom>
        </p:spPr>
      </p:pic>
      <p:sp>
        <p:nvSpPr>
          <p:cNvPr id="11" name="Rounded Rectangle 10"/>
          <p:cNvSpPr/>
          <p:nvPr/>
        </p:nvSpPr>
        <p:spPr>
          <a:xfrm>
            <a:off x="8156448" y="1655064"/>
            <a:ext cx="3419856" cy="411480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49056" y="2240280"/>
            <a:ext cx="4572000" cy="169277"/>
          </a:xfrm>
          <a:prstGeom prst="rect">
            <a:avLst/>
          </a:prstGeom>
          <a:noFill/>
        </p:spPr>
        <p:txBody>
          <a:bodyPr wrap="square" lIns="9144" tIns="0" rIns="9144" bIns="0">
            <a:spAutoFit/>
          </a:bodyPr>
          <a:lstStyle/>
          <a:p>
            <a:pPr>
              <a:spcAft>
                <a:spcPts val="400"/>
              </a:spcAft>
              <a:defRPr sz="1100" b="1">
                <a:solidFill>
                  <a:srgbClr val="3DCCC0"/>
                </a:solidFill>
                <a:latin typeface="Aptos"/>
              </a:defRPr>
            </a:pPr>
            <a:r>
              <a:rPr lang="en-GB" dirty="0"/>
              <a:t>SQL TOTAL</a:t>
            </a:r>
            <a:endParaRPr dirty="0"/>
          </a:p>
        </p:txBody>
      </p:sp>
      <p:sp>
        <p:nvSpPr>
          <p:cNvPr id="13" name="TextBox 12"/>
          <p:cNvSpPr txBox="1"/>
          <p:nvPr/>
        </p:nvSpPr>
        <p:spPr>
          <a:xfrm>
            <a:off x="8394192" y="2485335"/>
            <a:ext cx="2788920" cy="685800"/>
          </a:xfrm>
          <a:prstGeom prst="rect">
            <a:avLst/>
          </a:prstGeom>
          <a:noFill/>
        </p:spPr>
        <p:txBody>
          <a:bodyPr wrap="square" lIns="9144" tIns="0" rIns="9144" bIns="0">
            <a:spAutoFit/>
          </a:bodyPr>
          <a:lstStyle/>
          <a:p>
            <a:pPr>
              <a:spcAft>
                <a:spcPts val="400"/>
              </a:spcAft>
              <a:defRPr sz="2200" b="1">
                <a:solidFill>
                  <a:srgbClr val="F4F8FE"/>
                </a:solidFill>
                <a:latin typeface="Aptos"/>
              </a:defRPr>
            </a:pPr>
            <a:r>
              <a:rPr dirty="0"/>
              <a:t>3D </a:t>
            </a:r>
            <a:r>
              <a:rPr dirty="0" err="1"/>
              <a:t>Visualisation</a:t>
            </a:r>
            <a:r>
              <a:rPr dirty="0"/>
              <a:t> Specialist</a:t>
            </a:r>
          </a:p>
        </p:txBody>
      </p:sp>
      <p:sp>
        <p:nvSpPr>
          <p:cNvPr id="14" name="TextBox 13"/>
          <p:cNvSpPr txBox="1"/>
          <p:nvPr/>
        </p:nvSpPr>
        <p:spPr>
          <a:xfrm>
            <a:off x="8394192" y="3408928"/>
            <a:ext cx="2743200" cy="738664"/>
          </a:xfrm>
          <a:prstGeom prst="rect">
            <a:avLst/>
          </a:prstGeom>
          <a:noFill/>
        </p:spPr>
        <p:txBody>
          <a:bodyPr wrap="square" lIns="9144" tIns="0" rIns="9144" bIns="0">
            <a:spAutoFit/>
          </a:bodyPr>
          <a:lstStyle/>
          <a:p>
            <a:pPr>
              <a:spcAft>
                <a:spcPts val="400"/>
              </a:spcAft>
              <a:defRPr sz="2900" b="1">
                <a:solidFill>
                  <a:srgbClr val="3DCCC0"/>
                </a:solidFill>
                <a:latin typeface="Aptos"/>
              </a:defRPr>
            </a:pPr>
            <a:r>
              <a:rPr sz="4800" dirty="0"/>
              <a:t>£</a:t>
            </a:r>
            <a:r>
              <a:rPr lang="en-GB" sz="4800" dirty="0"/>
              <a:t>3</a:t>
            </a:r>
            <a:r>
              <a:rPr sz="4800" dirty="0"/>
              <a:t>,</a:t>
            </a:r>
            <a:r>
              <a:rPr lang="en-GB" sz="4800" dirty="0"/>
              <a:t>445.21</a:t>
            </a:r>
            <a:endParaRPr sz="4800" dirty="0"/>
          </a:p>
        </p:txBody>
      </p:sp>
      <p:sp>
        <p:nvSpPr>
          <p:cNvPr id="16" name="Rectangle 15"/>
          <p:cNvSpPr/>
          <p:nvPr/>
        </p:nvSpPr>
        <p:spPr>
          <a:xfrm>
            <a:off x="8339328" y="4336178"/>
            <a:ext cx="2798064" cy="10972"/>
          </a:xfrm>
          <a:prstGeom prst="rect">
            <a:avLst/>
          </a:prstGeom>
          <a:solidFill>
            <a:srgbClr val="31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4529726"/>
            <a:ext cx="2779776" cy="689420"/>
          </a:xfrm>
          <a:prstGeom prst="rect">
            <a:avLst/>
          </a:prstGeom>
          <a:noFill/>
        </p:spPr>
        <p:txBody>
          <a:bodyPr wrap="square" lIns="9144" tIns="0" rIns="9144" bIns="0">
            <a:spAutoFit/>
          </a:bodyPr>
          <a:lstStyle/>
          <a:p>
            <a:pPr>
              <a:spcAft>
                <a:spcPts val="400"/>
              </a:spcAft>
              <a:defRPr sz="1120" b="0">
                <a:solidFill>
                  <a:srgbClr val="F8BF5E"/>
                </a:solidFill>
                <a:latin typeface="Aptos"/>
              </a:defRPr>
            </a:pPr>
            <a:r>
              <a:rPr dirty="0"/>
              <a:t>Th</a:t>
            </a:r>
            <a:r>
              <a:rPr lang="en-GB" dirty="0"/>
              <a:t>e BuildCores displayed total was incomplete. The SQL database calculates £3,445.21 from the hardware costs recorded in the database.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2" name="Rectangle 1"/>
          <p:cNvSpPr/>
          <p:nvPr/>
        </p:nvSpPr>
        <p:spPr>
          <a:xfrm>
            <a:off x="502920" y="411480"/>
            <a:ext cx="64008" cy="320040"/>
          </a:xfrm>
          <a:prstGeom prst="rect">
            <a:avLst/>
          </a:prstGeom>
          <a:solidFill>
            <a:srgbClr val="3DCC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04088" y="393192"/>
            <a:ext cx="5486400" cy="292608"/>
          </a:xfrm>
          <a:prstGeom prst="rect">
            <a:avLst/>
          </a:prstGeom>
          <a:noFill/>
        </p:spPr>
        <p:txBody>
          <a:bodyPr wrap="square" lIns="9144" tIns="0" rIns="9144" bIns="0">
            <a:spAutoFit/>
          </a:bodyPr>
          <a:lstStyle/>
          <a:p>
            <a:pPr>
              <a:spcAft>
                <a:spcPts val="400"/>
              </a:spcAft>
              <a:defRPr sz="1200" b="1">
                <a:solidFill>
                  <a:srgbClr val="3DCCC0"/>
                </a:solidFill>
                <a:latin typeface="Aptos"/>
              </a:defRPr>
            </a:pPr>
            <a:r>
              <a:rPr dirty="0"/>
              <a:t>MP1   /   COMPUTING   /   CHARLIE</a:t>
            </a:r>
          </a:p>
        </p:txBody>
      </p:sp>
      <p:sp>
        <p:nvSpPr>
          <p:cNvPr id="4" name="TextBox 3"/>
          <p:cNvSpPr txBox="1"/>
          <p:nvPr/>
        </p:nvSpPr>
        <p:spPr>
          <a:xfrm>
            <a:off x="566928" y="859536"/>
            <a:ext cx="11201400" cy="530352"/>
          </a:xfrm>
          <a:prstGeom prst="rect">
            <a:avLst/>
          </a:prstGeom>
          <a:noFill/>
        </p:spPr>
        <p:txBody>
          <a:bodyPr wrap="square" lIns="9144" tIns="0" rIns="9144" bIns="0">
            <a:spAutoFit/>
          </a:bodyPr>
          <a:lstStyle/>
          <a:p>
            <a:pPr>
              <a:spcAft>
                <a:spcPts val="400"/>
              </a:spcAft>
              <a:defRPr sz="2700" b="1">
                <a:solidFill>
                  <a:srgbClr val="F4F8FE"/>
                </a:solidFill>
                <a:latin typeface="Aptos"/>
              </a:defRPr>
            </a:pPr>
            <a:r>
              <a:t>SQL evidence: querying workstation costs</a:t>
            </a:r>
          </a:p>
        </p:txBody>
      </p:sp>
      <p:sp>
        <p:nvSpPr>
          <p:cNvPr id="6" name="Rectangle 5"/>
          <p:cNvSpPr/>
          <p:nvPr/>
        </p:nvSpPr>
        <p:spPr>
          <a:xfrm>
            <a:off x="585216" y="6473952"/>
            <a:ext cx="11018520" cy="10972"/>
          </a:xfrm>
          <a:prstGeom prst="rect">
            <a:avLst/>
          </a:prstGeom>
          <a:solidFill>
            <a:srgbClr val="31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47104"/>
            <a:ext cx="9144000" cy="164592"/>
          </a:xfrm>
          <a:prstGeom prst="rect">
            <a:avLst/>
          </a:prstGeom>
          <a:noFill/>
        </p:spPr>
        <p:txBody>
          <a:bodyPr wrap="square" lIns="9144" tIns="0" rIns="9144" bIns="0">
            <a:spAutoFit/>
          </a:bodyPr>
          <a:lstStyle/>
          <a:p>
            <a:pPr>
              <a:spcAft>
                <a:spcPts val="400"/>
              </a:spcAft>
              <a:defRPr sz="900" b="0">
                <a:solidFill>
                  <a:srgbClr val="A6B8CF"/>
                </a:solidFill>
                <a:latin typeface="Aptos"/>
              </a:defRPr>
            </a:pPr>
            <a:r>
              <a:t>NORTHWEST ARCHITECTURE STUDIO   •   3D VISUALISATION SPECIALIST</a:t>
            </a:r>
          </a:p>
        </p:txBody>
      </p:sp>
      <p:sp>
        <p:nvSpPr>
          <p:cNvPr id="8" name="TextBox 7"/>
          <p:cNvSpPr txBox="1"/>
          <p:nvPr/>
        </p:nvSpPr>
        <p:spPr>
          <a:xfrm>
            <a:off x="11018520" y="6510528"/>
            <a:ext cx="502920" cy="210312"/>
          </a:xfrm>
          <a:prstGeom prst="rect">
            <a:avLst/>
          </a:prstGeom>
          <a:noFill/>
        </p:spPr>
        <p:txBody>
          <a:bodyPr wrap="square" lIns="9144" tIns="0" rIns="9144" bIns="0">
            <a:spAutoFit/>
          </a:bodyPr>
          <a:lstStyle/>
          <a:p>
            <a:pPr algn="r">
              <a:spcAft>
                <a:spcPts val="400"/>
              </a:spcAft>
              <a:defRPr sz="1100" b="1">
                <a:solidFill>
                  <a:srgbClr val="3DCCC0"/>
                </a:solidFill>
                <a:latin typeface="Aptos"/>
              </a:defRPr>
            </a:pPr>
            <a:r>
              <a:rPr dirty="0"/>
              <a:t>07</a:t>
            </a:r>
          </a:p>
        </p:txBody>
      </p:sp>
      <p:sp>
        <p:nvSpPr>
          <p:cNvPr id="9" name="Rounded Rectangle 8"/>
          <p:cNvSpPr/>
          <p:nvPr/>
        </p:nvSpPr>
        <p:spPr>
          <a:xfrm>
            <a:off x="633984" y="2990088"/>
            <a:ext cx="6824471" cy="3378708"/>
          </a:xfrm>
          <a:prstGeom prst="roundRect">
            <a:avLst>
              <a:gd name="adj" fmla="val 12000"/>
            </a:avLst>
          </a:prstGeom>
          <a:solidFill>
            <a:schemeClr val="tx2">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3"/>
          <a:stretch>
            <a:fillRect/>
          </a:stretch>
        </p:blipFill>
        <p:spPr>
          <a:xfrm>
            <a:off x="963168" y="3091434"/>
            <a:ext cx="6267831" cy="3162299"/>
          </a:xfrm>
          <a:prstGeom prst="rect">
            <a:avLst/>
          </a:prstGeom>
        </p:spPr>
      </p:pic>
      <p:sp>
        <p:nvSpPr>
          <p:cNvPr id="11" name="Rounded Rectangle 10"/>
          <p:cNvSpPr/>
          <p:nvPr/>
        </p:nvSpPr>
        <p:spPr>
          <a:xfrm>
            <a:off x="8193024" y="1517904"/>
            <a:ext cx="3364992" cy="4443984"/>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76488" y="2231136"/>
            <a:ext cx="4572000" cy="256032"/>
          </a:xfrm>
          <a:prstGeom prst="rect">
            <a:avLst/>
          </a:prstGeom>
          <a:noFill/>
        </p:spPr>
        <p:txBody>
          <a:bodyPr wrap="square" lIns="9144" tIns="0" rIns="9144" bIns="0">
            <a:spAutoFit/>
          </a:bodyPr>
          <a:lstStyle/>
          <a:p>
            <a:pPr>
              <a:spcAft>
                <a:spcPts val="400"/>
              </a:spcAft>
              <a:defRPr sz="1100" b="1">
                <a:solidFill>
                  <a:srgbClr val="3DCCC0"/>
                </a:solidFill>
                <a:latin typeface="Aptos"/>
              </a:defRPr>
            </a:pPr>
            <a:r>
              <a:t>HOW THE QUERY WORKS</a:t>
            </a:r>
          </a:p>
        </p:txBody>
      </p:sp>
      <p:sp>
        <p:nvSpPr>
          <p:cNvPr id="13" name="TextBox 12"/>
          <p:cNvSpPr txBox="1"/>
          <p:nvPr/>
        </p:nvSpPr>
        <p:spPr>
          <a:xfrm>
            <a:off x="8449056" y="2414016"/>
            <a:ext cx="2715768" cy="256032"/>
          </a:xfrm>
          <a:prstGeom prst="rect">
            <a:avLst/>
          </a:prstGeom>
          <a:noFill/>
        </p:spPr>
        <p:txBody>
          <a:bodyPr wrap="square" lIns="9144" tIns="0" rIns="9144" bIns="0">
            <a:spAutoFit/>
          </a:bodyPr>
          <a:lstStyle/>
          <a:p>
            <a:pPr>
              <a:spcAft>
                <a:spcPts val="400"/>
              </a:spcAft>
              <a:defRPr sz="1400" b="1">
                <a:solidFill>
                  <a:srgbClr val="F4F8FE"/>
                </a:solidFill>
                <a:latin typeface="Aptos"/>
              </a:defRPr>
            </a:pPr>
            <a:r>
              <a:t>JOIN</a:t>
            </a:r>
          </a:p>
        </p:txBody>
      </p:sp>
      <p:sp>
        <p:nvSpPr>
          <p:cNvPr id="14" name="TextBox 13"/>
          <p:cNvSpPr txBox="1"/>
          <p:nvPr/>
        </p:nvSpPr>
        <p:spPr>
          <a:xfrm>
            <a:off x="8449056" y="2688336"/>
            <a:ext cx="2779776" cy="301752"/>
          </a:xfrm>
          <a:prstGeom prst="rect">
            <a:avLst/>
          </a:prstGeom>
          <a:noFill/>
        </p:spPr>
        <p:txBody>
          <a:bodyPr wrap="square" lIns="9144" tIns="0" rIns="9144" bIns="0">
            <a:spAutoFit/>
          </a:bodyPr>
          <a:lstStyle/>
          <a:p>
            <a:pPr>
              <a:spcAft>
                <a:spcPts val="400"/>
              </a:spcAft>
              <a:defRPr sz="1100" b="0">
                <a:solidFill>
                  <a:srgbClr val="A6B8CF"/>
                </a:solidFill>
                <a:latin typeface="Aptos"/>
              </a:defRPr>
            </a:pPr>
            <a:r>
              <a:t>Links hardware items, builds and roles</a:t>
            </a:r>
          </a:p>
        </p:txBody>
      </p:sp>
      <p:sp>
        <p:nvSpPr>
          <p:cNvPr id="15" name="TextBox 14"/>
          <p:cNvSpPr txBox="1"/>
          <p:nvPr/>
        </p:nvSpPr>
        <p:spPr>
          <a:xfrm>
            <a:off x="8449056" y="3035808"/>
            <a:ext cx="2715768" cy="256032"/>
          </a:xfrm>
          <a:prstGeom prst="rect">
            <a:avLst/>
          </a:prstGeom>
          <a:noFill/>
        </p:spPr>
        <p:txBody>
          <a:bodyPr wrap="square" lIns="9144" tIns="0" rIns="9144" bIns="0">
            <a:spAutoFit/>
          </a:bodyPr>
          <a:lstStyle/>
          <a:p>
            <a:pPr>
              <a:spcAft>
                <a:spcPts val="400"/>
              </a:spcAft>
              <a:defRPr sz="1400" b="1">
                <a:solidFill>
                  <a:srgbClr val="F4F8FE"/>
                </a:solidFill>
                <a:latin typeface="Aptos"/>
              </a:defRPr>
            </a:pPr>
            <a:r>
              <a:t>SUM</a:t>
            </a:r>
          </a:p>
        </p:txBody>
      </p:sp>
      <p:sp>
        <p:nvSpPr>
          <p:cNvPr id="16" name="TextBox 15"/>
          <p:cNvSpPr txBox="1"/>
          <p:nvPr/>
        </p:nvSpPr>
        <p:spPr>
          <a:xfrm>
            <a:off x="8449056" y="3310128"/>
            <a:ext cx="2779776" cy="301752"/>
          </a:xfrm>
          <a:prstGeom prst="rect">
            <a:avLst/>
          </a:prstGeom>
          <a:noFill/>
        </p:spPr>
        <p:txBody>
          <a:bodyPr wrap="square" lIns="9144" tIns="0" rIns="9144" bIns="0">
            <a:spAutoFit/>
          </a:bodyPr>
          <a:lstStyle/>
          <a:p>
            <a:pPr>
              <a:spcAft>
                <a:spcPts val="400"/>
              </a:spcAft>
              <a:defRPr sz="1100" b="0">
                <a:solidFill>
                  <a:srgbClr val="A6B8CF"/>
                </a:solidFill>
                <a:latin typeface="Aptos"/>
              </a:defRPr>
            </a:pPr>
            <a:r>
              <a:t>Calculates total hardware cost</a:t>
            </a:r>
          </a:p>
        </p:txBody>
      </p:sp>
      <p:sp>
        <p:nvSpPr>
          <p:cNvPr id="17" name="TextBox 16"/>
          <p:cNvSpPr txBox="1"/>
          <p:nvPr/>
        </p:nvSpPr>
        <p:spPr>
          <a:xfrm>
            <a:off x="8449056" y="3657600"/>
            <a:ext cx="2715768" cy="256032"/>
          </a:xfrm>
          <a:prstGeom prst="rect">
            <a:avLst/>
          </a:prstGeom>
          <a:noFill/>
        </p:spPr>
        <p:txBody>
          <a:bodyPr wrap="square" lIns="9144" tIns="0" rIns="9144" bIns="0">
            <a:spAutoFit/>
          </a:bodyPr>
          <a:lstStyle/>
          <a:p>
            <a:pPr>
              <a:spcAft>
                <a:spcPts val="400"/>
              </a:spcAft>
              <a:defRPr sz="1400" b="1">
                <a:solidFill>
                  <a:srgbClr val="F4F8FE"/>
                </a:solidFill>
                <a:latin typeface="Aptos"/>
              </a:defRPr>
            </a:pPr>
            <a:r>
              <a:t>GROUP BY</a:t>
            </a:r>
          </a:p>
        </p:txBody>
      </p:sp>
      <p:sp>
        <p:nvSpPr>
          <p:cNvPr id="18" name="TextBox 17"/>
          <p:cNvSpPr txBox="1"/>
          <p:nvPr/>
        </p:nvSpPr>
        <p:spPr>
          <a:xfrm>
            <a:off x="8449056" y="3931920"/>
            <a:ext cx="2779776" cy="301752"/>
          </a:xfrm>
          <a:prstGeom prst="rect">
            <a:avLst/>
          </a:prstGeom>
          <a:noFill/>
        </p:spPr>
        <p:txBody>
          <a:bodyPr wrap="square" lIns="9144" tIns="0" rIns="9144" bIns="0">
            <a:spAutoFit/>
          </a:bodyPr>
          <a:lstStyle/>
          <a:p>
            <a:pPr>
              <a:spcAft>
                <a:spcPts val="400"/>
              </a:spcAft>
              <a:defRPr sz="1100" b="0">
                <a:solidFill>
                  <a:srgbClr val="A6B8CF"/>
                </a:solidFill>
                <a:latin typeface="Aptos"/>
              </a:defRPr>
            </a:pPr>
            <a:r>
              <a:t>Produces one total per role</a:t>
            </a:r>
          </a:p>
        </p:txBody>
      </p:sp>
      <p:sp>
        <p:nvSpPr>
          <p:cNvPr id="19" name="TextBox 18"/>
          <p:cNvSpPr txBox="1"/>
          <p:nvPr/>
        </p:nvSpPr>
        <p:spPr>
          <a:xfrm>
            <a:off x="8449056" y="4279392"/>
            <a:ext cx="2715768" cy="256032"/>
          </a:xfrm>
          <a:prstGeom prst="rect">
            <a:avLst/>
          </a:prstGeom>
          <a:noFill/>
        </p:spPr>
        <p:txBody>
          <a:bodyPr wrap="square" lIns="9144" tIns="0" rIns="9144" bIns="0">
            <a:spAutoFit/>
          </a:bodyPr>
          <a:lstStyle/>
          <a:p>
            <a:pPr>
              <a:spcAft>
                <a:spcPts val="400"/>
              </a:spcAft>
              <a:defRPr sz="1400" b="1">
                <a:solidFill>
                  <a:srgbClr val="F4F8FE"/>
                </a:solidFill>
                <a:latin typeface="Aptos"/>
              </a:defRPr>
            </a:pPr>
            <a:r>
              <a:t>ORDER BY</a:t>
            </a:r>
          </a:p>
        </p:txBody>
      </p:sp>
      <p:sp>
        <p:nvSpPr>
          <p:cNvPr id="20" name="TextBox 19"/>
          <p:cNvSpPr txBox="1"/>
          <p:nvPr/>
        </p:nvSpPr>
        <p:spPr>
          <a:xfrm>
            <a:off x="8449056" y="4553712"/>
            <a:ext cx="2779776" cy="301752"/>
          </a:xfrm>
          <a:prstGeom prst="rect">
            <a:avLst/>
          </a:prstGeom>
          <a:noFill/>
        </p:spPr>
        <p:txBody>
          <a:bodyPr wrap="square" lIns="9144" tIns="0" rIns="9144" bIns="0">
            <a:spAutoFit/>
          </a:bodyPr>
          <a:lstStyle/>
          <a:p>
            <a:pPr>
              <a:spcAft>
                <a:spcPts val="400"/>
              </a:spcAft>
              <a:defRPr sz="1100" b="0">
                <a:solidFill>
                  <a:srgbClr val="A6B8CF"/>
                </a:solidFill>
                <a:latin typeface="Aptos"/>
              </a:defRPr>
            </a:pPr>
            <a:r>
              <a:t>Ranks the totals highest first</a:t>
            </a:r>
          </a:p>
        </p:txBody>
      </p:sp>
      <p:sp>
        <p:nvSpPr>
          <p:cNvPr id="21" name="Rectangle 20"/>
          <p:cNvSpPr/>
          <p:nvPr/>
        </p:nvSpPr>
        <p:spPr>
          <a:xfrm>
            <a:off x="8430768" y="4976165"/>
            <a:ext cx="2761488" cy="45719"/>
          </a:xfrm>
          <a:prstGeom prst="rect">
            <a:avLst/>
          </a:prstGeom>
          <a:solidFill>
            <a:srgbClr val="314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49056" y="5202936"/>
            <a:ext cx="2852928" cy="292608"/>
          </a:xfrm>
          <a:prstGeom prst="rect">
            <a:avLst/>
          </a:prstGeom>
          <a:noFill/>
        </p:spPr>
        <p:txBody>
          <a:bodyPr wrap="square" lIns="9144" tIns="0" rIns="9144" bIns="0">
            <a:spAutoFit/>
          </a:bodyPr>
          <a:lstStyle/>
          <a:p>
            <a:pPr>
              <a:spcAft>
                <a:spcPts val="400"/>
              </a:spcAft>
              <a:defRPr sz="1500" b="1">
                <a:solidFill>
                  <a:srgbClr val="3DCCC0"/>
                </a:solidFill>
                <a:latin typeface="Aptos"/>
              </a:defRPr>
            </a:pPr>
            <a:r>
              <a:t>SQL RESULT  £3,445.21</a:t>
            </a:r>
          </a:p>
        </p:txBody>
      </p:sp>
      <p:pic>
        <p:nvPicPr>
          <p:cNvPr id="23" name="Picture 22">
            <a:extLst>
              <a:ext uri="{FF2B5EF4-FFF2-40B4-BE49-F238E27FC236}">
                <a16:creationId xmlns:a16="http://schemas.microsoft.com/office/drawing/2014/main" id="{87623410-7D68-CAEF-4642-AAC9EE8D5CE8}"/>
              </a:ext>
            </a:extLst>
          </p:cNvPr>
          <p:cNvPicPr>
            <a:picLocks noChangeAspect="1"/>
          </p:cNvPicPr>
          <p:nvPr/>
        </p:nvPicPr>
        <p:blipFill>
          <a:blip r:embed="rId4"/>
          <a:stretch>
            <a:fillRect/>
          </a:stretch>
        </p:blipFill>
        <p:spPr>
          <a:xfrm>
            <a:off x="742949" y="1377345"/>
            <a:ext cx="6715506" cy="13975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MP1   /   COMPUTING   /   CHARLIE</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Workstations for the whole studio</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NORTHWEST ARCHITECTURE STUDIO   •   WHOLE STUDIO</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08</a:t>
            </a:r>
          </a:p>
        </p:txBody>
      </p:sp>
      <p:sp>
        <p:nvSpPr>
          <p:cNvPr id="9" name="Shape 9"/>
          <p:cNvSpPr/>
          <p:nvPr/>
        </p:nvSpPr>
        <p:spPr>
          <a:xfrm>
            <a:off x="557784" y="1719072"/>
            <a:ext cx="7406640" cy="4096512"/>
          </a:xfrm>
          <a:prstGeom prst="roundRect">
            <a:avLst>
              <a:gd name="adj" fmla="val 12000"/>
            </a:avLst>
          </a:prstGeom>
          <a:solidFill>
            <a:srgbClr val="172336"/>
          </a:solidFill>
          <a:ln>
            <a:noFill/>
          </a:ln>
        </p:spPr>
        <p:txBody>
          <a:bodyPr rtlCol="0" anchor="ctr"/>
          <a:lstStyle/>
          <a:p>
            <a:pPr algn="ctr"/>
            <a:endParaRPr/>
          </a:p>
        </p:txBody>
      </p:sp>
      <p:sp>
        <p:nvSpPr>
          <p:cNvPr id="10" name="TextBox 10"/>
          <p:cNvSpPr txBox="1"/>
          <p:nvPr/>
        </p:nvSpPr>
        <p:spPr>
          <a:xfrm>
            <a:off x="868680" y="2011680"/>
            <a:ext cx="2606040" cy="274320"/>
          </a:xfrm>
          <a:prstGeom prst="rect">
            <a:avLst/>
          </a:prstGeom>
          <a:noFill/>
        </p:spPr>
        <p:txBody>
          <a:bodyPr wrap="square" lIns="9144" tIns="0" rIns="9144" bIns="0" anchor="t">
            <a:noAutofit/>
          </a:bodyPr>
          <a:lstStyle/>
          <a:p>
            <a:pPr algn="l">
              <a:spcAft>
                <a:spcPts val="0"/>
              </a:spcAft>
            </a:pPr>
            <a:r>
              <a:rPr lang="en-GB" sz="1000" b="1" dirty="0">
                <a:solidFill>
                  <a:srgbClr val="3DCCC0"/>
                </a:solidFill>
                <a:latin typeface="Aptos"/>
                <a:cs typeface="Aptos"/>
              </a:rPr>
              <a:t>ROLE</a:t>
            </a:r>
          </a:p>
        </p:txBody>
      </p:sp>
      <p:sp>
        <p:nvSpPr>
          <p:cNvPr id="11" name="TextBox 11"/>
          <p:cNvSpPr txBox="1"/>
          <p:nvPr/>
        </p:nvSpPr>
        <p:spPr>
          <a:xfrm>
            <a:off x="3474720" y="2011680"/>
            <a:ext cx="548640" cy="274320"/>
          </a:xfrm>
          <a:prstGeom prst="rect">
            <a:avLst/>
          </a:prstGeom>
          <a:noFill/>
        </p:spPr>
        <p:txBody>
          <a:bodyPr wrap="square" lIns="9144" tIns="0" rIns="9144" bIns="0" anchor="t">
            <a:noAutofit/>
          </a:bodyPr>
          <a:lstStyle/>
          <a:p>
            <a:pPr algn="ctr">
              <a:spcAft>
                <a:spcPts val="0"/>
              </a:spcAft>
            </a:pPr>
            <a:r>
              <a:rPr lang="en-GB" sz="1000" b="1" dirty="0">
                <a:solidFill>
                  <a:srgbClr val="3DCCC0"/>
                </a:solidFill>
                <a:latin typeface="Aptos"/>
                <a:cs typeface="Aptos"/>
              </a:rPr>
              <a:t>PCS</a:t>
            </a:r>
          </a:p>
        </p:txBody>
      </p:sp>
      <p:sp>
        <p:nvSpPr>
          <p:cNvPr id="12" name="TextBox 12"/>
          <p:cNvSpPr txBox="1"/>
          <p:nvPr/>
        </p:nvSpPr>
        <p:spPr>
          <a:xfrm>
            <a:off x="4069080" y="2011680"/>
            <a:ext cx="1188720" cy="274320"/>
          </a:xfrm>
          <a:prstGeom prst="rect">
            <a:avLst/>
          </a:prstGeom>
          <a:noFill/>
        </p:spPr>
        <p:txBody>
          <a:bodyPr wrap="square" lIns="9144" tIns="0" rIns="9144" bIns="0" anchor="t">
            <a:noAutofit/>
          </a:bodyPr>
          <a:lstStyle/>
          <a:p>
            <a:pPr algn="r">
              <a:spcAft>
                <a:spcPts val="0"/>
              </a:spcAft>
            </a:pPr>
            <a:r>
              <a:rPr lang="en-GB" sz="1000" b="1" dirty="0">
                <a:solidFill>
                  <a:srgbClr val="3DCCC0"/>
                </a:solidFill>
                <a:latin typeface="Aptos"/>
                <a:cs typeface="Aptos"/>
              </a:rPr>
              <a:t>COST PER PC</a:t>
            </a:r>
          </a:p>
        </p:txBody>
      </p:sp>
      <p:sp>
        <p:nvSpPr>
          <p:cNvPr id="13" name="TextBox 13"/>
          <p:cNvSpPr txBox="1"/>
          <p:nvPr/>
        </p:nvSpPr>
        <p:spPr>
          <a:xfrm>
            <a:off x="5486400" y="2011680"/>
            <a:ext cx="1234440" cy="274320"/>
          </a:xfrm>
          <a:prstGeom prst="rect">
            <a:avLst/>
          </a:prstGeom>
          <a:noFill/>
        </p:spPr>
        <p:txBody>
          <a:bodyPr wrap="square" lIns="9144" tIns="0" rIns="9144" bIns="0" anchor="t">
            <a:noAutofit/>
          </a:bodyPr>
          <a:lstStyle/>
          <a:p>
            <a:pPr algn="r">
              <a:spcAft>
                <a:spcPts val="0"/>
              </a:spcAft>
            </a:pPr>
            <a:r>
              <a:rPr lang="en-GB" sz="1000" b="1" dirty="0">
                <a:solidFill>
                  <a:srgbClr val="3DCCC0"/>
                </a:solidFill>
                <a:latin typeface="Aptos"/>
                <a:cs typeface="Aptos"/>
              </a:rPr>
              <a:t>BUDGET PER PC</a:t>
            </a:r>
          </a:p>
        </p:txBody>
      </p:sp>
      <p:sp>
        <p:nvSpPr>
          <p:cNvPr id="14" name="TextBox 14"/>
          <p:cNvSpPr txBox="1"/>
          <p:nvPr/>
        </p:nvSpPr>
        <p:spPr>
          <a:xfrm>
            <a:off x="6858000" y="2011680"/>
            <a:ext cx="822960" cy="274320"/>
          </a:xfrm>
          <a:prstGeom prst="rect">
            <a:avLst/>
          </a:prstGeom>
          <a:noFill/>
        </p:spPr>
        <p:txBody>
          <a:bodyPr wrap="square" lIns="9144" tIns="0" rIns="9144" bIns="0" anchor="t">
            <a:noAutofit/>
          </a:bodyPr>
          <a:lstStyle/>
          <a:p>
            <a:pPr algn="r">
              <a:spcAft>
                <a:spcPts val="0"/>
              </a:spcAft>
            </a:pPr>
            <a:r>
              <a:rPr lang="en-GB" sz="1000" b="1" dirty="0">
                <a:solidFill>
                  <a:srgbClr val="3DCCC0"/>
                </a:solidFill>
                <a:latin typeface="Aptos"/>
                <a:cs typeface="Aptos"/>
              </a:rPr>
              <a:t>UNDER BY</a:t>
            </a:r>
          </a:p>
        </p:txBody>
      </p:sp>
      <p:sp>
        <p:nvSpPr>
          <p:cNvPr id="15" name="Shape 15"/>
          <p:cNvSpPr/>
          <p:nvPr/>
        </p:nvSpPr>
        <p:spPr>
          <a:xfrm>
            <a:off x="868680" y="2359152"/>
            <a:ext cx="6812280" cy="10973"/>
          </a:xfrm>
          <a:prstGeom prst="rect">
            <a:avLst/>
          </a:prstGeom>
          <a:solidFill>
            <a:srgbClr val="314458"/>
          </a:solidFill>
          <a:ln>
            <a:noFill/>
          </a:ln>
        </p:spPr>
        <p:txBody>
          <a:bodyPr rtlCol="0" anchor="ctr"/>
          <a:lstStyle/>
          <a:p>
            <a:pPr algn="ctr"/>
            <a:endParaRPr/>
          </a:p>
        </p:txBody>
      </p:sp>
      <p:sp>
        <p:nvSpPr>
          <p:cNvPr id="16" name="TextBox 16"/>
          <p:cNvSpPr txBox="1"/>
          <p:nvPr/>
        </p:nvSpPr>
        <p:spPr>
          <a:xfrm>
            <a:off x="868680" y="2578608"/>
            <a:ext cx="260604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Architect / CAD Designer</a:t>
            </a:r>
          </a:p>
        </p:txBody>
      </p:sp>
      <p:sp>
        <p:nvSpPr>
          <p:cNvPr id="17" name="TextBox 17"/>
          <p:cNvSpPr txBox="1"/>
          <p:nvPr/>
        </p:nvSpPr>
        <p:spPr>
          <a:xfrm>
            <a:off x="3474720" y="2578608"/>
            <a:ext cx="548640" cy="320040"/>
          </a:xfrm>
          <a:prstGeom prst="rect">
            <a:avLst/>
          </a:prstGeom>
          <a:noFill/>
        </p:spPr>
        <p:txBody>
          <a:bodyPr wrap="square" lIns="9144" tIns="0" rIns="9144" bIns="0" anchor="t">
            <a:noAutofit/>
          </a:bodyPr>
          <a:lstStyle/>
          <a:p>
            <a:pPr algn="ctr">
              <a:spcAft>
                <a:spcPts val="0"/>
              </a:spcAft>
            </a:pPr>
            <a:r>
              <a:rPr lang="en-GB" sz="1300" b="0" dirty="0">
                <a:solidFill>
                  <a:srgbClr val="A6B8CF"/>
                </a:solidFill>
                <a:latin typeface="Aptos"/>
                <a:cs typeface="Aptos"/>
              </a:rPr>
              <a:t>5</a:t>
            </a:r>
          </a:p>
        </p:txBody>
      </p:sp>
      <p:sp>
        <p:nvSpPr>
          <p:cNvPr id="18" name="TextBox 18"/>
          <p:cNvSpPr txBox="1"/>
          <p:nvPr/>
        </p:nvSpPr>
        <p:spPr>
          <a:xfrm>
            <a:off x="4069080" y="2578608"/>
            <a:ext cx="1188720" cy="320040"/>
          </a:xfrm>
          <a:prstGeom prst="rect">
            <a:avLst/>
          </a:prstGeom>
          <a:noFill/>
        </p:spPr>
        <p:txBody>
          <a:bodyPr wrap="square" lIns="9144" tIns="0" rIns="9144" bIns="0" anchor="t">
            <a:noAutofit/>
          </a:bodyPr>
          <a:lstStyle/>
          <a:p>
            <a:pPr algn="r">
              <a:spcAft>
                <a:spcPts val="0"/>
              </a:spcAft>
            </a:pPr>
            <a:r>
              <a:rPr lang="en-GB" sz="1300" b="0" dirty="0">
                <a:solidFill>
                  <a:srgbClr val="F4F8FE"/>
                </a:solidFill>
                <a:latin typeface="Aptos"/>
                <a:cs typeface="Aptos"/>
              </a:rPr>
              <a:t>£1,844.50</a:t>
            </a:r>
          </a:p>
        </p:txBody>
      </p:sp>
      <p:sp>
        <p:nvSpPr>
          <p:cNvPr id="19" name="TextBox 19"/>
          <p:cNvSpPr txBox="1"/>
          <p:nvPr/>
        </p:nvSpPr>
        <p:spPr>
          <a:xfrm>
            <a:off x="5486400" y="2578608"/>
            <a:ext cx="1234440" cy="320040"/>
          </a:xfrm>
          <a:prstGeom prst="rect">
            <a:avLst/>
          </a:prstGeom>
          <a:noFill/>
        </p:spPr>
        <p:txBody>
          <a:bodyPr wrap="square" lIns="9144" tIns="0" rIns="9144" bIns="0" anchor="t">
            <a:noAutofit/>
          </a:bodyPr>
          <a:lstStyle/>
          <a:p>
            <a:pPr algn="r">
              <a:spcAft>
                <a:spcPts val="0"/>
              </a:spcAft>
            </a:pPr>
            <a:r>
              <a:rPr lang="en-GB" sz="1300" b="0" dirty="0">
                <a:solidFill>
                  <a:srgbClr val="A6B8CF"/>
                </a:solidFill>
                <a:latin typeface="Aptos"/>
                <a:cs typeface="Aptos"/>
              </a:rPr>
              <a:t>£2,500.00</a:t>
            </a:r>
          </a:p>
        </p:txBody>
      </p:sp>
      <p:sp>
        <p:nvSpPr>
          <p:cNvPr id="20" name="TextBox 20"/>
          <p:cNvSpPr txBox="1"/>
          <p:nvPr/>
        </p:nvSpPr>
        <p:spPr>
          <a:xfrm>
            <a:off x="6858000" y="2578608"/>
            <a:ext cx="82296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£655.50</a:t>
            </a:r>
          </a:p>
        </p:txBody>
      </p:sp>
      <p:sp>
        <p:nvSpPr>
          <p:cNvPr id="21" name="Shape 21"/>
          <p:cNvSpPr/>
          <p:nvPr/>
        </p:nvSpPr>
        <p:spPr>
          <a:xfrm>
            <a:off x="868680" y="3063240"/>
            <a:ext cx="6812280" cy="10973"/>
          </a:xfrm>
          <a:prstGeom prst="rect">
            <a:avLst/>
          </a:prstGeom>
          <a:solidFill>
            <a:srgbClr val="314458"/>
          </a:solidFill>
          <a:ln>
            <a:noFill/>
          </a:ln>
        </p:spPr>
        <p:txBody>
          <a:bodyPr rtlCol="0" anchor="ctr"/>
          <a:lstStyle/>
          <a:p>
            <a:pPr algn="ctr"/>
            <a:endParaRPr/>
          </a:p>
        </p:txBody>
      </p:sp>
      <p:sp>
        <p:nvSpPr>
          <p:cNvPr id="22" name="TextBox 22"/>
          <p:cNvSpPr txBox="1"/>
          <p:nvPr/>
        </p:nvSpPr>
        <p:spPr>
          <a:xfrm>
            <a:off x="868680" y="3218688"/>
            <a:ext cx="260604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3D Visualisation Specialist</a:t>
            </a:r>
          </a:p>
        </p:txBody>
      </p:sp>
      <p:sp>
        <p:nvSpPr>
          <p:cNvPr id="23" name="TextBox 23"/>
          <p:cNvSpPr txBox="1"/>
          <p:nvPr/>
        </p:nvSpPr>
        <p:spPr>
          <a:xfrm>
            <a:off x="3474720" y="3218688"/>
            <a:ext cx="548640" cy="320040"/>
          </a:xfrm>
          <a:prstGeom prst="rect">
            <a:avLst/>
          </a:prstGeom>
          <a:noFill/>
        </p:spPr>
        <p:txBody>
          <a:bodyPr wrap="square" lIns="9144" tIns="0" rIns="9144" bIns="0" anchor="t">
            <a:noAutofit/>
          </a:bodyPr>
          <a:lstStyle/>
          <a:p>
            <a:pPr algn="ctr">
              <a:spcAft>
                <a:spcPts val="0"/>
              </a:spcAft>
            </a:pPr>
            <a:r>
              <a:rPr lang="en-GB" sz="1300" b="0" dirty="0">
                <a:solidFill>
                  <a:srgbClr val="A6B8CF"/>
                </a:solidFill>
                <a:latin typeface="Aptos"/>
                <a:cs typeface="Aptos"/>
              </a:rPr>
              <a:t>2</a:t>
            </a:r>
          </a:p>
        </p:txBody>
      </p:sp>
      <p:sp>
        <p:nvSpPr>
          <p:cNvPr id="24" name="TextBox 24"/>
          <p:cNvSpPr txBox="1"/>
          <p:nvPr/>
        </p:nvSpPr>
        <p:spPr>
          <a:xfrm>
            <a:off x="4069080" y="3218688"/>
            <a:ext cx="1188720" cy="320040"/>
          </a:xfrm>
          <a:prstGeom prst="rect">
            <a:avLst/>
          </a:prstGeom>
          <a:noFill/>
        </p:spPr>
        <p:txBody>
          <a:bodyPr wrap="square" lIns="9144" tIns="0" rIns="9144" bIns="0" anchor="t">
            <a:noAutofit/>
          </a:bodyPr>
          <a:lstStyle/>
          <a:p>
            <a:pPr algn="r">
              <a:spcAft>
                <a:spcPts val="0"/>
              </a:spcAft>
            </a:pPr>
            <a:r>
              <a:rPr lang="en-GB" sz="1300" b="0" dirty="0">
                <a:solidFill>
                  <a:srgbClr val="F4F8FE"/>
                </a:solidFill>
                <a:latin typeface="Aptos"/>
                <a:cs typeface="Aptos"/>
              </a:rPr>
              <a:t>£3,445.21</a:t>
            </a:r>
          </a:p>
        </p:txBody>
      </p:sp>
      <p:sp>
        <p:nvSpPr>
          <p:cNvPr id="25" name="TextBox 25"/>
          <p:cNvSpPr txBox="1"/>
          <p:nvPr/>
        </p:nvSpPr>
        <p:spPr>
          <a:xfrm>
            <a:off x="5486400" y="3218688"/>
            <a:ext cx="1234440" cy="320040"/>
          </a:xfrm>
          <a:prstGeom prst="rect">
            <a:avLst/>
          </a:prstGeom>
          <a:noFill/>
        </p:spPr>
        <p:txBody>
          <a:bodyPr wrap="square" lIns="9144" tIns="0" rIns="9144" bIns="0" anchor="t">
            <a:noAutofit/>
          </a:bodyPr>
          <a:lstStyle/>
          <a:p>
            <a:pPr algn="r">
              <a:spcAft>
                <a:spcPts val="0"/>
              </a:spcAft>
            </a:pPr>
            <a:r>
              <a:rPr lang="en-GB" sz="1300" b="0" dirty="0">
                <a:solidFill>
                  <a:srgbClr val="A6B8CF"/>
                </a:solidFill>
                <a:latin typeface="Aptos"/>
                <a:cs typeface="Aptos"/>
              </a:rPr>
              <a:t>£3,750.00</a:t>
            </a:r>
          </a:p>
        </p:txBody>
      </p:sp>
      <p:sp>
        <p:nvSpPr>
          <p:cNvPr id="26" name="TextBox 26"/>
          <p:cNvSpPr txBox="1"/>
          <p:nvPr/>
        </p:nvSpPr>
        <p:spPr>
          <a:xfrm>
            <a:off x="6858000" y="3218688"/>
            <a:ext cx="82296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£304.79</a:t>
            </a:r>
          </a:p>
        </p:txBody>
      </p:sp>
      <p:sp>
        <p:nvSpPr>
          <p:cNvPr id="27" name="Shape 27"/>
          <p:cNvSpPr/>
          <p:nvPr/>
        </p:nvSpPr>
        <p:spPr>
          <a:xfrm>
            <a:off x="868680" y="3703320"/>
            <a:ext cx="6812280" cy="10973"/>
          </a:xfrm>
          <a:prstGeom prst="rect">
            <a:avLst/>
          </a:prstGeom>
          <a:solidFill>
            <a:srgbClr val="314458"/>
          </a:solidFill>
          <a:ln>
            <a:noFill/>
          </a:ln>
        </p:spPr>
        <p:txBody>
          <a:bodyPr rtlCol="0" anchor="ctr"/>
          <a:lstStyle/>
          <a:p>
            <a:pPr algn="ctr"/>
            <a:endParaRPr/>
          </a:p>
        </p:txBody>
      </p:sp>
      <p:sp>
        <p:nvSpPr>
          <p:cNvPr id="28" name="TextBox 28"/>
          <p:cNvSpPr txBox="1"/>
          <p:nvPr/>
        </p:nvSpPr>
        <p:spPr>
          <a:xfrm>
            <a:off x="868680" y="3858768"/>
            <a:ext cx="260604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Administrative Assistant</a:t>
            </a:r>
          </a:p>
        </p:txBody>
      </p:sp>
      <p:sp>
        <p:nvSpPr>
          <p:cNvPr id="29" name="TextBox 29"/>
          <p:cNvSpPr txBox="1"/>
          <p:nvPr/>
        </p:nvSpPr>
        <p:spPr>
          <a:xfrm>
            <a:off x="3474720" y="3858768"/>
            <a:ext cx="548640" cy="320040"/>
          </a:xfrm>
          <a:prstGeom prst="rect">
            <a:avLst/>
          </a:prstGeom>
          <a:noFill/>
        </p:spPr>
        <p:txBody>
          <a:bodyPr wrap="square" lIns="9144" tIns="0" rIns="9144" bIns="0" anchor="t">
            <a:noAutofit/>
          </a:bodyPr>
          <a:lstStyle/>
          <a:p>
            <a:pPr algn="ctr">
              <a:spcAft>
                <a:spcPts val="0"/>
              </a:spcAft>
            </a:pPr>
            <a:r>
              <a:rPr lang="en-GB" sz="1300" b="0" dirty="0">
                <a:solidFill>
                  <a:srgbClr val="A6B8CF"/>
                </a:solidFill>
                <a:latin typeface="Aptos"/>
                <a:cs typeface="Aptos"/>
              </a:rPr>
              <a:t>3</a:t>
            </a:r>
          </a:p>
        </p:txBody>
      </p:sp>
      <p:sp>
        <p:nvSpPr>
          <p:cNvPr id="30" name="TextBox 30"/>
          <p:cNvSpPr txBox="1"/>
          <p:nvPr/>
        </p:nvSpPr>
        <p:spPr>
          <a:xfrm>
            <a:off x="4069080" y="3858768"/>
            <a:ext cx="1188720" cy="320040"/>
          </a:xfrm>
          <a:prstGeom prst="rect">
            <a:avLst/>
          </a:prstGeom>
          <a:noFill/>
        </p:spPr>
        <p:txBody>
          <a:bodyPr wrap="square" lIns="9144" tIns="0" rIns="9144" bIns="0" anchor="t">
            <a:noAutofit/>
          </a:bodyPr>
          <a:lstStyle/>
          <a:p>
            <a:pPr algn="r">
              <a:spcAft>
                <a:spcPts val="0"/>
              </a:spcAft>
            </a:pPr>
            <a:r>
              <a:rPr lang="en-GB" sz="1300" b="0" dirty="0">
                <a:solidFill>
                  <a:srgbClr val="F4F8FE"/>
                </a:solidFill>
                <a:latin typeface="Aptos"/>
                <a:cs typeface="Aptos"/>
              </a:rPr>
              <a:t>£808.81</a:t>
            </a:r>
          </a:p>
        </p:txBody>
      </p:sp>
      <p:sp>
        <p:nvSpPr>
          <p:cNvPr id="31" name="TextBox 31"/>
          <p:cNvSpPr txBox="1"/>
          <p:nvPr/>
        </p:nvSpPr>
        <p:spPr>
          <a:xfrm>
            <a:off x="5486400" y="3858768"/>
            <a:ext cx="1234440" cy="320040"/>
          </a:xfrm>
          <a:prstGeom prst="rect">
            <a:avLst/>
          </a:prstGeom>
          <a:noFill/>
        </p:spPr>
        <p:txBody>
          <a:bodyPr wrap="square" lIns="9144" tIns="0" rIns="9144" bIns="0" anchor="t">
            <a:noAutofit/>
          </a:bodyPr>
          <a:lstStyle/>
          <a:p>
            <a:pPr algn="r">
              <a:spcAft>
                <a:spcPts val="0"/>
              </a:spcAft>
            </a:pPr>
            <a:r>
              <a:rPr lang="en-GB" sz="1300" b="0" dirty="0">
                <a:solidFill>
                  <a:srgbClr val="A6B8CF"/>
                </a:solidFill>
                <a:latin typeface="Aptos"/>
                <a:cs typeface="Aptos"/>
              </a:rPr>
              <a:t>£950.00</a:t>
            </a:r>
          </a:p>
        </p:txBody>
      </p:sp>
      <p:sp>
        <p:nvSpPr>
          <p:cNvPr id="32" name="TextBox 32"/>
          <p:cNvSpPr txBox="1"/>
          <p:nvPr/>
        </p:nvSpPr>
        <p:spPr>
          <a:xfrm>
            <a:off x="6858000" y="3858768"/>
            <a:ext cx="82296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£141.19</a:t>
            </a:r>
          </a:p>
        </p:txBody>
      </p:sp>
      <p:sp>
        <p:nvSpPr>
          <p:cNvPr id="33" name="Shape 33"/>
          <p:cNvSpPr/>
          <p:nvPr/>
        </p:nvSpPr>
        <p:spPr>
          <a:xfrm>
            <a:off x="868680" y="4343400"/>
            <a:ext cx="6812280" cy="10973"/>
          </a:xfrm>
          <a:prstGeom prst="rect">
            <a:avLst/>
          </a:prstGeom>
          <a:solidFill>
            <a:srgbClr val="314458"/>
          </a:solidFill>
          <a:ln>
            <a:noFill/>
          </a:ln>
        </p:spPr>
        <p:txBody>
          <a:bodyPr rtlCol="0" anchor="ctr"/>
          <a:lstStyle/>
          <a:p>
            <a:pPr algn="ctr"/>
            <a:endParaRPr/>
          </a:p>
        </p:txBody>
      </p:sp>
      <p:sp>
        <p:nvSpPr>
          <p:cNvPr id="34" name="TextBox 34"/>
          <p:cNvSpPr txBox="1"/>
          <p:nvPr/>
        </p:nvSpPr>
        <p:spPr>
          <a:xfrm>
            <a:off x="868680" y="4498848"/>
            <a:ext cx="260604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Project Manager</a:t>
            </a:r>
          </a:p>
        </p:txBody>
      </p:sp>
      <p:sp>
        <p:nvSpPr>
          <p:cNvPr id="35" name="TextBox 35"/>
          <p:cNvSpPr txBox="1"/>
          <p:nvPr/>
        </p:nvSpPr>
        <p:spPr>
          <a:xfrm>
            <a:off x="3474720" y="4498848"/>
            <a:ext cx="548640" cy="320040"/>
          </a:xfrm>
          <a:prstGeom prst="rect">
            <a:avLst/>
          </a:prstGeom>
          <a:noFill/>
        </p:spPr>
        <p:txBody>
          <a:bodyPr wrap="square" lIns="9144" tIns="0" rIns="9144" bIns="0" anchor="t">
            <a:noAutofit/>
          </a:bodyPr>
          <a:lstStyle/>
          <a:p>
            <a:pPr algn="ctr">
              <a:spcAft>
                <a:spcPts val="0"/>
              </a:spcAft>
            </a:pPr>
            <a:r>
              <a:rPr lang="en-GB" sz="1300" b="0" dirty="0">
                <a:solidFill>
                  <a:srgbClr val="A6B8CF"/>
                </a:solidFill>
                <a:latin typeface="Aptos"/>
                <a:cs typeface="Aptos"/>
              </a:rPr>
              <a:t>2</a:t>
            </a:r>
          </a:p>
        </p:txBody>
      </p:sp>
      <p:sp>
        <p:nvSpPr>
          <p:cNvPr id="36" name="TextBox 36"/>
          <p:cNvSpPr txBox="1"/>
          <p:nvPr/>
        </p:nvSpPr>
        <p:spPr>
          <a:xfrm>
            <a:off x="4069080" y="4498848"/>
            <a:ext cx="1188720" cy="320040"/>
          </a:xfrm>
          <a:prstGeom prst="rect">
            <a:avLst/>
          </a:prstGeom>
          <a:noFill/>
        </p:spPr>
        <p:txBody>
          <a:bodyPr wrap="square" lIns="9144" tIns="0" rIns="9144" bIns="0" anchor="t">
            <a:noAutofit/>
          </a:bodyPr>
          <a:lstStyle/>
          <a:p>
            <a:pPr algn="r">
              <a:spcAft>
                <a:spcPts val="0"/>
              </a:spcAft>
            </a:pPr>
            <a:r>
              <a:rPr lang="en-GB" sz="1300" b="0" dirty="0">
                <a:solidFill>
                  <a:srgbClr val="F4F8FE"/>
                </a:solidFill>
                <a:latin typeface="Aptos"/>
                <a:cs typeface="Aptos"/>
              </a:rPr>
              <a:t>£1,296.59</a:t>
            </a:r>
          </a:p>
        </p:txBody>
      </p:sp>
      <p:sp>
        <p:nvSpPr>
          <p:cNvPr id="37" name="TextBox 37"/>
          <p:cNvSpPr txBox="1"/>
          <p:nvPr/>
        </p:nvSpPr>
        <p:spPr>
          <a:xfrm>
            <a:off x="5486400" y="4498848"/>
            <a:ext cx="1234440" cy="320040"/>
          </a:xfrm>
          <a:prstGeom prst="rect">
            <a:avLst/>
          </a:prstGeom>
          <a:noFill/>
        </p:spPr>
        <p:txBody>
          <a:bodyPr wrap="square" lIns="9144" tIns="0" rIns="9144" bIns="0" anchor="t">
            <a:noAutofit/>
          </a:bodyPr>
          <a:lstStyle/>
          <a:p>
            <a:pPr algn="r">
              <a:spcAft>
                <a:spcPts val="0"/>
              </a:spcAft>
            </a:pPr>
            <a:r>
              <a:rPr lang="en-GB" sz="1300" b="0" dirty="0">
                <a:solidFill>
                  <a:srgbClr val="A6B8CF"/>
                </a:solidFill>
                <a:latin typeface="Aptos"/>
                <a:cs typeface="Aptos"/>
              </a:rPr>
              <a:t>£1,300.00</a:t>
            </a:r>
          </a:p>
        </p:txBody>
      </p:sp>
      <p:sp>
        <p:nvSpPr>
          <p:cNvPr id="38" name="TextBox 38"/>
          <p:cNvSpPr txBox="1"/>
          <p:nvPr/>
        </p:nvSpPr>
        <p:spPr>
          <a:xfrm>
            <a:off x="6858000" y="4498848"/>
            <a:ext cx="82296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£3.41</a:t>
            </a:r>
          </a:p>
        </p:txBody>
      </p:sp>
      <p:sp>
        <p:nvSpPr>
          <p:cNvPr id="39" name="TextBox 39"/>
          <p:cNvSpPr txBox="1"/>
          <p:nvPr/>
        </p:nvSpPr>
        <p:spPr>
          <a:xfrm>
            <a:off x="868680" y="5166360"/>
            <a:ext cx="6812280" cy="457200"/>
          </a:xfrm>
          <a:prstGeom prst="rect">
            <a:avLst/>
          </a:prstGeom>
          <a:noFill/>
        </p:spPr>
        <p:txBody>
          <a:bodyPr wrap="square" lIns="9144" tIns="0" rIns="9144" bIns="0" anchor="t">
            <a:noAutofit/>
          </a:bodyPr>
          <a:lstStyle/>
          <a:p>
            <a:pPr algn="l">
              <a:spcAft>
                <a:spcPts val="0"/>
              </a:spcAft>
            </a:pPr>
            <a:r>
              <a:rPr lang="en-GB" sz="1000" b="0" dirty="0">
                <a:solidFill>
                  <a:srgbClr val="A6B8CF"/>
                </a:solidFill>
                <a:latin typeface="Aptos"/>
                <a:cs typeface="Aptos"/>
              </a:rPr>
              <a:t>SQL joins the build, hardware item and role tables to give one total per role. Budgets from the assessment brief, page 4.</a:t>
            </a:r>
          </a:p>
        </p:txBody>
      </p:sp>
      <p:sp>
        <p:nvSpPr>
          <p:cNvPr id="40" name="Shape 40"/>
          <p:cNvSpPr/>
          <p:nvPr/>
        </p:nvSpPr>
        <p:spPr>
          <a:xfrm>
            <a:off x="8183880" y="1719072"/>
            <a:ext cx="3364992" cy="4096512"/>
          </a:xfrm>
          <a:prstGeom prst="roundRect">
            <a:avLst>
              <a:gd name="adj" fmla="val 12000"/>
            </a:avLst>
          </a:prstGeom>
          <a:solidFill>
            <a:srgbClr val="172336"/>
          </a:solidFill>
          <a:ln>
            <a:noFill/>
          </a:ln>
        </p:spPr>
        <p:txBody>
          <a:bodyPr rtlCol="0" anchor="ctr"/>
          <a:lstStyle/>
          <a:p>
            <a:pPr algn="ctr"/>
            <a:endParaRPr/>
          </a:p>
        </p:txBody>
      </p:sp>
      <p:sp>
        <p:nvSpPr>
          <p:cNvPr id="41" name="TextBox 41"/>
          <p:cNvSpPr txBox="1"/>
          <p:nvPr/>
        </p:nvSpPr>
        <p:spPr>
          <a:xfrm>
            <a:off x="8503920" y="2011680"/>
            <a:ext cx="283464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ALL 12 WORKSTATIONS</a:t>
            </a:r>
          </a:p>
        </p:txBody>
      </p:sp>
      <p:sp>
        <p:nvSpPr>
          <p:cNvPr id="42" name="TextBox 42"/>
          <p:cNvSpPr txBox="1"/>
          <p:nvPr/>
        </p:nvSpPr>
        <p:spPr>
          <a:xfrm>
            <a:off x="8503920" y="2423160"/>
            <a:ext cx="2834640" cy="64008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£21,132.53</a:t>
            </a:r>
          </a:p>
        </p:txBody>
      </p:sp>
      <p:sp>
        <p:nvSpPr>
          <p:cNvPr id="43" name="TextBox 43"/>
          <p:cNvSpPr txBox="1"/>
          <p:nvPr/>
        </p:nvSpPr>
        <p:spPr>
          <a:xfrm>
            <a:off x="8503920" y="3063240"/>
            <a:ext cx="2834640" cy="274320"/>
          </a:xfrm>
          <a:prstGeom prst="rect">
            <a:avLst/>
          </a:prstGeom>
          <a:noFill/>
        </p:spPr>
        <p:txBody>
          <a:bodyPr wrap="square" lIns="9144" tIns="0" rIns="9144" bIns="0" anchor="t">
            <a:noAutofit/>
          </a:bodyPr>
          <a:lstStyle/>
          <a:p>
            <a:pPr algn="l">
              <a:spcAft>
                <a:spcPts val="0"/>
              </a:spcAft>
            </a:pPr>
            <a:r>
              <a:rPr lang="en-GB" sz="1100" b="0" dirty="0">
                <a:solidFill>
                  <a:srgbClr val="A6B8CF"/>
                </a:solidFill>
                <a:latin typeface="Aptos"/>
                <a:cs typeface="Aptos"/>
              </a:rPr>
              <a:t>total cost</a:t>
            </a:r>
          </a:p>
        </p:txBody>
      </p:sp>
      <p:sp>
        <p:nvSpPr>
          <p:cNvPr id="44" name="Shape 44"/>
          <p:cNvSpPr/>
          <p:nvPr/>
        </p:nvSpPr>
        <p:spPr>
          <a:xfrm>
            <a:off x="8503920" y="3611880"/>
            <a:ext cx="2697480" cy="10973"/>
          </a:xfrm>
          <a:prstGeom prst="rect">
            <a:avLst/>
          </a:prstGeom>
          <a:solidFill>
            <a:srgbClr val="314458"/>
          </a:solidFill>
          <a:ln>
            <a:noFill/>
          </a:ln>
        </p:spPr>
        <p:txBody>
          <a:bodyPr rtlCol="0" anchor="ctr"/>
          <a:lstStyle/>
          <a:p>
            <a:pPr algn="ctr"/>
            <a:endParaRPr/>
          </a:p>
        </p:txBody>
      </p:sp>
      <p:sp>
        <p:nvSpPr>
          <p:cNvPr id="45" name="TextBox 45"/>
          <p:cNvSpPr txBox="1"/>
          <p:nvPr/>
        </p:nvSpPr>
        <p:spPr>
          <a:xfrm>
            <a:off x="8503920" y="3840480"/>
            <a:ext cx="2834640" cy="64008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4 of 4</a:t>
            </a:r>
          </a:p>
        </p:txBody>
      </p:sp>
      <p:sp>
        <p:nvSpPr>
          <p:cNvPr id="46" name="TextBox 46"/>
          <p:cNvSpPr txBox="1"/>
          <p:nvPr/>
        </p:nvSpPr>
        <p:spPr>
          <a:xfrm>
            <a:off x="8503920" y="4480560"/>
            <a:ext cx="2834640" cy="457200"/>
          </a:xfrm>
          <a:prstGeom prst="rect">
            <a:avLst/>
          </a:prstGeom>
          <a:noFill/>
        </p:spPr>
        <p:txBody>
          <a:bodyPr wrap="square" lIns="9144" tIns="0" rIns="9144" bIns="0" anchor="t">
            <a:noAutofit/>
          </a:bodyPr>
          <a:lstStyle/>
          <a:p>
            <a:pPr algn="l">
              <a:spcAft>
                <a:spcPts val="0"/>
              </a:spcAft>
            </a:pPr>
            <a:r>
              <a:rPr lang="en-GB" sz="1100" b="0" dirty="0">
                <a:solidFill>
                  <a:srgbClr val="A6B8CF"/>
                </a:solidFill>
                <a:latin typeface="Aptos"/>
                <a:cs typeface="Aptos"/>
              </a:rPr>
              <a:t>roles under their budget per PC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MP1   /   HAND-OVER   /   CHARLIE</a:t>
            </a:r>
          </a:p>
        </p:txBody>
      </p:sp>
      <p:sp>
        <p:nvSpPr>
          <p:cNvPr id="5" name="Shape 5"/>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6" name="TextBox 6"/>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HAND-OVER</a:t>
            </a:r>
          </a:p>
        </p:txBody>
      </p:sp>
      <p:sp>
        <p:nvSpPr>
          <p:cNvPr id="7" name="TextBox 7"/>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09</a:t>
            </a:r>
          </a:p>
        </p:txBody>
      </p:sp>
      <p:sp>
        <p:nvSpPr>
          <p:cNvPr id="8" name="Shape 8"/>
          <p:cNvSpPr/>
          <p:nvPr/>
        </p:nvSpPr>
        <p:spPr>
          <a:xfrm>
            <a:off x="2441448" y="1828800"/>
            <a:ext cx="7315200" cy="3017520"/>
          </a:xfrm>
          <a:prstGeom prst="roundRect">
            <a:avLst>
              <a:gd name="adj" fmla="val 12000"/>
            </a:avLst>
          </a:prstGeom>
          <a:solidFill>
            <a:srgbClr val="172336"/>
          </a:solidFill>
          <a:ln>
            <a:noFill/>
          </a:ln>
        </p:spPr>
        <p:txBody>
          <a:bodyPr rtlCol="0" anchor="ctr"/>
          <a:lstStyle/>
          <a:p>
            <a:pPr algn="ctr"/>
            <a:endParaRPr/>
          </a:p>
        </p:txBody>
      </p:sp>
      <p:sp>
        <p:nvSpPr>
          <p:cNvPr id="9" name="TextBox 9"/>
          <p:cNvSpPr txBox="1"/>
          <p:nvPr/>
        </p:nvSpPr>
        <p:spPr>
          <a:xfrm>
            <a:off x="2441448" y="2286000"/>
            <a:ext cx="7315200" cy="320040"/>
          </a:xfrm>
          <a:prstGeom prst="rect">
            <a:avLst/>
          </a:prstGeom>
          <a:noFill/>
        </p:spPr>
        <p:txBody>
          <a:bodyPr wrap="square" lIns="9144" tIns="0" rIns="9144" bIns="0" anchor="t">
            <a:noAutofit/>
          </a:bodyPr>
          <a:lstStyle/>
          <a:p>
            <a:pPr algn="ctr">
              <a:spcAft>
                <a:spcPts val="0"/>
              </a:spcAft>
            </a:pPr>
            <a:r>
              <a:rPr lang="en-GB" sz="1300" b="1" dirty="0">
                <a:solidFill>
                  <a:srgbClr val="3DCCC0"/>
                </a:solidFill>
                <a:latin typeface="Aptos"/>
                <a:cs typeface="Aptos"/>
              </a:rPr>
              <a:t>UP NEXT</a:t>
            </a:r>
          </a:p>
        </p:txBody>
      </p:sp>
      <p:sp>
        <p:nvSpPr>
          <p:cNvPr id="10" name="TextBox 10"/>
          <p:cNvSpPr txBox="1"/>
          <p:nvPr/>
        </p:nvSpPr>
        <p:spPr>
          <a:xfrm>
            <a:off x="2441448" y="2743200"/>
            <a:ext cx="7315200" cy="822960"/>
          </a:xfrm>
          <a:prstGeom prst="rect">
            <a:avLst/>
          </a:prstGeom>
          <a:noFill/>
        </p:spPr>
        <p:txBody>
          <a:bodyPr wrap="square" lIns="9144" tIns="0" rIns="9144" bIns="0" anchor="t">
            <a:noAutofit/>
          </a:bodyPr>
          <a:lstStyle/>
          <a:p>
            <a:pPr algn="ctr">
              <a:spcAft>
                <a:spcPts val="0"/>
              </a:spcAft>
            </a:pPr>
            <a:r>
              <a:rPr lang="en-GB" sz="4000" b="1" dirty="0">
                <a:solidFill>
                  <a:srgbClr val="F4F8FE"/>
                </a:solidFill>
                <a:latin typeface="Aptos"/>
                <a:cs typeface="Aptos"/>
              </a:rPr>
              <a:t>Sorena Golbarg Lisar</a:t>
            </a:r>
          </a:p>
        </p:txBody>
      </p:sp>
      <p:sp>
        <p:nvSpPr>
          <p:cNvPr id="11" name="TextBox 11"/>
          <p:cNvSpPr txBox="1"/>
          <p:nvPr/>
        </p:nvSpPr>
        <p:spPr>
          <a:xfrm>
            <a:off x="2441448" y="3794760"/>
            <a:ext cx="7315200" cy="411480"/>
          </a:xfrm>
          <a:prstGeom prst="rect">
            <a:avLst/>
          </a:prstGeom>
          <a:noFill/>
        </p:spPr>
        <p:txBody>
          <a:bodyPr wrap="square" lIns="9144" tIns="0" rIns="9144" bIns="0" anchor="t">
            <a:noAutofit/>
          </a:bodyPr>
          <a:lstStyle/>
          <a:p>
            <a:pPr algn="ctr">
              <a:spcAft>
                <a:spcPts val="0"/>
              </a:spcAft>
            </a:pPr>
            <a:r>
              <a:rPr lang="en-GB" sz="1600" b="0" dirty="0">
                <a:solidFill>
                  <a:srgbClr val="A6B8CF"/>
                </a:solidFill>
                <a:latin typeface="Aptos"/>
                <a:cs typeface="Aptos"/>
              </a:rPr>
              <a:t>The pizza program and the studio network  ·  MP2 and MP3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MP2   /   SOFTWARE ENGINEERING   /   SORENA</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What the program does</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PENNINE PIZZA WORKS   •   ORDERING PROGRAM</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10</a:t>
            </a:r>
          </a:p>
        </p:txBody>
      </p:sp>
      <p:sp>
        <p:nvSpPr>
          <p:cNvPr id="9" name="Shape 9"/>
          <p:cNvSpPr/>
          <p:nvPr/>
        </p:nvSpPr>
        <p:spPr>
          <a:xfrm>
            <a:off x="557784" y="1719072"/>
            <a:ext cx="5669280" cy="4096512"/>
          </a:xfrm>
          <a:prstGeom prst="roundRect">
            <a:avLst>
              <a:gd name="adj" fmla="val 12000"/>
            </a:avLst>
          </a:prstGeom>
          <a:solidFill>
            <a:srgbClr val="172336"/>
          </a:solidFill>
          <a:ln>
            <a:noFill/>
          </a:ln>
        </p:spPr>
        <p:txBody>
          <a:bodyPr rtlCol="0" anchor="ctr"/>
          <a:lstStyle/>
          <a:p>
            <a:pPr algn="ctr"/>
            <a:endParaRPr/>
          </a:p>
        </p:txBody>
      </p:sp>
      <p:sp>
        <p:nvSpPr>
          <p:cNvPr id="10" name="TextBox 10"/>
          <p:cNvSpPr txBox="1"/>
          <p:nvPr/>
        </p:nvSpPr>
        <p:spPr>
          <a:xfrm>
            <a:off x="868680" y="2011680"/>
            <a:ext cx="502920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FOUR STEPS</a:t>
            </a:r>
          </a:p>
        </p:txBody>
      </p:sp>
      <p:sp>
        <p:nvSpPr>
          <p:cNvPr id="11" name="TextBox 11"/>
          <p:cNvSpPr txBox="1"/>
          <p:nvPr/>
        </p:nvSpPr>
        <p:spPr>
          <a:xfrm>
            <a:off x="868680" y="2468880"/>
            <a:ext cx="548640" cy="365760"/>
          </a:xfrm>
          <a:prstGeom prst="rect">
            <a:avLst/>
          </a:prstGeom>
          <a:noFill/>
        </p:spPr>
        <p:txBody>
          <a:bodyPr wrap="square" lIns="9144" tIns="0" rIns="9144" bIns="0" anchor="t">
            <a:noAutofit/>
          </a:bodyPr>
          <a:lstStyle/>
          <a:p>
            <a:pPr algn="l">
              <a:spcAft>
                <a:spcPts val="0"/>
              </a:spcAft>
            </a:pPr>
            <a:r>
              <a:rPr lang="en-GB" sz="1600" b="1" dirty="0">
                <a:solidFill>
                  <a:srgbClr val="3DCCC0"/>
                </a:solidFill>
                <a:latin typeface="Aptos"/>
                <a:cs typeface="Aptos"/>
              </a:rPr>
              <a:t>01</a:t>
            </a:r>
          </a:p>
        </p:txBody>
      </p:sp>
      <p:sp>
        <p:nvSpPr>
          <p:cNvPr id="12" name="TextBox 12"/>
          <p:cNvSpPr txBox="1"/>
          <p:nvPr/>
        </p:nvSpPr>
        <p:spPr>
          <a:xfrm>
            <a:off x="1463040" y="2468880"/>
            <a:ext cx="4389120" cy="320040"/>
          </a:xfrm>
          <a:prstGeom prst="rect">
            <a:avLst/>
          </a:prstGeom>
          <a:noFill/>
        </p:spPr>
        <p:txBody>
          <a:bodyPr wrap="square" lIns="9144" tIns="0" rIns="9144" bIns="0" anchor="t">
            <a:noAutofit/>
          </a:bodyPr>
          <a:lstStyle/>
          <a:p>
            <a:pPr algn="l">
              <a:spcAft>
                <a:spcPts val="0"/>
              </a:spcAft>
            </a:pPr>
            <a:r>
              <a:rPr lang="en-GB" sz="1400" b="1" dirty="0">
                <a:solidFill>
                  <a:srgbClr val="F4F8FE"/>
                </a:solidFill>
                <a:latin typeface="Aptos"/>
                <a:cs typeface="Aptos"/>
              </a:rPr>
              <a:t>Customer details</a:t>
            </a:r>
          </a:p>
        </p:txBody>
      </p:sp>
      <p:sp>
        <p:nvSpPr>
          <p:cNvPr id="13" name="TextBox 13"/>
          <p:cNvSpPr txBox="1"/>
          <p:nvPr/>
        </p:nvSpPr>
        <p:spPr>
          <a:xfrm>
            <a:off x="1463040" y="2798064"/>
            <a:ext cx="4389120" cy="32004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Name, address and phone number</a:t>
            </a:r>
          </a:p>
        </p:txBody>
      </p:sp>
      <p:sp>
        <p:nvSpPr>
          <p:cNvPr id="14" name="Shape 14"/>
          <p:cNvSpPr/>
          <p:nvPr/>
        </p:nvSpPr>
        <p:spPr>
          <a:xfrm>
            <a:off x="868680" y="3127248"/>
            <a:ext cx="5029200" cy="10973"/>
          </a:xfrm>
          <a:prstGeom prst="rect">
            <a:avLst/>
          </a:prstGeom>
          <a:solidFill>
            <a:srgbClr val="314458"/>
          </a:solidFill>
          <a:ln>
            <a:noFill/>
          </a:ln>
        </p:spPr>
        <p:txBody>
          <a:bodyPr rtlCol="0" anchor="ctr"/>
          <a:lstStyle/>
          <a:p>
            <a:pPr algn="ctr"/>
            <a:endParaRPr/>
          </a:p>
        </p:txBody>
      </p:sp>
      <p:sp>
        <p:nvSpPr>
          <p:cNvPr id="15" name="TextBox 15"/>
          <p:cNvSpPr txBox="1"/>
          <p:nvPr/>
        </p:nvSpPr>
        <p:spPr>
          <a:xfrm>
            <a:off x="868680" y="3273552"/>
            <a:ext cx="548640" cy="365760"/>
          </a:xfrm>
          <a:prstGeom prst="rect">
            <a:avLst/>
          </a:prstGeom>
          <a:noFill/>
        </p:spPr>
        <p:txBody>
          <a:bodyPr wrap="square" lIns="9144" tIns="0" rIns="9144" bIns="0" anchor="t">
            <a:noAutofit/>
          </a:bodyPr>
          <a:lstStyle/>
          <a:p>
            <a:pPr algn="l">
              <a:spcAft>
                <a:spcPts val="0"/>
              </a:spcAft>
            </a:pPr>
            <a:r>
              <a:rPr lang="en-GB" sz="1600" b="1" dirty="0">
                <a:solidFill>
                  <a:srgbClr val="3DCCC0"/>
                </a:solidFill>
                <a:latin typeface="Aptos"/>
                <a:cs typeface="Aptos"/>
              </a:rPr>
              <a:t>02</a:t>
            </a:r>
          </a:p>
        </p:txBody>
      </p:sp>
      <p:sp>
        <p:nvSpPr>
          <p:cNvPr id="16" name="TextBox 16"/>
          <p:cNvSpPr txBox="1"/>
          <p:nvPr/>
        </p:nvSpPr>
        <p:spPr>
          <a:xfrm>
            <a:off x="1463040" y="3273552"/>
            <a:ext cx="4389120" cy="320040"/>
          </a:xfrm>
          <a:prstGeom prst="rect">
            <a:avLst/>
          </a:prstGeom>
          <a:noFill/>
        </p:spPr>
        <p:txBody>
          <a:bodyPr wrap="square" lIns="9144" tIns="0" rIns="9144" bIns="0" anchor="t">
            <a:noAutofit/>
          </a:bodyPr>
          <a:lstStyle/>
          <a:p>
            <a:pPr algn="l">
              <a:spcAft>
                <a:spcPts val="0"/>
              </a:spcAft>
            </a:pPr>
            <a:r>
              <a:rPr lang="en-GB" sz="1400" b="1" dirty="0">
                <a:solidFill>
                  <a:srgbClr val="F4F8FE"/>
                </a:solidFill>
                <a:latin typeface="Aptos"/>
                <a:cs typeface="Aptos"/>
              </a:rPr>
              <a:t>Choose pizzas</a:t>
            </a:r>
          </a:p>
        </p:txBody>
      </p:sp>
      <p:sp>
        <p:nvSpPr>
          <p:cNvPr id="17" name="TextBox 17"/>
          <p:cNvSpPr txBox="1"/>
          <p:nvPr/>
        </p:nvSpPr>
        <p:spPr>
          <a:xfrm>
            <a:off x="1463040" y="3602736"/>
            <a:ext cx="4389120" cy="32004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Up to 6, each with a size and toppings</a:t>
            </a:r>
          </a:p>
        </p:txBody>
      </p:sp>
      <p:sp>
        <p:nvSpPr>
          <p:cNvPr id="18" name="Shape 18"/>
          <p:cNvSpPr/>
          <p:nvPr/>
        </p:nvSpPr>
        <p:spPr>
          <a:xfrm>
            <a:off x="868680" y="3931920"/>
            <a:ext cx="5029200" cy="10973"/>
          </a:xfrm>
          <a:prstGeom prst="rect">
            <a:avLst/>
          </a:prstGeom>
          <a:solidFill>
            <a:srgbClr val="314458"/>
          </a:solidFill>
          <a:ln>
            <a:noFill/>
          </a:ln>
        </p:spPr>
        <p:txBody>
          <a:bodyPr rtlCol="0" anchor="ctr"/>
          <a:lstStyle/>
          <a:p>
            <a:pPr algn="ctr"/>
            <a:endParaRPr/>
          </a:p>
        </p:txBody>
      </p:sp>
      <p:sp>
        <p:nvSpPr>
          <p:cNvPr id="19" name="TextBox 19"/>
          <p:cNvSpPr txBox="1"/>
          <p:nvPr/>
        </p:nvSpPr>
        <p:spPr>
          <a:xfrm>
            <a:off x="868680" y="4078224"/>
            <a:ext cx="548640" cy="365760"/>
          </a:xfrm>
          <a:prstGeom prst="rect">
            <a:avLst/>
          </a:prstGeom>
          <a:noFill/>
        </p:spPr>
        <p:txBody>
          <a:bodyPr wrap="square" lIns="9144" tIns="0" rIns="9144" bIns="0" anchor="t">
            <a:noAutofit/>
          </a:bodyPr>
          <a:lstStyle/>
          <a:p>
            <a:pPr algn="l">
              <a:spcAft>
                <a:spcPts val="0"/>
              </a:spcAft>
            </a:pPr>
            <a:r>
              <a:rPr lang="en-GB" sz="1600" b="1" dirty="0">
                <a:solidFill>
                  <a:srgbClr val="3DCCC0"/>
                </a:solidFill>
                <a:latin typeface="Aptos"/>
                <a:cs typeface="Aptos"/>
              </a:rPr>
              <a:t>03</a:t>
            </a:r>
          </a:p>
        </p:txBody>
      </p:sp>
      <p:sp>
        <p:nvSpPr>
          <p:cNvPr id="20" name="TextBox 20"/>
          <p:cNvSpPr txBox="1"/>
          <p:nvPr/>
        </p:nvSpPr>
        <p:spPr>
          <a:xfrm>
            <a:off x="1463040" y="4078224"/>
            <a:ext cx="4389120" cy="320040"/>
          </a:xfrm>
          <a:prstGeom prst="rect">
            <a:avLst/>
          </a:prstGeom>
          <a:noFill/>
        </p:spPr>
        <p:txBody>
          <a:bodyPr wrap="square" lIns="9144" tIns="0" rIns="9144" bIns="0" anchor="t">
            <a:noAutofit/>
          </a:bodyPr>
          <a:lstStyle/>
          <a:p>
            <a:pPr algn="l">
              <a:spcAft>
                <a:spcPts val="0"/>
              </a:spcAft>
            </a:pPr>
            <a:r>
              <a:rPr lang="en-GB" sz="1400" b="1" dirty="0">
                <a:solidFill>
                  <a:srgbClr val="F4F8FE"/>
                </a:solidFill>
                <a:latin typeface="Aptos"/>
                <a:cs typeface="Aptos"/>
              </a:rPr>
              <a:t>Delivery</a:t>
            </a:r>
          </a:p>
        </p:txBody>
      </p:sp>
      <p:sp>
        <p:nvSpPr>
          <p:cNvPr id="21" name="TextBox 21"/>
          <p:cNvSpPr txBox="1"/>
          <p:nvPr/>
        </p:nvSpPr>
        <p:spPr>
          <a:xfrm>
            <a:off x="1463040" y="4407408"/>
            <a:ext cx="4389120" cy="32004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Yes or no, delivery costs £2.50</a:t>
            </a:r>
          </a:p>
        </p:txBody>
      </p:sp>
      <p:sp>
        <p:nvSpPr>
          <p:cNvPr id="22" name="Shape 22"/>
          <p:cNvSpPr/>
          <p:nvPr/>
        </p:nvSpPr>
        <p:spPr>
          <a:xfrm>
            <a:off x="868680" y="4736592"/>
            <a:ext cx="5029200" cy="10973"/>
          </a:xfrm>
          <a:prstGeom prst="rect">
            <a:avLst/>
          </a:prstGeom>
          <a:solidFill>
            <a:srgbClr val="314458"/>
          </a:solidFill>
          <a:ln>
            <a:noFill/>
          </a:ln>
        </p:spPr>
        <p:txBody>
          <a:bodyPr rtlCol="0" anchor="ctr"/>
          <a:lstStyle/>
          <a:p>
            <a:pPr algn="ctr"/>
            <a:endParaRPr/>
          </a:p>
        </p:txBody>
      </p:sp>
      <p:sp>
        <p:nvSpPr>
          <p:cNvPr id="23" name="TextBox 23"/>
          <p:cNvSpPr txBox="1"/>
          <p:nvPr/>
        </p:nvSpPr>
        <p:spPr>
          <a:xfrm>
            <a:off x="868680" y="4882896"/>
            <a:ext cx="548640" cy="365760"/>
          </a:xfrm>
          <a:prstGeom prst="rect">
            <a:avLst/>
          </a:prstGeom>
          <a:noFill/>
        </p:spPr>
        <p:txBody>
          <a:bodyPr wrap="square" lIns="9144" tIns="0" rIns="9144" bIns="0" anchor="t">
            <a:noAutofit/>
          </a:bodyPr>
          <a:lstStyle/>
          <a:p>
            <a:pPr algn="l">
              <a:spcAft>
                <a:spcPts val="0"/>
              </a:spcAft>
            </a:pPr>
            <a:r>
              <a:rPr lang="en-GB" sz="1600" b="1" dirty="0">
                <a:solidFill>
                  <a:srgbClr val="3DCCC0"/>
                </a:solidFill>
                <a:latin typeface="Aptos"/>
                <a:cs typeface="Aptos"/>
              </a:rPr>
              <a:t>04</a:t>
            </a:r>
          </a:p>
        </p:txBody>
      </p:sp>
      <p:sp>
        <p:nvSpPr>
          <p:cNvPr id="24" name="TextBox 24"/>
          <p:cNvSpPr txBox="1"/>
          <p:nvPr/>
        </p:nvSpPr>
        <p:spPr>
          <a:xfrm>
            <a:off x="1463040" y="4882896"/>
            <a:ext cx="4389120" cy="320040"/>
          </a:xfrm>
          <a:prstGeom prst="rect">
            <a:avLst/>
          </a:prstGeom>
          <a:noFill/>
        </p:spPr>
        <p:txBody>
          <a:bodyPr wrap="square" lIns="9144" tIns="0" rIns="9144" bIns="0" anchor="t">
            <a:noAutofit/>
          </a:bodyPr>
          <a:lstStyle/>
          <a:p>
            <a:pPr algn="l">
              <a:spcAft>
                <a:spcPts val="0"/>
              </a:spcAft>
            </a:pPr>
            <a:r>
              <a:rPr lang="en-GB" sz="1400" b="1" dirty="0">
                <a:solidFill>
                  <a:srgbClr val="F4F8FE"/>
                </a:solidFill>
                <a:latin typeface="Aptos"/>
                <a:cs typeface="Aptos"/>
              </a:rPr>
              <a:t>The bill</a:t>
            </a:r>
          </a:p>
        </p:txBody>
      </p:sp>
      <p:sp>
        <p:nvSpPr>
          <p:cNvPr id="25" name="TextBox 25"/>
          <p:cNvSpPr txBox="1"/>
          <p:nvPr/>
        </p:nvSpPr>
        <p:spPr>
          <a:xfrm>
            <a:off x="1463040" y="5212080"/>
            <a:ext cx="4389120" cy="32004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Every pizza, the discount and the total</a:t>
            </a:r>
          </a:p>
        </p:txBody>
      </p:sp>
      <p:sp>
        <p:nvSpPr>
          <p:cNvPr id="26" name="Shape 26"/>
          <p:cNvSpPr/>
          <p:nvPr/>
        </p:nvSpPr>
        <p:spPr>
          <a:xfrm>
            <a:off x="6428232" y="1719072"/>
            <a:ext cx="5120640" cy="4096512"/>
          </a:xfrm>
          <a:prstGeom prst="roundRect">
            <a:avLst>
              <a:gd name="adj" fmla="val 12000"/>
            </a:avLst>
          </a:prstGeom>
          <a:solidFill>
            <a:srgbClr val="172336"/>
          </a:solidFill>
          <a:ln>
            <a:noFill/>
          </a:ln>
        </p:spPr>
        <p:txBody>
          <a:bodyPr rtlCol="0" anchor="ctr"/>
          <a:lstStyle/>
          <a:p>
            <a:pPr algn="ctr"/>
            <a:endParaRPr/>
          </a:p>
        </p:txBody>
      </p:sp>
      <p:sp>
        <p:nvSpPr>
          <p:cNvPr id="27" name="TextBox 27"/>
          <p:cNvSpPr txBox="1"/>
          <p:nvPr/>
        </p:nvSpPr>
        <p:spPr>
          <a:xfrm>
            <a:off x="6748272" y="2011680"/>
            <a:ext cx="457200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HOW THE PROGRAM IS ORGANISED</a:t>
            </a:r>
          </a:p>
        </p:txBody>
      </p:sp>
      <p:sp>
        <p:nvSpPr>
          <p:cNvPr id="28" name="TextBox 28"/>
          <p:cNvSpPr txBox="1"/>
          <p:nvPr/>
        </p:nvSpPr>
        <p:spPr>
          <a:xfrm>
            <a:off x="6748272" y="2395728"/>
            <a:ext cx="4572000" cy="27432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Main calls, in order:</a:t>
            </a:r>
          </a:p>
        </p:txBody>
      </p:sp>
      <p:sp>
        <p:nvSpPr>
          <p:cNvPr id="29" name="TextBox 29"/>
          <p:cNvSpPr txBox="1"/>
          <p:nvPr/>
        </p:nvSpPr>
        <p:spPr>
          <a:xfrm>
            <a:off x="6748272" y="2724912"/>
            <a:ext cx="448056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1.  getCustomerDetails()</a:t>
            </a:r>
          </a:p>
        </p:txBody>
      </p:sp>
      <p:sp>
        <p:nvSpPr>
          <p:cNvPr id="30" name="TextBox 30"/>
          <p:cNvSpPr txBox="1"/>
          <p:nvPr/>
        </p:nvSpPr>
        <p:spPr>
          <a:xfrm>
            <a:off x="6748272" y="3072384"/>
            <a:ext cx="448056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2.  getPizzas()</a:t>
            </a:r>
          </a:p>
        </p:txBody>
      </p:sp>
      <p:sp>
        <p:nvSpPr>
          <p:cNvPr id="31" name="TextBox 31"/>
          <p:cNvSpPr txBox="1"/>
          <p:nvPr/>
        </p:nvSpPr>
        <p:spPr>
          <a:xfrm>
            <a:off x="6748272" y="3419856"/>
            <a:ext cx="448056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3.  choosePizzas()</a:t>
            </a:r>
          </a:p>
        </p:txBody>
      </p:sp>
      <p:sp>
        <p:nvSpPr>
          <p:cNvPr id="32" name="TextBox 32"/>
          <p:cNvSpPr txBox="1"/>
          <p:nvPr/>
        </p:nvSpPr>
        <p:spPr>
          <a:xfrm>
            <a:off x="6748272" y="3767328"/>
            <a:ext cx="448056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4.  getDelivery()</a:t>
            </a:r>
          </a:p>
        </p:txBody>
      </p:sp>
      <p:sp>
        <p:nvSpPr>
          <p:cNvPr id="33" name="TextBox 33"/>
          <p:cNvSpPr txBox="1"/>
          <p:nvPr/>
        </p:nvSpPr>
        <p:spPr>
          <a:xfrm>
            <a:off x="6748272" y="4114800"/>
            <a:ext cx="448056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5.  calcTotals()</a:t>
            </a:r>
          </a:p>
        </p:txBody>
      </p:sp>
      <p:sp>
        <p:nvSpPr>
          <p:cNvPr id="34" name="TextBox 34"/>
          <p:cNvSpPr txBox="1"/>
          <p:nvPr/>
        </p:nvSpPr>
        <p:spPr>
          <a:xfrm>
            <a:off x="6748272" y="4462272"/>
            <a:ext cx="448056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6.  displayBill()</a:t>
            </a:r>
          </a:p>
        </p:txBody>
      </p:sp>
      <p:sp>
        <p:nvSpPr>
          <p:cNvPr id="35" name="Shape 35"/>
          <p:cNvSpPr/>
          <p:nvPr/>
        </p:nvSpPr>
        <p:spPr>
          <a:xfrm>
            <a:off x="6748272" y="4892040"/>
            <a:ext cx="4480560" cy="10973"/>
          </a:xfrm>
          <a:prstGeom prst="rect">
            <a:avLst/>
          </a:prstGeom>
          <a:solidFill>
            <a:srgbClr val="314458"/>
          </a:solidFill>
          <a:ln>
            <a:noFill/>
          </a:ln>
        </p:spPr>
        <p:txBody>
          <a:bodyPr rtlCol="0" anchor="ctr"/>
          <a:lstStyle/>
          <a:p>
            <a:pPr algn="ctr"/>
            <a:endParaRPr/>
          </a:p>
        </p:txBody>
      </p:sp>
      <p:sp>
        <p:nvSpPr>
          <p:cNvPr id="36" name="TextBox 36"/>
          <p:cNvSpPr txBox="1"/>
          <p:nvPr/>
        </p:nvSpPr>
        <p:spPr>
          <a:xfrm>
            <a:off x="6748272" y="5029200"/>
            <a:ext cx="4480560" cy="54864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Helper: pizzaPrice(), the price of one pizza, used by 3 functions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MP2   /   SOFTWARE ENGINEERING   /   SORENA</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Every input is checked, then the total is worked out</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PENNINE PIZZA WORKS   •   ORDERING PROGRAM</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11</a:t>
            </a:r>
          </a:p>
        </p:txBody>
      </p:sp>
      <p:sp>
        <p:nvSpPr>
          <p:cNvPr id="9" name="Shape 9"/>
          <p:cNvSpPr/>
          <p:nvPr/>
        </p:nvSpPr>
        <p:spPr>
          <a:xfrm>
            <a:off x="557784" y="1719072"/>
            <a:ext cx="5669280" cy="4096512"/>
          </a:xfrm>
          <a:prstGeom prst="roundRect">
            <a:avLst>
              <a:gd name="adj" fmla="val 12000"/>
            </a:avLst>
          </a:prstGeom>
          <a:solidFill>
            <a:srgbClr val="172336"/>
          </a:solidFill>
          <a:ln>
            <a:noFill/>
          </a:ln>
        </p:spPr>
        <p:txBody>
          <a:bodyPr rtlCol="0" anchor="ctr"/>
          <a:lstStyle/>
          <a:p>
            <a:pPr algn="ctr"/>
            <a:endParaRPr/>
          </a:p>
        </p:txBody>
      </p:sp>
      <p:sp>
        <p:nvSpPr>
          <p:cNvPr id="10" name="TextBox 10"/>
          <p:cNvSpPr txBox="1"/>
          <p:nvPr/>
        </p:nvSpPr>
        <p:spPr>
          <a:xfrm>
            <a:off x="868680" y="2011680"/>
            <a:ext cx="502920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EVERY INPUT IS CHECKED</a:t>
            </a:r>
          </a:p>
        </p:txBody>
      </p:sp>
      <p:sp>
        <p:nvSpPr>
          <p:cNvPr id="11" name="TextBox 11"/>
          <p:cNvSpPr txBox="1"/>
          <p:nvPr/>
        </p:nvSpPr>
        <p:spPr>
          <a:xfrm>
            <a:off x="868680" y="2450592"/>
            <a:ext cx="292608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Name, address, phone</a:t>
            </a:r>
          </a:p>
        </p:txBody>
      </p:sp>
      <p:sp>
        <p:nvSpPr>
          <p:cNvPr id="12" name="TextBox 12"/>
          <p:cNvSpPr txBox="1"/>
          <p:nvPr/>
        </p:nvSpPr>
        <p:spPr>
          <a:xfrm>
            <a:off x="3840480" y="2450592"/>
            <a:ext cx="2103120" cy="320040"/>
          </a:xfrm>
          <a:prstGeom prst="rect">
            <a:avLst/>
          </a:prstGeom>
          <a:noFill/>
        </p:spPr>
        <p:txBody>
          <a:bodyPr wrap="square" lIns="9144" tIns="0" rIns="9144" bIns="0" anchor="t">
            <a:noAutofit/>
          </a:bodyPr>
          <a:lstStyle/>
          <a:p>
            <a:pPr algn="l">
              <a:spcAft>
                <a:spcPts val="0"/>
              </a:spcAft>
            </a:pPr>
            <a:r>
              <a:rPr lang="en-GB" sz="1300" b="0" dirty="0">
                <a:solidFill>
                  <a:srgbClr val="A6B8CF"/>
                </a:solidFill>
                <a:latin typeface="Aptos"/>
                <a:cs typeface="Aptos"/>
              </a:rPr>
              <a:t>Cannot be blank</a:t>
            </a:r>
          </a:p>
        </p:txBody>
      </p:sp>
      <p:sp>
        <p:nvSpPr>
          <p:cNvPr id="13" name="Shape 13"/>
          <p:cNvSpPr/>
          <p:nvPr/>
        </p:nvSpPr>
        <p:spPr>
          <a:xfrm>
            <a:off x="868680" y="2834640"/>
            <a:ext cx="5029200" cy="10973"/>
          </a:xfrm>
          <a:prstGeom prst="rect">
            <a:avLst/>
          </a:prstGeom>
          <a:solidFill>
            <a:srgbClr val="314458"/>
          </a:solidFill>
          <a:ln>
            <a:noFill/>
          </a:ln>
        </p:spPr>
        <p:txBody>
          <a:bodyPr rtlCol="0" anchor="ctr"/>
          <a:lstStyle/>
          <a:p>
            <a:pPr algn="ctr"/>
            <a:endParaRPr/>
          </a:p>
        </p:txBody>
      </p:sp>
      <p:sp>
        <p:nvSpPr>
          <p:cNvPr id="14" name="TextBox 14"/>
          <p:cNvSpPr txBox="1"/>
          <p:nvPr/>
        </p:nvSpPr>
        <p:spPr>
          <a:xfrm>
            <a:off x="868680" y="2926080"/>
            <a:ext cx="292608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Number of pizzas</a:t>
            </a:r>
          </a:p>
        </p:txBody>
      </p:sp>
      <p:sp>
        <p:nvSpPr>
          <p:cNvPr id="15" name="TextBox 15"/>
          <p:cNvSpPr txBox="1"/>
          <p:nvPr/>
        </p:nvSpPr>
        <p:spPr>
          <a:xfrm>
            <a:off x="3840480" y="2926080"/>
            <a:ext cx="2103120" cy="320040"/>
          </a:xfrm>
          <a:prstGeom prst="rect">
            <a:avLst/>
          </a:prstGeom>
          <a:noFill/>
        </p:spPr>
        <p:txBody>
          <a:bodyPr wrap="square" lIns="9144" tIns="0" rIns="9144" bIns="0" anchor="t">
            <a:noAutofit/>
          </a:bodyPr>
          <a:lstStyle/>
          <a:p>
            <a:pPr algn="l">
              <a:spcAft>
                <a:spcPts val="0"/>
              </a:spcAft>
            </a:pPr>
            <a:r>
              <a:rPr lang="en-GB" sz="1300" b="0" dirty="0">
                <a:solidFill>
                  <a:srgbClr val="A6B8CF"/>
                </a:solidFill>
                <a:latin typeface="Aptos"/>
                <a:cs typeface="Aptos"/>
              </a:rPr>
              <a:t>1 to 6</a:t>
            </a:r>
          </a:p>
        </p:txBody>
      </p:sp>
      <p:sp>
        <p:nvSpPr>
          <p:cNvPr id="16" name="Shape 16"/>
          <p:cNvSpPr/>
          <p:nvPr/>
        </p:nvSpPr>
        <p:spPr>
          <a:xfrm>
            <a:off x="868680" y="3310128"/>
            <a:ext cx="5029200" cy="10973"/>
          </a:xfrm>
          <a:prstGeom prst="rect">
            <a:avLst/>
          </a:prstGeom>
          <a:solidFill>
            <a:srgbClr val="314458"/>
          </a:solidFill>
          <a:ln>
            <a:noFill/>
          </a:ln>
        </p:spPr>
        <p:txBody>
          <a:bodyPr rtlCol="0" anchor="ctr"/>
          <a:lstStyle/>
          <a:p>
            <a:pPr algn="ctr"/>
            <a:endParaRPr/>
          </a:p>
        </p:txBody>
      </p:sp>
      <p:sp>
        <p:nvSpPr>
          <p:cNvPr id="17" name="TextBox 17"/>
          <p:cNvSpPr txBox="1"/>
          <p:nvPr/>
        </p:nvSpPr>
        <p:spPr>
          <a:xfrm>
            <a:off x="868680" y="3401568"/>
            <a:ext cx="292608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Pizza size</a:t>
            </a:r>
          </a:p>
        </p:txBody>
      </p:sp>
      <p:sp>
        <p:nvSpPr>
          <p:cNvPr id="18" name="TextBox 18"/>
          <p:cNvSpPr txBox="1"/>
          <p:nvPr/>
        </p:nvSpPr>
        <p:spPr>
          <a:xfrm>
            <a:off x="3840480" y="3401568"/>
            <a:ext cx="2103120" cy="320040"/>
          </a:xfrm>
          <a:prstGeom prst="rect">
            <a:avLst/>
          </a:prstGeom>
          <a:noFill/>
        </p:spPr>
        <p:txBody>
          <a:bodyPr wrap="square" lIns="9144" tIns="0" rIns="9144" bIns="0" anchor="t">
            <a:noAutofit/>
          </a:bodyPr>
          <a:lstStyle/>
          <a:p>
            <a:pPr algn="l">
              <a:spcAft>
                <a:spcPts val="0"/>
              </a:spcAft>
            </a:pPr>
            <a:r>
              <a:rPr lang="en-GB" sz="1300" b="0" dirty="0">
                <a:solidFill>
                  <a:srgbClr val="A6B8CF"/>
                </a:solidFill>
                <a:latin typeface="Aptos"/>
                <a:cs typeface="Aptos"/>
              </a:rPr>
              <a:t>0, 1 or 2</a:t>
            </a:r>
          </a:p>
        </p:txBody>
      </p:sp>
      <p:sp>
        <p:nvSpPr>
          <p:cNvPr id="19" name="Shape 19"/>
          <p:cNvSpPr/>
          <p:nvPr/>
        </p:nvSpPr>
        <p:spPr>
          <a:xfrm>
            <a:off x="868680" y="3785616"/>
            <a:ext cx="5029200" cy="10973"/>
          </a:xfrm>
          <a:prstGeom prst="rect">
            <a:avLst/>
          </a:prstGeom>
          <a:solidFill>
            <a:srgbClr val="314458"/>
          </a:solidFill>
          <a:ln>
            <a:noFill/>
          </a:ln>
        </p:spPr>
        <p:txBody>
          <a:bodyPr rtlCol="0" anchor="ctr"/>
          <a:lstStyle/>
          <a:p>
            <a:pPr algn="ctr"/>
            <a:endParaRPr/>
          </a:p>
        </p:txBody>
      </p:sp>
      <p:sp>
        <p:nvSpPr>
          <p:cNvPr id="20" name="TextBox 20"/>
          <p:cNvSpPr txBox="1"/>
          <p:nvPr/>
        </p:nvSpPr>
        <p:spPr>
          <a:xfrm>
            <a:off x="868680" y="3877056"/>
            <a:ext cx="292608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Toppings</a:t>
            </a:r>
          </a:p>
        </p:txBody>
      </p:sp>
      <p:sp>
        <p:nvSpPr>
          <p:cNvPr id="21" name="TextBox 21"/>
          <p:cNvSpPr txBox="1"/>
          <p:nvPr/>
        </p:nvSpPr>
        <p:spPr>
          <a:xfrm>
            <a:off x="3840480" y="3877056"/>
            <a:ext cx="2103120" cy="320040"/>
          </a:xfrm>
          <a:prstGeom prst="rect">
            <a:avLst/>
          </a:prstGeom>
          <a:noFill/>
        </p:spPr>
        <p:txBody>
          <a:bodyPr wrap="square" lIns="9144" tIns="0" rIns="9144" bIns="0" anchor="t">
            <a:noAutofit/>
          </a:bodyPr>
          <a:lstStyle/>
          <a:p>
            <a:pPr algn="l">
              <a:spcAft>
                <a:spcPts val="0"/>
              </a:spcAft>
            </a:pPr>
            <a:r>
              <a:rPr lang="en-GB" sz="1300" b="0" dirty="0">
                <a:solidFill>
                  <a:srgbClr val="A6B8CF"/>
                </a:solidFill>
                <a:latin typeface="Aptos"/>
                <a:cs typeface="Aptos"/>
              </a:rPr>
              <a:t>0 or more</a:t>
            </a:r>
          </a:p>
        </p:txBody>
      </p:sp>
      <p:sp>
        <p:nvSpPr>
          <p:cNvPr id="22" name="Shape 22"/>
          <p:cNvSpPr/>
          <p:nvPr/>
        </p:nvSpPr>
        <p:spPr>
          <a:xfrm>
            <a:off x="868680" y="4261104"/>
            <a:ext cx="5029200" cy="10973"/>
          </a:xfrm>
          <a:prstGeom prst="rect">
            <a:avLst/>
          </a:prstGeom>
          <a:solidFill>
            <a:srgbClr val="314458"/>
          </a:solidFill>
          <a:ln>
            <a:noFill/>
          </a:ln>
        </p:spPr>
        <p:txBody>
          <a:bodyPr rtlCol="0" anchor="ctr"/>
          <a:lstStyle/>
          <a:p>
            <a:pPr algn="ctr"/>
            <a:endParaRPr/>
          </a:p>
        </p:txBody>
      </p:sp>
      <p:sp>
        <p:nvSpPr>
          <p:cNvPr id="23" name="TextBox 23"/>
          <p:cNvSpPr txBox="1"/>
          <p:nvPr/>
        </p:nvSpPr>
        <p:spPr>
          <a:xfrm>
            <a:off x="868680" y="4352544"/>
            <a:ext cx="292608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Delivery</a:t>
            </a:r>
          </a:p>
        </p:txBody>
      </p:sp>
      <p:sp>
        <p:nvSpPr>
          <p:cNvPr id="24" name="TextBox 24"/>
          <p:cNvSpPr txBox="1"/>
          <p:nvPr/>
        </p:nvSpPr>
        <p:spPr>
          <a:xfrm>
            <a:off x="3840480" y="4352544"/>
            <a:ext cx="2103120" cy="320040"/>
          </a:xfrm>
          <a:prstGeom prst="rect">
            <a:avLst/>
          </a:prstGeom>
          <a:noFill/>
        </p:spPr>
        <p:txBody>
          <a:bodyPr wrap="square" lIns="9144" tIns="0" rIns="9144" bIns="0" anchor="t">
            <a:noAutofit/>
          </a:bodyPr>
          <a:lstStyle/>
          <a:p>
            <a:pPr algn="l">
              <a:spcAft>
                <a:spcPts val="0"/>
              </a:spcAft>
            </a:pPr>
            <a:r>
              <a:rPr lang="en-GB" sz="1300" b="0" dirty="0">
                <a:solidFill>
                  <a:srgbClr val="A6B8CF"/>
                </a:solidFill>
                <a:latin typeface="Aptos"/>
                <a:cs typeface="Aptos"/>
              </a:rPr>
              <a:t>Y or N</a:t>
            </a:r>
          </a:p>
        </p:txBody>
      </p:sp>
      <p:sp>
        <p:nvSpPr>
          <p:cNvPr id="25" name="TextBox 25"/>
          <p:cNvSpPr txBox="1"/>
          <p:nvPr/>
        </p:nvSpPr>
        <p:spPr>
          <a:xfrm>
            <a:off x="868680" y="4937760"/>
            <a:ext cx="5029200" cy="73152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Each check is a while loop: it shows the message and asks again until the input is valid.</a:t>
            </a:r>
          </a:p>
        </p:txBody>
      </p:sp>
      <p:sp>
        <p:nvSpPr>
          <p:cNvPr id="26" name="Shape 26"/>
          <p:cNvSpPr/>
          <p:nvPr/>
        </p:nvSpPr>
        <p:spPr>
          <a:xfrm>
            <a:off x="6428232" y="1719072"/>
            <a:ext cx="5120640" cy="4096512"/>
          </a:xfrm>
          <a:prstGeom prst="roundRect">
            <a:avLst>
              <a:gd name="adj" fmla="val 12000"/>
            </a:avLst>
          </a:prstGeom>
          <a:solidFill>
            <a:srgbClr val="172336"/>
          </a:solidFill>
          <a:ln>
            <a:noFill/>
          </a:ln>
        </p:spPr>
        <p:txBody>
          <a:bodyPr rtlCol="0" anchor="ctr"/>
          <a:lstStyle/>
          <a:p>
            <a:pPr algn="ctr"/>
            <a:endParaRPr/>
          </a:p>
        </p:txBody>
      </p:sp>
      <p:sp>
        <p:nvSpPr>
          <p:cNvPr id="27" name="TextBox 27"/>
          <p:cNvSpPr txBox="1"/>
          <p:nvPr/>
        </p:nvSpPr>
        <p:spPr>
          <a:xfrm>
            <a:off x="6748272" y="2011680"/>
            <a:ext cx="457200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WORKING OUT THE TOTAL</a:t>
            </a:r>
          </a:p>
        </p:txBody>
      </p:sp>
      <p:sp>
        <p:nvSpPr>
          <p:cNvPr id="28" name="TextBox 28"/>
          <p:cNvSpPr txBox="1"/>
          <p:nvPr/>
        </p:nvSpPr>
        <p:spPr>
          <a:xfrm>
            <a:off x="6748272" y="2450592"/>
            <a:ext cx="365760" cy="365760"/>
          </a:xfrm>
          <a:prstGeom prst="rect">
            <a:avLst/>
          </a:prstGeom>
          <a:noFill/>
        </p:spPr>
        <p:txBody>
          <a:bodyPr wrap="square" lIns="9144" tIns="0" rIns="9144" bIns="0" anchor="t">
            <a:noAutofit/>
          </a:bodyPr>
          <a:lstStyle/>
          <a:p>
            <a:pPr algn="l">
              <a:spcAft>
                <a:spcPts val="0"/>
              </a:spcAft>
            </a:pPr>
            <a:r>
              <a:rPr lang="en-GB" sz="1600" b="1" dirty="0">
                <a:solidFill>
                  <a:srgbClr val="3DCCC0"/>
                </a:solidFill>
                <a:latin typeface="Aptos"/>
                <a:cs typeface="Aptos"/>
              </a:rPr>
              <a:t/>
            </a:r>
          </a:p>
        </p:txBody>
      </p:sp>
      <p:sp>
        <p:nvSpPr>
          <p:cNvPr id="29" name="TextBox 29"/>
          <p:cNvSpPr txBox="1"/>
          <p:nvPr/>
        </p:nvSpPr>
        <p:spPr>
          <a:xfrm>
            <a:off x="7132320" y="2450592"/>
            <a:ext cx="128016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Subtotal</a:t>
            </a:r>
          </a:p>
        </p:txBody>
      </p:sp>
      <p:sp>
        <p:nvSpPr>
          <p:cNvPr id="30" name="TextBox 30"/>
          <p:cNvSpPr txBox="1"/>
          <p:nvPr/>
        </p:nvSpPr>
        <p:spPr>
          <a:xfrm>
            <a:off x="8412480" y="2468880"/>
            <a:ext cx="2926080" cy="594360"/>
          </a:xfrm>
          <a:prstGeom prst="rect">
            <a:avLst/>
          </a:prstGeom>
          <a:noFill/>
        </p:spPr>
        <p:txBody>
          <a:bodyPr wrap="square" lIns="9144" tIns="0" rIns="9144" bIns="0" anchor="t">
            <a:noAutofit/>
          </a:bodyPr>
          <a:lstStyle/>
          <a:p>
            <a:pPr algn="l">
              <a:spcAft>
                <a:spcPts val="0"/>
              </a:spcAft>
            </a:pPr>
            <a:r>
              <a:rPr lang="en-GB" sz="1150" b="0" dirty="0">
                <a:solidFill>
                  <a:srgbClr val="A6B8CF"/>
                </a:solidFill>
                <a:latin typeface="Aptos"/>
                <a:cs typeface="Aptos"/>
              </a:rPr>
              <a:t>A for loop adds up pizzaPrice() for every pizza</a:t>
            </a:r>
          </a:p>
        </p:txBody>
      </p:sp>
      <p:sp>
        <p:nvSpPr>
          <p:cNvPr id="31" name="TextBox 31"/>
          <p:cNvSpPr txBox="1"/>
          <p:nvPr/>
        </p:nvSpPr>
        <p:spPr>
          <a:xfrm>
            <a:off x="6748272" y="3090672"/>
            <a:ext cx="365760" cy="365760"/>
          </a:xfrm>
          <a:prstGeom prst="rect">
            <a:avLst/>
          </a:prstGeom>
          <a:noFill/>
        </p:spPr>
        <p:txBody>
          <a:bodyPr wrap="square" lIns="9144" tIns="0" rIns="9144" bIns="0" anchor="t">
            <a:noAutofit/>
          </a:bodyPr>
          <a:lstStyle/>
          <a:p>
            <a:pPr algn="l">
              <a:spcAft>
                <a:spcPts val="0"/>
              </a:spcAft>
            </a:pPr>
            <a:r>
              <a:rPr lang="en-GB" sz="1600" b="1" dirty="0">
                <a:solidFill>
                  <a:srgbClr val="3DCCC0"/>
                </a:solidFill>
                <a:latin typeface="Aptos"/>
                <a:cs typeface="Aptos"/>
              </a:rPr>
              <a:t>−</a:t>
            </a:r>
          </a:p>
        </p:txBody>
      </p:sp>
      <p:sp>
        <p:nvSpPr>
          <p:cNvPr id="32" name="TextBox 32"/>
          <p:cNvSpPr txBox="1"/>
          <p:nvPr/>
        </p:nvSpPr>
        <p:spPr>
          <a:xfrm>
            <a:off x="7132320" y="3090672"/>
            <a:ext cx="128016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Discount</a:t>
            </a:r>
          </a:p>
        </p:txBody>
      </p:sp>
      <p:sp>
        <p:nvSpPr>
          <p:cNvPr id="33" name="TextBox 33"/>
          <p:cNvSpPr txBox="1"/>
          <p:nvPr/>
        </p:nvSpPr>
        <p:spPr>
          <a:xfrm>
            <a:off x="8412480" y="3108960"/>
            <a:ext cx="2926080" cy="594360"/>
          </a:xfrm>
          <a:prstGeom prst="rect">
            <a:avLst/>
          </a:prstGeom>
          <a:noFill/>
        </p:spPr>
        <p:txBody>
          <a:bodyPr wrap="square" lIns="9144" tIns="0" rIns="9144" bIns="0" anchor="t">
            <a:noAutofit/>
          </a:bodyPr>
          <a:lstStyle/>
          <a:p>
            <a:pPr algn="l">
              <a:spcAft>
                <a:spcPts val="0"/>
              </a:spcAft>
            </a:pPr>
            <a:r>
              <a:rPr lang="en-GB" sz="1150" b="0" dirty="0">
                <a:solidFill>
                  <a:srgbClr val="A6B8CF"/>
                </a:solidFill>
                <a:latin typeface="Aptos"/>
                <a:cs typeface="Aptos"/>
              </a:rPr>
              <a:t>10% if the subtotal is over £20, rounded to the nearest penny</a:t>
            </a:r>
          </a:p>
        </p:txBody>
      </p:sp>
      <p:sp>
        <p:nvSpPr>
          <p:cNvPr id="34" name="TextBox 34"/>
          <p:cNvSpPr txBox="1"/>
          <p:nvPr/>
        </p:nvSpPr>
        <p:spPr>
          <a:xfrm>
            <a:off x="6748272" y="3730752"/>
            <a:ext cx="365760" cy="365760"/>
          </a:xfrm>
          <a:prstGeom prst="rect">
            <a:avLst/>
          </a:prstGeom>
          <a:noFill/>
        </p:spPr>
        <p:txBody>
          <a:bodyPr wrap="square" lIns="9144" tIns="0" rIns="9144" bIns="0" anchor="t">
            <a:noAutofit/>
          </a:bodyPr>
          <a:lstStyle/>
          <a:p>
            <a:pPr algn="l">
              <a:spcAft>
                <a:spcPts val="0"/>
              </a:spcAft>
            </a:pPr>
            <a:r>
              <a:rPr lang="en-GB" sz="1600" b="1" dirty="0">
                <a:solidFill>
                  <a:srgbClr val="3DCCC0"/>
                </a:solidFill>
                <a:latin typeface="Aptos"/>
                <a:cs typeface="Aptos"/>
              </a:rPr>
              <a:t>+</a:t>
            </a:r>
          </a:p>
        </p:txBody>
      </p:sp>
      <p:sp>
        <p:nvSpPr>
          <p:cNvPr id="35" name="TextBox 35"/>
          <p:cNvSpPr txBox="1"/>
          <p:nvPr/>
        </p:nvSpPr>
        <p:spPr>
          <a:xfrm>
            <a:off x="7132320" y="3730752"/>
            <a:ext cx="128016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Delivery</a:t>
            </a:r>
          </a:p>
        </p:txBody>
      </p:sp>
      <p:sp>
        <p:nvSpPr>
          <p:cNvPr id="36" name="TextBox 36"/>
          <p:cNvSpPr txBox="1"/>
          <p:nvPr/>
        </p:nvSpPr>
        <p:spPr>
          <a:xfrm>
            <a:off x="8412480" y="3749040"/>
            <a:ext cx="2926080" cy="594360"/>
          </a:xfrm>
          <a:prstGeom prst="rect">
            <a:avLst/>
          </a:prstGeom>
          <a:noFill/>
        </p:spPr>
        <p:txBody>
          <a:bodyPr wrap="square" lIns="9144" tIns="0" rIns="9144" bIns="0" anchor="t">
            <a:noAutofit/>
          </a:bodyPr>
          <a:lstStyle/>
          <a:p>
            <a:pPr algn="l">
              <a:spcAft>
                <a:spcPts val="0"/>
              </a:spcAft>
            </a:pPr>
            <a:r>
              <a:rPr lang="en-GB" sz="1150" b="0" dirty="0">
                <a:solidFill>
                  <a:srgbClr val="A6B8CF"/>
                </a:solidFill>
                <a:latin typeface="Aptos"/>
                <a:cs typeface="Aptos"/>
              </a:rPr>
              <a:t>£2.50 if the customer chose Y, otherwise £0</a:t>
            </a:r>
          </a:p>
        </p:txBody>
      </p:sp>
      <p:sp>
        <p:nvSpPr>
          <p:cNvPr id="37" name="TextBox 37"/>
          <p:cNvSpPr txBox="1"/>
          <p:nvPr/>
        </p:nvSpPr>
        <p:spPr>
          <a:xfrm>
            <a:off x="6748272" y="4370832"/>
            <a:ext cx="365760" cy="365760"/>
          </a:xfrm>
          <a:prstGeom prst="rect">
            <a:avLst/>
          </a:prstGeom>
          <a:noFill/>
        </p:spPr>
        <p:txBody>
          <a:bodyPr wrap="square" lIns="9144" tIns="0" rIns="9144" bIns="0" anchor="t">
            <a:noAutofit/>
          </a:bodyPr>
          <a:lstStyle/>
          <a:p>
            <a:pPr algn="l">
              <a:spcAft>
                <a:spcPts val="0"/>
              </a:spcAft>
            </a:pPr>
            <a:r>
              <a:rPr lang="en-GB" sz="1600" b="1" dirty="0">
                <a:solidFill>
                  <a:srgbClr val="3DCCC0"/>
                </a:solidFill>
                <a:latin typeface="Aptos"/>
                <a:cs typeface="Aptos"/>
              </a:rPr>
              <a:t>=</a:t>
            </a:r>
          </a:p>
        </p:txBody>
      </p:sp>
      <p:sp>
        <p:nvSpPr>
          <p:cNvPr id="38" name="TextBox 38"/>
          <p:cNvSpPr txBox="1"/>
          <p:nvPr/>
        </p:nvSpPr>
        <p:spPr>
          <a:xfrm>
            <a:off x="7132320" y="4370832"/>
            <a:ext cx="1280160" cy="32004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Total</a:t>
            </a:r>
          </a:p>
        </p:txBody>
      </p:sp>
      <p:sp>
        <p:nvSpPr>
          <p:cNvPr id="39" name="TextBox 39"/>
          <p:cNvSpPr txBox="1"/>
          <p:nvPr/>
        </p:nvSpPr>
        <p:spPr>
          <a:xfrm>
            <a:off x="8412480" y="4389120"/>
            <a:ext cx="2926080" cy="594360"/>
          </a:xfrm>
          <a:prstGeom prst="rect">
            <a:avLst/>
          </a:prstGeom>
          <a:noFill/>
        </p:spPr>
        <p:txBody>
          <a:bodyPr wrap="square" lIns="9144" tIns="0" rIns="9144" bIns="0" anchor="t">
            <a:noAutofit/>
          </a:bodyPr>
          <a:lstStyle/>
          <a:p>
            <a:pPr algn="l">
              <a:spcAft>
                <a:spcPts val="0"/>
              </a:spcAft>
            </a:pPr>
            <a:r>
              <a:rPr lang="en-GB" sz="1150" b="0" dirty="0">
                <a:solidFill>
                  <a:srgbClr val="A6B8CF"/>
                </a:solidFill>
                <a:latin typeface="Aptos"/>
                <a:cs typeface="Aptos"/>
              </a:rPr>
              <a:t>What the customer pays</a:t>
            </a:r>
          </a:p>
        </p:txBody>
      </p:sp>
      <p:sp>
        <p:nvSpPr>
          <p:cNvPr id="40" name="Shape 40"/>
          <p:cNvSpPr/>
          <p:nvPr/>
        </p:nvSpPr>
        <p:spPr>
          <a:xfrm>
            <a:off x="6748272" y="5074920"/>
            <a:ext cx="4480560" cy="10973"/>
          </a:xfrm>
          <a:prstGeom prst="rect">
            <a:avLst/>
          </a:prstGeom>
          <a:solidFill>
            <a:srgbClr val="314458"/>
          </a:solidFill>
          <a:ln>
            <a:noFill/>
          </a:ln>
        </p:spPr>
        <p:txBody>
          <a:bodyPr rtlCol="0" anchor="ctr"/>
          <a:lstStyle/>
          <a:p>
            <a:pPr algn="ctr"/>
            <a:endParaRPr/>
          </a:p>
        </p:txBody>
      </p:sp>
      <p:sp>
        <p:nvSpPr>
          <p:cNvPr id="41" name="TextBox 41"/>
          <p:cNvSpPr txBox="1"/>
          <p:nvPr/>
        </p:nvSpPr>
        <p:spPr>
          <a:xfrm>
            <a:off x="6748272" y="5193792"/>
            <a:ext cx="4480560" cy="457200"/>
          </a:xfrm>
          <a:prstGeom prst="rect">
            <a:avLst/>
          </a:prstGeom>
          <a:noFill/>
        </p:spPr>
        <p:txBody>
          <a:bodyPr wrap="square" lIns="9144" tIns="0" rIns="9144" bIns="0" anchor="t">
            <a:noAutofit/>
          </a:bodyPr>
          <a:lstStyle/>
          <a:p>
            <a:pPr algn="l">
              <a:spcAft>
                <a:spcPts val="0"/>
              </a:spcAft>
            </a:pPr>
            <a:r>
              <a:rPr lang="en-GB" sz="1200" b="1" dirty="0">
                <a:solidFill>
                  <a:srgbClr val="F4F8FE"/>
                </a:solidFill>
                <a:latin typeface="Aptos"/>
                <a:cs typeface="Aptos"/>
              </a:rPr>
              <a:t>Small £3.25  ·  Medium £5.50  ·  Large £7.15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MP2   /   SOFTWARE ENGINEERING   /   SORENA</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Example bill and testing</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PENNINE PIZZA WORKS   •   ORDERING PROGRAM</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12</a:t>
            </a:r>
          </a:p>
        </p:txBody>
      </p:sp>
      <p:sp>
        <p:nvSpPr>
          <p:cNvPr id="9" name="Shape 9"/>
          <p:cNvSpPr/>
          <p:nvPr/>
        </p:nvSpPr>
        <p:spPr>
          <a:xfrm>
            <a:off x="557784" y="1719072"/>
            <a:ext cx="4480560" cy="4096512"/>
          </a:xfrm>
          <a:prstGeom prst="roundRect">
            <a:avLst>
              <a:gd name="adj" fmla="val 12000"/>
            </a:avLst>
          </a:prstGeom>
          <a:solidFill>
            <a:srgbClr val="172336"/>
          </a:solidFill>
          <a:ln>
            <a:noFill/>
          </a:ln>
        </p:spPr>
        <p:txBody>
          <a:bodyPr rtlCol="0" anchor="ctr"/>
          <a:lstStyle/>
          <a:p>
            <a:pPr algn="ctr"/>
            <a:endParaRPr/>
          </a:p>
        </p:txBody>
      </p:sp>
      <p:sp>
        <p:nvSpPr>
          <p:cNvPr id="10" name="TextBox 10"/>
          <p:cNvSpPr txBox="1"/>
          <p:nvPr/>
        </p:nvSpPr>
        <p:spPr>
          <a:xfrm>
            <a:off x="868680" y="2011680"/>
            <a:ext cx="4023360" cy="3657600"/>
          </a:xfrm>
          <a:prstGeom prst="rect">
            <a:avLst/>
          </a:prstGeom>
          <a:noFill/>
        </p:spPr>
        <p:txBody>
          <a:bodyPr wrap="square" lIns="9144" tIns="0" rIns="9144" bIns="0" anchor="t">
            <a:noAutofit/>
          </a:bodyPr>
          <a:lstStyle/>
          <a:p>
            <a:pPr algn="l">
              <a:spcAft>
                <a:spcPts val="400"/>
              </a:spcAft>
            </a:pPr>
            <a:r>
              <a:rPr lang="en-GB" sz="1200" b="0" dirty="0">
                <a:solidFill>
                  <a:srgbClr val="F4F8FE"/>
                </a:solidFill>
                <a:latin typeface="Aptos"/>
                <a:cs typeface="Aptos"/>
              </a:rPr>
              <a:t>========== BILL ==========</a:t>
            </a:r>
          </a:p>
          <a:p>
            <a:pPr algn="l">
              <a:spcAft>
                <a:spcPts val="400"/>
              </a:spcAft>
            </a:pPr>
            <a:r>
              <a:rPr lang="en-GB" sz="1200" b="0" dirty="0">
                <a:solidFill>
                  <a:srgbClr val="F4F8FE"/>
                </a:solidFill>
                <a:latin typeface="Aptos"/>
                <a:cs typeface="Aptos"/>
              </a:rPr>
              <a:t>Number of pizzas: 3</a:t>
            </a:r>
          </a:p>
          <a:p>
            <a:pPr algn="l">
              <a:spcAft>
                <a:spcPts val="400"/>
              </a:spcAft>
            </a:pPr>
            <a:r>
              <a:rPr lang="en-GB" sz="1200" b="0" dirty="0">
                <a:solidFill>
                  <a:srgbClr val="F4F8FE"/>
                </a:solidFill>
                <a:latin typeface="Aptos"/>
                <a:cs typeface="Aptos"/>
              </a:rPr>
              <a:t>Pizza 1: Small, 0 topping(s) - £3.25</a:t>
            </a:r>
          </a:p>
          <a:p>
            <a:pPr algn="l">
              <a:spcAft>
                <a:spcPts val="400"/>
              </a:spcAft>
            </a:pPr>
            <a:r>
              <a:rPr lang="en-GB" sz="1200" b="0" dirty="0">
                <a:solidFill>
                  <a:srgbClr val="F4F8FE"/>
                </a:solidFill>
                <a:latin typeface="Aptos"/>
                <a:cs typeface="Aptos"/>
              </a:rPr>
              <a:t>Pizza 2: Large, 0 topping(s) - £7.15</a:t>
            </a:r>
          </a:p>
          <a:p>
            <a:pPr algn="l">
              <a:spcAft>
                <a:spcPts val="400"/>
              </a:spcAft>
            </a:pPr>
            <a:r>
              <a:rPr lang="en-GB" sz="1200" b="0" dirty="0">
                <a:solidFill>
                  <a:srgbClr val="F4F8FE"/>
                </a:solidFill>
                <a:latin typeface="Aptos"/>
                <a:cs typeface="Aptos"/>
              </a:rPr>
              <a:t>Pizza 3: Large, 4 topping(s) - £9.65</a:t>
            </a:r>
          </a:p>
          <a:p>
            <a:pPr algn="l">
              <a:spcAft>
                <a:spcPts val="400"/>
              </a:spcAft>
            </a:pPr>
            <a:r>
              <a:rPr lang="en-GB" sz="1200" b="0" dirty="0">
                <a:solidFill>
                  <a:srgbClr val="F4F8FE"/>
                </a:solidFill>
                <a:latin typeface="Aptos"/>
                <a:cs typeface="Aptos"/>
              </a:rPr>
              <a:t>Subtotal: £20.05</a:t>
            </a:r>
          </a:p>
          <a:p>
            <a:pPr algn="l">
              <a:spcAft>
                <a:spcPts val="400"/>
              </a:spcAft>
            </a:pPr>
            <a:r>
              <a:rPr lang="en-GB" sz="1200" b="0" dirty="0">
                <a:solidFill>
                  <a:srgbClr val="F4F8FE"/>
                </a:solidFill>
                <a:latin typeface="Aptos"/>
                <a:cs typeface="Aptos"/>
              </a:rPr>
              <a:t>Discount: -£2.01</a:t>
            </a:r>
          </a:p>
          <a:p>
            <a:pPr algn="l">
              <a:spcAft>
                <a:spcPts val="400"/>
              </a:spcAft>
            </a:pPr>
            <a:r>
              <a:rPr lang="en-GB" sz="1200" b="0" dirty="0">
                <a:solidFill>
                  <a:srgbClr val="F4F8FE"/>
                </a:solidFill>
                <a:latin typeface="Aptos"/>
                <a:cs typeface="Aptos"/>
              </a:rPr>
              <a:t>Delivery: £0.00</a:t>
            </a:r>
          </a:p>
          <a:p>
            <a:pPr algn="l">
              <a:spcAft>
                <a:spcPts val="400"/>
              </a:spcAft>
            </a:pPr>
            <a:r>
              <a:rPr lang="en-GB" sz="1200" b="1" dirty="0">
                <a:solidFill>
                  <a:srgbClr val="3DCCC0"/>
                </a:solidFill>
                <a:latin typeface="Aptos"/>
                <a:cs typeface="Aptos"/>
              </a:rPr>
              <a:t>TOTAL: £18.04</a:t>
            </a:r>
          </a:p>
        </p:txBody>
      </p:sp>
      <p:sp>
        <p:nvSpPr>
          <p:cNvPr id="11" name="Shape 11"/>
          <p:cNvSpPr/>
          <p:nvPr/>
        </p:nvSpPr>
        <p:spPr>
          <a:xfrm>
            <a:off x="5239512" y="1719072"/>
            <a:ext cx="3017520" cy="4096512"/>
          </a:xfrm>
          <a:prstGeom prst="roundRect">
            <a:avLst>
              <a:gd name="adj" fmla="val 12000"/>
            </a:avLst>
          </a:prstGeom>
          <a:solidFill>
            <a:srgbClr val="172336"/>
          </a:solidFill>
          <a:ln>
            <a:noFill/>
          </a:ln>
        </p:spPr>
        <p:txBody>
          <a:bodyPr rtlCol="0" anchor="ctr"/>
          <a:lstStyle/>
          <a:p>
            <a:pPr algn="ctr"/>
            <a:endParaRPr/>
          </a:p>
        </p:txBody>
      </p:sp>
      <p:sp>
        <p:nvSpPr>
          <p:cNvPr id="12" name="TextBox 12"/>
          <p:cNvSpPr txBox="1"/>
          <p:nvPr/>
        </p:nvSpPr>
        <p:spPr>
          <a:xfrm>
            <a:off x="5532120" y="2011680"/>
            <a:ext cx="2560320" cy="685800"/>
          </a:xfrm>
          <a:prstGeom prst="rect">
            <a:avLst/>
          </a:prstGeom>
          <a:noFill/>
        </p:spPr>
        <p:txBody>
          <a:bodyPr wrap="square" lIns="9144" tIns="0" rIns="9144" bIns="0" anchor="t">
            <a:noAutofit/>
          </a:bodyPr>
          <a:lstStyle/>
          <a:p>
            <a:pPr algn="l">
              <a:spcAft>
                <a:spcPts val="0"/>
              </a:spcAft>
            </a:pPr>
            <a:r>
              <a:rPr lang="en-GB" sz="3200" b="1" dirty="0">
                <a:solidFill>
                  <a:srgbClr val="3DCCC0"/>
                </a:solidFill>
                <a:latin typeface="Aptos"/>
                <a:cs typeface="Aptos"/>
              </a:rPr>
              <a:t>£18.04</a:t>
            </a:r>
          </a:p>
        </p:txBody>
      </p:sp>
      <p:sp>
        <p:nvSpPr>
          <p:cNvPr id="13" name="TextBox 13"/>
          <p:cNvSpPr txBox="1"/>
          <p:nvPr/>
        </p:nvSpPr>
        <p:spPr>
          <a:xfrm>
            <a:off x="5532120" y="2788920"/>
            <a:ext cx="2514600" cy="1280160"/>
          </a:xfrm>
          <a:prstGeom prst="rect">
            <a:avLst/>
          </a:prstGeom>
          <a:noFill/>
        </p:spPr>
        <p:txBody>
          <a:bodyPr wrap="square" lIns="9144" tIns="0" rIns="9144" bIns="0" anchor="t">
            <a:noAutofit/>
          </a:bodyPr>
          <a:lstStyle/>
          <a:p>
            <a:pPr algn="l">
              <a:spcAft>
                <a:spcPts val="0"/>
              </a:spcAft>
            </a:pPr>
            <a:r>
              <a:rPr lang="en-GB" sz="1200" b="0" dirty="0">
                <a:solidFill>
                  <a:srgbClr val="F4F8FE"/>
                </a:solidFill>
                <a:latin typeface="Aptos"/>
                <a:cs typeface="Aptos"/>
              </a:rPr>
              <a:t>total, because the £2.01 discount is rounded before the total is worked out</a:t>
            </a:r>
          </a:p>
        </p:txBody>
      </p:sp>
      <p:sp>
        <p:nvSpPr>
          <p:cNvPr id="14" name="Shape 14"/>
          <p:cNvSpPr/>
          <p:nvPr/>
        </p:nvSpPr>
        <p:spPr>
          <a:xfrm>
            <a:off x="5532120" y="4206240"/>
            <a:ext cx="2468880" cy="10973"/>
          </a:xfrm>
          <a:prstGeom prst="rect">
            <a:avLst/>
          </a:prstGeom>
          <a:solidFill>
            <a:srgbClr val="314458"/>
          </a:solidFill>
          <a:ln>
            <a:noFill/>
          </a:ln>
        </p:spPr>
        <p:txBody>
          <a:bodyPr rtlCol="0" anchor="ctr"/>
          <a:lstStyle/>
          <a:p>
            <a:pPr algn="ctr"/>
            <a:endParaRPr/>
          </a:p>
        </p:txBody>
      </p:sp>
      <p:sp>
        <p:nvSpPr>
          <p:cNvPr id="15" name="TextBox 15"/>
          <p:cNvSpPr txBox="1"/>
          <p:nvPr/>
        </p:nvSpPr>
        <p:spPr>
          <a:xfrm>
            <a:off x="5532120" y="4343400"/>
            <a:ext cx="2514600" cy="91440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Before this fix, the same order came out 1p wrong on the bill.</a:t>
            </a:r>
          </a:p>
        </p:txBody>
      </p:sp>
      <p:sp>
        <p:nvSpPr>
          <p:cNvPr id="16" name="Shape 16"/>
          <p:cNvSpPr/>
          <p:nvPr/>
        </p:nvSpPr>
        <p:spPr>
          <a:xfrm>
            <a:off x="8458200" y="1719072"/>
            <a:ext cx="3090672" cy="4096512"/>
          </a:xfrm>
          <a:prstGeom prst="roundRect">
            <a:avLst>
              <a:gd name="adj" fmla="val 12000"/>
            </a:avLst>
          </a:prstGeom>
          <a:solidFill>
            <a:srgbClr val="172336"/>
          </a:solidFill>
          <a:ln>
            <a:noFill/>
          </a:ln>
        </p:spPr>
        <p:txBody>
          <a:bodyPr rtlCol="0" anchor="ctr"/>
          <a:lstStyle/>
          <a:p>
            <a:pPr algn="ctr"/>
            <a:endParaRPr/>
          </a:p>
        </p:txBody>
      </p:sp>
      <p:sp>
        <p:nvSpPr>
          <p:cNvPr id="17" name="TextBox 17"/>
          <p:cNvSpPr txBox="1"/>
          <p:nvPr/>
        </p:nvSpPr>
        <p:spPr>
          <a:xfrm>
            <a:off x="8759952" y="2011680"/>
            <a:ext cx="2560320" cy="685800"/>
          </a:xfrm>
          <a:prstGeom prst="rect">
            <a:avLst/>
          </a:prstGeom>
          <a:noFill/>
        </p:spPr>
        <p:txBody>
          <a:bodyPr wrap="square" lIns="9144" tIns="0" rIns="9144" bIns="0" anchor="t">
            <a:noAutofit/>
          </a:bodyPr>
          <a:lstStyle/>
          <a:p>
            <a:pPr algn="l">
              <a:spcAft>
                <a:spcPts val="0"/>
              </a:spcAft>
            </a:pPr>
            <a:r>
              <a:rPr lang="en-GB" sz="3200" b="1" dirty="0">
                <a:solidFill>
                  <a:srgbClr val="3DCCC0"/>
                </a:solidFill>
                <a:latin typeface="Aptos"/>
                <a:cs typeface="Aptos"/>
              </a:rPr>
              <a:t>18</a:t>
            </a:r>
          </a:p>
        </p:txBody>
      </p:sp>
      <p:sp>
        <p:nvSpPr>
          <p:cNvPr id="18" name="TextBox 18"/>
          <p:cNvSpPr txBox="1"/>
          <p:nvPr/>
        </p:nvSpPr>
        <p:spPr>
          <a:xfrm>
            <a:off x="8759952" y="2697480"/>
            <a:ext cx="2560320" cy="457200"/>
          </a:xfrm>
          <a:prstGeom prst="rect">
            <a:avLst/>
          </a:prstGeom>
          <a:noFill/>
        </p:spPr>
        <p:txBody>
          <a:bodyPr wrap="square" lIns="9144" tIns="0" rIns="9144" bIns="0" anchor="t">
            <a:noAutofit/>
          </a:bodyPr>
          <a:lstStyle/>
          <a:p>
            <a:pPr algn="l">
              <a:spcAft>
                <a:spcPts val="0"/>
              </a:spcAft>
            </a:pPr>
            <a:r>
              <a:rPr lang="en-GB" sz="1200" b="0" dirty="0">
                <a:solidFill>
                  <a:srgbClr val="F4F8FE"/>
                </a:solidFill>
                <a:latin typeface="Aptos"/>
                <a:cs typeface="Aptos"/>
              </a:rPr>
              <a:t>tests run by Nah against the design</a:t>
            </a:r>
          </a:p>
        </p:txBody>
      </p:sp>
      <p:sp>
        <p:nvSpPr>
          <p:cNvPr id="19" name="Shape 19"/>
          <p:cNvSpPr/>
          <p:nvPr/>
        </p:nvSpPr>
        <p:spPr>
          <a:xfrm>
            <a:off x="8759952" y="3392424"/>
            <a:ext cx="2468880" cy="10973"/>
          </a:xfrm>
          <a:prstGeom prst="rect">
            <a:avLst/>
          </a:prstGeom>
          <a:solidFill>
            <a:srgbClr val="314458"/>
          </a:solidFill>
          <a:ln>
            <a:noFill/>
          </a:ln>
        </p:spPr>
        <p:txBody>
          <a:bodyPr rtlCol="0" anchor="ctr"/>
          <a:lstStyle/>
          <a:p>
            <a:pPr algn="ctr"/>
            <a:endParaRPr/>
          </a:p>
        </p:txBody>
      </p:sp>
      <p:sp>
        <p:nvSpPr>
          <p:cNvPr id="20" name="TextBox 20"/>
          <p:cNvSpPr txBox="1"/>
          <p:nvPr/>
        </p:nvSpPr>
        <p:spPr>
          <a:xfrm>
            <a:off x="8759952" y="3520440"/>
            <a:ext cx="548640" cy="320040"/>
          </a:xfrm>
          <a:prstGeom prst="rect">
            <a:avLst/>
          </a:prstGeom>
          <a:noFill/>
        </p:spPr>
        <p:txBody>
          <a:bodyPr wrap="square" lIns="9144" tIns="0" rIns="9144" bIns="0" anchor="t">
            <a:noAutofit/>
          </a:bodyPr>
          <a:lstStyle/>
          <a:p>
            <a:pPr algn="l">
              <a:spcAft>
                <a:spcPts val="0"/>
              </a:spcAft>
            </a:pPr>
            <a:r>
              <a:rPr lang="en-GB" sz="1400" b="1" dirty="0">
                <a:solidFill>
                  <a:srgbClr val="3DCCC0"/>
                </a:solidFill>
                <a:latin typeface="Aptos"/>
                <a:cs typeface="Aptos"/>
              </a:rPr>
              <a:t>v1</a:t>
            </a:r>
          </a:p>
        </p:txBody>
      </p:sp>
      <p:sp>
        <p:nvSpPr>
          <p:cNvPr id="21" name="TextBox 21"/>
          <p:cNvSpPr txBox="1"/>
          <p:nvPr/>
        </p:nvSpPr>
        <p:spPr>
          <a:xfrm>
            <a:off x="9326880" y="3538728"/>
            <a:ext cx="2011680" cy="320040"/>
          </a:xfrm>
          <a:prstGeom prst="rect">
            <a:avLst/>
          </a:prstGeom>
          <a:noFill/>
        </p:spPr>
        <p:txBody>
          <a:bodyPr wrap="square" lIns="9144" tIns="0" rIns="9144" bIns="0" anchor="t">
            <a:noAutofit/>
          </a:bodyPr>
          <a:lstStyle/>
          <a:p>
            <a:pPr algn="l">
              <a:spcAft>
                <a:spcPts val="0"/>
              </a:spcAft>
            </a:pPr>
            <a:r>
              <a:rPr lang="en-GB" sz="1200" b="0" dirty="0">
                <a:solidFill>
                  <a:srgbClr val="F4F8FE"/>
                </a:solidFill>
                <a:latin typeface="Aptos"/>
                <a:cs typeface="Aptos"/>
              </a:rPr>
              <a:t>First full version</a:t>
            </a:r>
          </a:p>
        </p:txBody>
      </p:sp>
      <p:sp>
        <p:nvSpPr>
          <p:cNvPr id="22" name="Shape 22"/>
          <p:cNvSpPr/>
          <p:nvPr/>
        </p:nvSpPr>
        <p:spPr>
          <a:xfrm>
            <a:off x="8759952" y="3959352"/>
            <a:ext cx="2468880" cy="10973"/>
          </a:xfrm>
          <a:prstGeom prst="rect">
            <a:avLst/>
          </a:prstGeom>
          <a:solidFill>
            <a:srgbClr val="314458"/>
          </a:solidFill>
          <a:ln>
            <a:noFill/>
          </a:ln>
        </p:spPr>
        <p:txBody>
          <a:bodyPr rtlCol="0" anchor="ctr"/>
          <a:lstStyle/>
          <a:p>
            <a:pPr algn="ctr"/>
            <a:endParaRPr/>
          </a:p>
        </p:txBody>
      </p:sp>
      <p:sp>
        <p:nvSpPr>
          <p:cNvPr id="23" name="TextBox 23"/>
          <p:cNvSpPr txBox="1"/>
          <p:nvPr/>
        </p:nvSpPr>
        <p:spPr>
          <a:xfrm>
            <a:off x="8759952" y="4087368"/>
            <a:ext cx="548640" cy="320040"/>
          </a:xfrm>
          <a:prstGeom prst="rect">
            <a:avLst/>
          </a:prstGeom>
          <a:noFill/>
        </p:spPr>
        <p:txBody>
          <a:bodyPr wrap="square" lIns="9144" tIns="0" rIns="9144" bIns="0" anchor="t">
            <a:noAutofit/>
          </a:bodyPr>
          <a:lstStyle/>
          <a:p>
            <a:pPr algn="l">
              <a:spcAft>
                <a:spcPts val="0"/>
              </a:spcAft>
            </a:pPr>
            <a:r>
              <a:rPr lang="en-GB" sz="1400" b="1" dirty="0">
                <a:solidFill>
                  <a:srgbClr val="3DCCC0"/>
                </a:solidFill>
                <a:latin typeface="Aptos"/>
                <a:cs typeface="Aptos"/>
              </a:rPr>
              <a:t>v2</a:t>
            </a:r>
          </a:p>
        </p:txBody>
      </p:sp>
      <p:sp>
        <p:nvSpPr>
          <p:cNvPr id="24" name="TextBox 24"/>
          <p:cNvSpPr txBox="1"/>
          <p:nvPr/>
        </p:nvSpPr>
        <p:spPr>
          <a:xfrm>
            <a:off x="9326880" y="4105656"/>
            <a:ext cx="2011680" cy="320040"/>
          </a:xfrm>
          <a:prstGeom prst="rect">
            <a:avLst/>
          </a:prstGeom>
          <a:noFill/>
        </p:spPr>
        <p:txBody>
          <a:bodyPr wrap="square" lIns="9144" tIns="0" rIns="9144" bIns="0" anchor="t">
            <a:noAutofit/>
          </a:bodyPr>
          <a:lstStyle/>
          <a:p>
            <a:pPr algn="l">
              <a:spcAft>
                <a:spcPts val="0"/>
              </a:spcAft>
            </a:pPr>
            <a:r>
              <a:rPr lang="en-GB" sz="1200" b="0" dirty="0">
                <a:solidFill>
                  <a:srgbClr val="F4F8FE"/>
                </a:solidFill>
                <a:latin typeface="Aptos"/>
                <a:cs typeface="Aptos"/>
              </a:rPr>
              <a:t>After testing</a:t>
            </a:r>
          </a:p>
        </p:txBody>
      </p:sp>
      <p:sp>
        <p:nvSpPr>
          <p:cNvPr id="25" name="Shape 25"/>
          <p:cNvSpPr/>
          <p:nvPr/>
        </p:nvSpPr>
        <p:spPr>
          <a:xfrm>
            <a:off x="8759952" y="4526280"/>
            <a:ext cx="2468880" cy="10973"/>
          </a:xfrm>
          <a:prstGeom prst="rect">
            <a:avLst/>
          </a:prstGeom>
          <a:solidFill>
            <a:srgbClr val="314458"/>
          </a:solidFill>
          <a:ln>
            <a:noFill/>
          </a:ln>
        </p:spPr>
        <p:txBody>
          <a:bodyPr rtlCol="0" anchor="ctr"/>
          <a:lstStyle/>
          <a:p>
            <a:pPr algn="ctr"/>
            <a:endParaRPr/>
          </a:p>
        </p:txBody>
      </p:sp>
      <p:sp>
        <p:nvSpPr>
          <p:cNvPr id="26" name="TextBox 26"/>
          <p:cNvSpPr txBox="1"/>
          <p:nvPr/>
        </p:nvSpPr>
        <p:spPr>
          <a:xfrm>
            <a:off x="8759952" y="4654296"/>
            <a:ext cx="548640" cy="320040"/>
          </a:xfrm>
          <a:prstGeom prst="rect">
            <a:avLst/>
          </a:prstGeom>
          <a:noFill/>
        </p:spPr>
        <p:txBody>
          <a:bodyPr wrap="square" lIns="9144" tIns="0" rIns="9144" bIns="0" anchor="t">
            <a:noAutofit/>
          </a:bodyPr>
          <a:lstStyle/>
          <a:p>
            <a:pPr algn="l">
              <a:spcAft>
                <a:spcPts val="0"/>
              </a:spcAft>
            </a:pPr>
            <a:r>
              <a:rPr lang="en-GB" sz="1400" b="1" dirty="0">
                <a:solidFill>
                  <a:srgbClr val="3DCCC0"/>
                </a:solidFill>
                <a:latin typeface="Aptos"/>
                <a:cs typeface="Aptos"/>
              </a:rPr>
              <a:t>v3</a:t>
            </a:r>
          </a:p>
        </p:txBody>
      </p:sp>
      <p:sp>
        <p:nvSpPr>
          <p:cNvPr id="27" name="TextBox 27"/>
          <p:cNvSpPr txBox="1"/>
          <p:nvPr/>
        </p:nvSpPr>
        <p:spPr>
          <a:xfrm>
            <a:off x="9326880" y="4672584"/>
            <a:ext cx="2011680" cy="320040"/>
          </a:xfrm>
          <a:prstGeom prst="rect">
            <a:avLst/>
          </a:prstGeom>
          <a:noFill/>
        </p:spPr>
        <p:txBody>
          <a:bodyPr wrap="square" lIns="9144" tIns="0" rIns="9144" bIns="0" anchor="t">
            <a:noAutofit/>
          </a:bodyPr>
          <a:lstStyle/>
          <a:p>
            <a:pPr algn="l">
              <a:spcAft>
                <a:spcPts val="0"/>
              </a:spcAft>
            </a:pPr>
            <a:r>
              <a:rPr lang="en-GB" sz="1200" b="0" dirty="0">
                <a:solidFill>
                  <a:srgbClr val="F4F8FE"/>
                </a:solidFill>
                <a:latin typeface="Aptos"/>
                <a:cs typeface="Aptos"/>
              </a:rPr>
              <a:t>Matching the design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MP3   /   NETWORKING   /   SORENA</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The studio's network</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NORTHWEST ARCHITECTURE STUDIO   •   OFFICE NETWORK</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13</a:t>
            </a:r>
          </a:p>
        </p:txBody>
      </p:sp>
      <p:sp>
        <p:nvSpPr>
          <p:cNvPr id="9" name="Shape 9"/>
          <p:cNvSpPr/>
          <p:nvPr/>
        </p:nvSpPr>
        <p:spPr>
          <a:xfrm>
            <a:off x="557784" y="1719072"/>
            <a:ext cx="5669280" cy="4096512"/>
          </a:xfrm>
          <a:prstGeom prst="roundRect">
            <a:avLst>
              <a:gd name="adj" fmla="val 4000"/>
            </a:avLst>
          </a:prstGeom>
          <a:solidFill>
            <a:srgbClr val="FFFFFF"/>
          </a:solidFill>
          <a:ln>
            <a:noFill/>
          </a:ln>
        </p:spPr>
        <p:txBody>
          <a:bodyPr rtlCol="0" anchor="ctr"/>
          <a:lstStyle/>
          <a:p>
            <a:pPr algn="ctr"/>
            <a:endParaRPr/>
          </a:p>
        </p:txBody>
      </p:sp>
      <p:pic>
        <p:nvPicPr>
          <p:cNvPr id="10" name="Picture 10"/>
          <p:cNvPicPr>
            <a:picLocks noChangeAspect="1"/>
          </p:cNvPicPr>
          <p:nvPr/>
        </p:nvPicPr>
        <p:blipFill>
          <a:blip r:embed="rIdImg1"/>
          <a:stretch>
            <a:fillRect/>
          </a:stretch>
        </p:blipFill>
        <p:spPr>
          <a:xfrm>
            <a:off x="1032611" y="1847088"/>
            <a:ext cx="4719626" cy="3840480"/>
          </a:xfrm>
          <a:prstGeom prst="rect">
            <a:avLst/>
          </a:prstGeom>
        </p:spPr>
      </p:pic>
      <p:sp>
        <p:nvSpPr>
          <p:cNvPr id="11" name="Shape 11"/>
          <p:cNvSpPr/>
          <p:nvPr/>
        </p:nvSpPr>
        <p:spPr>
          <a:xfrm>
            <a:off x="6428232" y="1719072"/>
            <a:ext cx="5120640" cy="4096512"/>
          </a:xfrm>
          <a:prstGeom prst="roundRect">
            <a:avLst>
              <a:gd name="adj" fmla="val 12000"/>
            </a:avLst>
          </a:prstGeom>
          <a:solidFill>
            <a:srgbClr val="172336"/>
          </a:solidFill>
          <a:ln>
            <a:noFill/>
          </a:ln>
        </p:spPr>
        <p:txBody>
          <a:bodyPr rtlCol="0" anchor="ctr"/>
          <a:lstStyle/>
          <a:p>
            <a:pPr algn="ctr"/>
            <a:endParaRPr/>
          </a:p>
        </p:txBody>
      </p:sp>
      <p:sp>
        <p:nvSpPr>
          <p:cNvPr id="12" name="TextBox 12"/>
          <p:cNvSpPr txBox="1"/>
          <p:nvPr/>
        </p:nvSpPr>
        <p:spPr>
          <a:xfrm>
            <a:off x="6748272" y="2011680"/>
            <a:ext cx="457200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THE JOB</a:t>
            </a:r>
          </a:p>
        </p:txBody>
      </p:sp>
      <p:sp>
        <p:nvSpPr>
          <p:cNvPr id="13" name="TextBox 13"/>
          <p:cNvSpPr txBox="1"/>
          <p:nvPr/>
        </p:nvSpPr>
        <p:spPr>
          <a:xfrm>
            <a:off x="6748272" y="2377440"/>
            <a:ext cx="4526280" cy="822960"/>
          </a:xfrm>
          <a:prstGeom prst="rect">
            <a:avLst/>
          </a:prstGeom>
          <a:noFill/>
        </p:spPr>
        <p:txBody>
          <a:bodyPr wrap="square" lIns="9144" tIns="0" rIns="9144" bIns="0" anchor="t">
            <a:noAutofit/>
          </a:bodyPr>
          <a:lstStyle/>
          <a:p>
            <a:pPr algn="l">
              <a:spcAft>
                <a:spcPts val="0"/>
              </a:spcAft>
            </a:pPr>
            <a:r>
              <a:rPr lang="en-GB" sz="1300" b="0" dirty="0">
                <a:solidFill>
                  <a:srgbClr val="F4F8FE"/>
                </a:solidFill>
                <a:latin typeface="Aptos"/>
                <a:cs typeface="Aptos"/>
              </a:rPr>
              <a:t>Connect 4 staff PCs, an office server and a DNS server, and reach an outside cloud service.</a:t>
            </a:r>
          </a:p>
        </p:txBody>
      </p:sp>
      <p:sp>
        <p:nvSpPr>
          <p:cNvPr id="14" name="Shape 14"/>
          <p:cNvSpPr/>
          <p:nvPr/>
        </p:nvSpPr>
        <p:spPr>
          <a:xfrm>
            <a:off x="6748272" y="3300984"/>
            <a:ext cx="4480560" cy="10973"/>
          </a:xfrm>
          <a:prstGeom prst="rect">
            <a:avLst/>
          </a:prstGeom>
          <a:solidFill>
            <a:srgbClr val="314458"/>
          </a:solidFill>
          <a:ln>
            <a:noFill/>
          </a:ln>
        </p:spPr>
        <p:txBody>
          <a:bodyPr rtlCol="0" anchor="ctr"/>
          <a:lstStyle/>
          <a:p>
            <a:pPr algn="ctr"/>
            <a:endParaRPr/>
          </a:p>
        </p:txBody>
      </p:sp>
      <p:sp>
        <p:nvSpPr>
          <p:cNvPr id="15" name="TextBox 15"/>
          <p:cNvSpPr txBox="1"/>
          <p:nvPr/>
        </p:nvSpPr>
        <p:spPr>
          <a:xfrm>
            <a:off x="6748272" y="3429000"/>
            <a:ext cx="182880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Office LAN</a:t>
            </a:r>
          </a:p>
        </p:txBody>
      </p:sp>
      <p:sp>
        <p:nvSpPr>
          <p:cNvPr id="16" name="TextBox 16"/>
          <p:cNvSpPr txBox="1"/>
          <p:nvPr/>
        </p:nvSpPr>
        <p:spPr>
          <a:xfrm>
            <a:off x="8595360" y="3429000"/>
            <a:ext cx="2743200" cy="45720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192.168.10.0/24</a:t>
            </a:r>
          </a:p>
        </p:txBody>
      </p:sp>
      <p:sp>
        <p:nvSpPr>
          <p:cNvPr id="17" name="Shape 17"/>
          <p:cNvSpPr/>
          <p:nvPr/>
        </p:nvSpPr>
        <p:spPr>
          <a:xfrm>
            <a:off x="6748272" y="3849624"/>
            <a:ext cx="4480560" cy="10973"/>
          </a:xfrm>
          <a:prstGeom prst="rect">
            <a:avLst/>
          </a:prstGeom>
          <a:solidFill>
            <a:srgbClr val="314458"/>
          </a:solidFill>
          <a:ln>
            <a:noFill/>
          </a:ln>
        </p:spPr>
        <p:txBody>
          <a:bodyPr rtlCol="0" anchor="ctr"/>
          <a:lstStyle/>
          <a:p>
            <a:pPr algn="ctr"/>
            <a:endParaRPr/>
          </a:p>
        </p:txBody>
      </p:sp>
      <p:sp>
        <p:nvSpPr>
          <p:cNvPr id="18" name="TextBox 18"/>
          <p:cNvSpPr txBox="1"/>
          <p:nvPr/>
        </p:nvSpPr>
        <p:spPr>
          <a:xfrm>
            <a:off x="6748272" y="3977640"/>
            <a:ext cx="182880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Office Router</a:t>
            </a:r>
          </a:p>
        </p:txBody>
      </p:sp>
      <p:sp>
        <p:nvSpPr>
          <p:cNvPr id="19" name="TextBox 19"/>
          <p:cNvSpPr txBox="1"/>
          <p:nvPr/>
        </p:nvSpPr>
        <p:spPr>
          <a:xfrm>
            <a:off x="8595360" y="3977640"/>
            <a:ext cx="2743200" cy="45720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192.168.10.1 and 203.0.113.1</a:t>
            </a:r>
          </a:p>
        </p:txBody>
      </p:sp>
      <p:sp>
        <p:nvSpPr>
          <p:cNvPr id="20" name="Shape 20"/>
          <p:cNvSpPr/>
          <p:nvPr/>
        </p:nvSpPr>
        <p:spPr>
          <a:xfrm>
            <a:off x="6748272" y="4398264"/>
            <a:ext cx="4480560" cy="10973"/>
          </a:xfrm>
          <a:prstGeom prst="rect">
            <a:avLst/>
          </a:prstGeom>
          <a:solidFill>
            <a:srgbClr val="314458"/>
          </a:solidFill>
          <a:ln>
            <a:noFill/>
          </a:ln>
        </p:spPr>
        <p:txBody>
          <a:bodyPr rtlCol="0" anchor="ctr"/>
          <a:lstStyle/>
          <a:p>
            <a:pPr algn="ctr"/>
            <a:endParaRPr/>
          </a:p>
        </p:txBody>
      </p:sp>
      <p:sp>
        <p:nvSpPr>
          <p:cNvPr id="21" name="TextBox 21"/>
          <p:cNvSpPr txBox="1"/>
          <p:nvPr/>
        </p:nvSpPr>
        <p:spPr>
          <a:xfrm>
            <a:off x="6748272" y="4526280"/>
            <a:ext cx="182880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Outside network</a:t>
            </a:r>
          </a:p>
        </p:txBody>
      </p:sp>
      <p:sp>
        <p:nvSpPr>
          <p:cNvPr id="22" name="TextBox 22"/>
          <p:cNvSpPr txBox="1"/>
          <p:nvPr/>
        </p:nvSpPr>
        <p:spPr>
          <a:xfrm>
            <a:off x="8595360" y="4526280"/>
            <a:ext cx="2743200" cy="45720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203.0.113.0/24</a:t>
            </a:r>
          </a:p>
        </p:txBody>
      </p:sp>
      <p:sp>
        <p:nvSpPr>
          <p:cNvPr id="23" name="Shape 23"/>
          <p:cNvSpPr/>
          <p:nvPr/>
        </p:nvSpPr>
        <p:spPr>
          <a:xfrm>
            <a:off x="6748272" y="4946904"/>
            <a:ext cx="4480560" cy="10973"/>
          </a:xfrm>
          <a:prstGeom prst="rect">
            <a:avLst/>
          </a:prstGeom>
          <a:solidFill>
            <a:srgbClr val="314458"/>
          </a:solidFill>
          <a:ln>
            <a:noFill/>
          </a:ln>
        </p:spPr>
        <p:txBody>
          <a:bodyPr rtlCol="0" anchor="ctr"/>
          <a:lstStyle/>
          <a:p>
            <a:pPr algn="ctr"/>
            <a:endParaRPr/>
          </a:p>
        </p:txBody>
      </p:sp>
      <p:sp>
        <p:nvSpPr>
          <p:cNvPr id="24" name="TextBox 24"/>
          <p:cNvSpPr txBox="1"/>
          <p:nvPr/>
        </p:nvSpPr>
        <p:spPr>
          <a:xfrm>
            <a:off x="6748272" y="5074920"/>
            <a:ext cx="1828800" cy="320040"/>
          </a:xfrm>
          <a:prstGeom prst="rect">
            <a:avLst/>
          </a:prstGeom>
          <a:noFill/>
        </p:spPr>
        <p:txBody>
          <a:bodyPr wrap="square" lIns="9144" tIns="0" rIns="9144" bIns="0" anchor="t">
            <a:noAutofit/>
          </a:bodyPr>
          <a:lstStyle/>
          <a:p>
            <a:pPr algn="l">
              <a:spcAft>
                <a:spcPts val="0"/>
              </a:spcAft>
            </a:pPr>
            <a:r>
              <a:rPr lang="en-GB" sz="1300" b="1" dirty="0">
                <a:solidFill>
                  <a:srgbClr val="F4F8FE"/>
                </a:solidFill>
                <a:latin typeface="Aptos"/>
                <a:cs typeface="Aptos"/>
              </a:rPr>
              <a:t>DNS Server</a:t>
            </a:r>
          </a:p>
        </p:txBody>
      </p:sp>
      <p:sp>
        <p:nvSpPr>
          <p:cNvPr id="25" name="TextBox 25"/>
          <p:cNvSpPr txBox="1"/>
          <p:nvPr/>
        </p:nvSpPr>
        <p:spPr>
          <a:xfrm>
            <a:off x="8595360" y="5074920"/>
            <a:ext cx="2743200" cy="45720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turns names into IP addresses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MP3   /   NETWORKING   /   SORENA</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Proof: all 8 tests passed</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NORTHWEST ARCHITECTURE STUDIO   •   OFFICE NETWORK</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14</a:t>
            </a:r>
          </a:p>
        </p:txBody>
      </p:sp>
      <p:sp>
        <p:nvSpPr>
          <p:cNvPr id="9" name="Shape 9"/>
          <p:cNvSpPr/>
          <p:nvPr/>
        </p:nvSpPr>
        <p:spPr>
          <a:xfrm>
            <a:off x="557784" y="1719072"/>
            <a:ext cx="6035040" cy="4096512"/>
          </a:xfrm>
          <a:prstGeom prst="roundRect">
            <a:avLst>
              <a:gd name="adj" fmla="val 12000"/>
            </a:avLst>
          </a:prstGeom>
          <a:solidFill>
            <a:srgbClr val="172336"/>
          </a:solidFill>
          <a:ln>
            <a:noFill/>
          </a:ln>
        </p:spPr>
        <p:txBody>
          <a:bodyPr rtlCol="0" anchor="ctr"/>
          <a:lstStyle/>
          <a:p>
            <a:pPr algn="ctr"/>
            <a:endParaRPr/>
          </a:p>
        </p:txBody>
      </p:sp>
      <p:sp>
        <p:nvSpPr>
          <p:cNvPr id="10" name="TextBox 10"/>
          <p:cNvSpPr txBox="1"/>
          <p:nvPr/>
        </p:nvSpPr>
        <p:spPr>
          <a:xfrm>
            <a:off x="868680" y="2011680"/>
            <a:ext cx="548640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TESTS FROM THE CAD PC</a:t>
            </a:r>
          </a:p>
        </p:txBody>
      </p:sp>
      <p:sp>
        <p:nvSpPr>
          <p:cNvPr id="11" name="TextBox 11"/>
          <p:cNvSpPr txBox="1"/>
          <p:nvPr/>
        </p:nvSpPr>
        <p:spPr>
          <a:xfrm>
            <a:off x="868680" y="2395728"/>
            <a:ext cx="457200" cy="32004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1</a:t>
            </a:r>
          </a:p>
        </p:txBody>
      </p:sp>
      <p:sp>
        <p:nvSpPr>
          <p:cNvPr id="12" name="TextBox 12"/>
          <p:cNvSpPr txBox="1"/>
          <p:nvPr/>
        </p:nvSpPr>
        <p:spPr>
          <a:xfrm>
            <a:off x="1371600" y="2395728"/>
            <a:ext cx="3931920" cy="320040"/>
          </a:xfrm>
          <a:prstGeom prst="rect">
            <a:avLst/>
          </a:prstGeom>
          <a:noFill/>
        </p:spPr>
        <p:txBody>
          <a:bodyPr wrap="square" lIns="9144" tIns="0" rIns="9144" bIns="0" anchor="t">
            <a:noAutofit/>
          </a:bodyPr>
          <a:lstStyle/>
          <a:p>
            <a:pPr algn="l">
              <a:spcAft>
                <a:spcPts val="0"/>
              </a:spcAft>
            </a:pPr>
            <a:r>
              <a:rPr lang="en-GB" sz="1300" b="0" dirty="0">
                <a:solidFill>
                  <a:srgbClr val="F4F8FE"/>
                </a:solidFill>
                <a:latin typeface="Aptos"/>
                <a:cs typeface="Aptos"/>
              </a:rPr>
              <a:t>Ping another PC</a:t>
            </a:r>
          </a:p>
        </p:txBody>
      </p:sp>
      <p:sp>
        <p:nvSpPr>
          <p:cNvPr id="13" name="TextBox 13"/>
          <p:cNvSpPr txBox="1"/>
          <p:nvPr/>
        </p:nvSpPr>
        <p:spPr>
          <a:xfrm>
            <a:off x="5303520" y="2395728"/>
            <a:ext cx="96012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Pass</a:t>
            </a:r>
          </a:p>
        </p:txBody>
      </p:sp>
      <p:sp>
        <p:nvSpPr>
          <p:cNvPr id="14" name="Shape 14"/>
          <p:cNvSpPr/>
          <p:nvPr/>
        </p:nvSpPr>
        <p:spPr>
          <a:xfrm>
            <a:off x="868680" y="2734056"/>
            <a:ext cx="5394960" cy="10973"/>
          </a:xfrm>
          <a:prstGeom prst="rect">
            <a:avLst/>
          </a:prstGeom>
          <a:solidFill>
            <a:srgbClr val="314458"/>
          </a:solidFill>
          <a:ln>
            <a:noFill/>
          </a:ln>
        </p:spPr>
        <p:txBody>
          <a:bodyPr rtlCol="0" anchor="ctr"/>
          <a:lstStyle/>
          <a:p>
            <a:pPr algn="ctr"/>
            <a:endParaRPr/>
          </a:p>
        </p:txBody>
      </p:sp>
      <p:sp>
        <p:nvSpPr>
          <p:cNvPr id="15" name="TextBox 15"/>
          <p:cNvSpPr txBox="1"/>
          <p:nvPr/>
        </p:nvSpPr>
        <p:spPr>
          <a:xfrm>
            <a:off x="868680" y="2807208"/>
            <a:ext cx="457200" cy="32004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2</a:t>
            </a:r>
          </a:p>
        </p:txBody>
      </p:sp>
      <p:sp>
        <p:nvSpPr>
          <p:cNvPr id="16" name="TextBox 16"/>
          <p:cNvSpPr txBox="1"/>
          <p:nvPr/>
        </p:nvSpPr>
        <p:spPr>
          <a:xfrm>
            <a:off x="1371600" y="2807208"/>
            <a:ext cx="3931920" cy="320040"/>
          </a:xfrm>
          <a:prstGeom prst="rect">
            <a:avLst/>
          </a:prstGeom>
          <a:noFill/>
        </p:spPr>
        <p:txBody>
          <a:bodyPr wrap="square" lIns="9144" tIns="0" rIns="9144" bIns="0" anchor="t">
            <a:noAutofit/>
          </a:bodyPr>
          <a:lstStyle/>
          <a:p>
            <a:pPr algn="l">
              <a:spcAft>
                <a:spcPts val="0"/>
              </a:spcAft>
            </a:pPr>
            <a:r>
              <a:rPr lang="en-GB" sz="1300" b="0" dirty="0">
                <a:solidFill>
                  <a:srgbClr val="F4F8FE"/>
                </a:solidFill>
                <a:latin typeface="Aptos"/>
                <a:cs typeface="Aptos"/>
              </a:rPr>
              <a:t>Ping the Office Server</a:t>
            </a:r>
          </a:p>
        </p:txBody>
      </p:sp>
      <p:sp>
        <p:nvSpPr>
          <p:cNvPr id="17" name="TextBox 17"/>
          <p:cNvSpPr txBox="1"/>
          <p:nvPr/>
        </p:nvSpPr>
        <p:spPr>
          <a:xfrm>
            <a:off x="5303520" y="2807208"/>
            <a:ext cx="96012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Pass</a:t>
            </a:r>
          </a:p>
        </p:txBody>
      </p:sp>
      <p:sp>
        <p:nvSpPr>
          <p:cNvPr id="18" name="Shape 18"/>
          <p:cNvSpPr/>
          <p:nvPr/>
        </p:nvSpPr>
        <p:spPr>
          <a:xfrm>
            <a:off x="868680" y="3145536"/>
            <a:ext cx="5394960" cy="10973"/>
          </a:xfrm>
          <a:prstGeom prst="rect">
            <a:avLst/>
          </a:prstGeom>
          <a:solidFill>
            <a:srgbClr val="314458"/>
          </a:solidFill>
          <a:ln>
            <a:noFill/>
          </a:ln>
        </p:spPr>
        <p:txBody>
          <a:bodyPr rtlCol="0" anchor="ctr"/>
          <a:lstStyle/>
          <a:p>
            <a:pPr algn="ctr"/>
            <a:endParaRPr/>
          </a:p>
        </p:txBody>
      </p:sp>
      <p:sp>
        <p:nvSpPr>
          <p:cNvPr id="19" name="TextBox 19"/>
          <p:cNvSpPr txBox="1"/>
          <p:nvPr/>
        </p:nvSpPr>
        <p:spPr>
          <a:xfrm>
            <a:off x="868680" y="3218688"/>
            <a:ext cx="457200" cy="32004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3</a:t>
            </a:r>
          </a:p>
        </p:txBody>
      </p:sp>
      <p:sp>
        <p:nvSpPr>
          <p:cNvPr id="20" name="TextBox 20"/>
          <p:cNvSpPr txBox="1"/>
          <p:nvPr/>
        </p:nvSpPr>
        <p:spPr>
          <a:xfrm>
            <a:off x="1371600" y="3218688"/>
            <a:ext cx="3931920" cy="320040"/>
          </a:xfrm>
          <a:prstGeom prst="rect">
            <a:avLst/>
          </a:prstGeom>
          <a:noFill/>
        </p:spPr>
        <p:txBody>
          <a:bodyPr wrap="square" lIns="9144" tIns="0" rIns="9144" bIns="0" anchor="t">
            <a:noAutofit/>
          </a:bodyPr>
          <a:lstStyle/>
          <a:p>
            <a:pPr algn="l">
              <a:spcAft>
                <a:spcPts val="0"/>
              </a:spcAft>
            </a:pPr>
            <a:r>
              <a:rPr lang="en-GB" sz="1300" b="0" dirty="0">
                <a:solidFill>
                  <a:srgbClr val="F4F8FE"/>
                </a:solidFill>
                <a:latin typeface="Aptos"/>
                <a:cs typeface="Aptos"/>
              </a:rPr>
              <a:t>Ping the DNS Server</a:t>
            </a:r>
          </a:p>
        </p:txBody>
      </p:sp>
      <p:sp>
        <p:nvSpPr>
          <p:cNvPr id="21" name="TextBox 21"/>
          <p:cNvSpPr txBox="1"/>
          <p:nvPr/>
        </p:nvSpPr>
        <p:spPr>
          <a:xfrm>
            <a:off x="5303520" y="3218688"/>
            <a:ext cx="96012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Pass</a:t>
            </a:r>
          </a:p>
        </p:txBody>
      </p:sp>
      <p:sp>
        <p:nvSpPr>
          <p:cNvPr id="22" name="Shape 22"/>
          <p:cNvSpPr/>
          <p:nvPr/>
        </p:nvSpPr>
        <p:spPr>
          <a:xfrm>
            <a:off x="868680" y="3557016"/>
            <a:ext cx="5394960" cy="10973"/>
          </a:xfrm>
          <a:prstGeom prst="rect">
            <a:avLst/>
          </a:prstGeom>
          <a:solidFill>
            <a:srgbClr val="314458"/>
          </a:solidFill>
          <a:ln>
            <a:noFill/>
          </a:ln>
        </p:spPr>
        <p:txBody>
          <a:bodyPr rtlCol="0" anchor="ctr"/>
          <a:lstStyle/>
          <a:p>
            <a:pPr algn="ctr"/>
            <a:endParaRPr/>
          </a:p>
        </p:txBody>
      </p:sp>
      <p:sp>
        <p:nvSpPr>
          <p:cNvPr id="23" name="TextBox 23"/>
          <p:cNvSpPr txBox="1"/>
          <p:nvPr/>
        </p:nvSpPr>
        <p:spPr>
          <a:xfrm>
            <a:off x="868680" y="3630168"/>
            <a:ext cx="457200" cy="32004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4</a:t>
            </a:r>
          </a:p>
        </p:txBody>
      </p:sp>
      <p:sp>
        <p:nvSpPr>
          <p:cNvPr id="24" name="TextBox 24"/>
          <p:cNvSpPr txBox="1"/>
          <p:nvPr/>
        </p:nvSpPr>
        <p:spPr>
          <a:xfrm>
            <a:off x="1371600" y="3630168"/>
            <a:ext cx="3931920" cy="320040"/>
          </a:xfrm>
          <a:prstGeom prst="rect">
            <a:avLst/>
          </a:prstGeom>
          <a:noFill/>
        </p:spPr>
        <p:txBody>
          <a:bodyPr wrap="square" lIns="9144" tIns="0" rIns="9144" bIns="0" anchor="t">
            <a:noAutofit/>
          </a:bodyPr>
          <a:lstStyle/>
          <a:p>
            <a:pPr algn="l">
              <a:spcAft>
                <a:spcPts val="0"/>
              </a:spcAft>
            </a:pPr>
            <a:r>
              <a:rPr lang="en-GB" sz="1300" b="0" dirty="0">
                <a:solidFill>
                  <a:srgbClr val="F4F8FE"/>
                </a:solidFill>
                <a:latin typeface="Aptos"/>
                <a:cs typeface="Aptos"/>
              </a:rPr>
              <a:t>Intranet page by IP address</a:t>
            </a:r>
          </a:p>
        </p:txBody>
      </p:sp>
      <p:sp>
        <p:nvSpPr>
          <p:cNvPr id="25" name="TextBox 25"/>
          <p:cNvSpPr txBox="1"/>
          <p:nvPr/>
        </p:nvSpPr>
        <p:spPr>
          <a:xfrm>
            <a:off x="5303520" y="3630168"/>
            <a:ext cx="96012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Pass</a:t>
            </a:r>
          </a:p>
        </p:txBody>
      </p:sp>
      <p:sp>
        <p:nvSpPr>
          <p:cNvPr id="26" name="Shape 26"/>
          <p:cNvSpPr/>
          <p:nvPr/>
        </p:nvSpPr>
        <p:spPr>
          <a:xfrm>
            <a:off x="868680" y="3968496"/>
            <a:ext cx="5394960" cy="10973"/>
          </a:xfrm>
          <a:prstGeom prst="rect">
            <a:avLst/>
          </a:prstGeom>
          <a:solidFill>
            <a:srgbClr val="314458"/>
          </a:solidFill>
          <a:ln>
            <a:noFill/>
          </a:ln>
        </p:spPr>
        <p:txBody>
          <a:bodyPr rtlCol="0" anchor="ctr"/>
          <a:lstStyle/>
          <a:p>
            <a:pPr algn="ctr"/>
            <a:endParaRPr/>
          </a:p>
        </p:txBody>
      </p:sp>
      <p:sp>
        <p:nvSpPr>
          <p:cNvPr id="27" name="TextBox 27"/>
          <p:cNvSpPr txBox="1"/>
          <p:nvPr/>
        </p:nvSpPr>
        <p:spPr>
          <a:xfrm>
            <a:off x="868680" y="4041648"/>
            <a:ext cx="457200" cy="32004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5</a:t>
            </a:r>
          </a:p>
        </p:txBody>
      </p:sp>
      <p:sp>
        <p:nvSpPr>
          <p:cNvPr id="28" name="TextBox 28"/>
          <p:cNvSpPr txBox="1"/>
          <p:nvPr/>
        </p:nvSpPr>
        <p:spPr>
          <a:xfrm>
            <a:off x="1371600" y="4041648"/>
            <a:ext cx="3931920" cy="320040"/>
          </a:xfrm>
          <a:prstGeom prst="rect">
            <a:avLst/>
          </a:prstGeom>
          <a:noFill/>
        </p:spPr>
        <p:txBody>
          <a:bodyPr wrap="square" lIns="9144" tIns="0" rIns="9144" bIns="0" anchor="t">
            <a:noAutofit/>
          </a:bodyPr>
          <a:lstStyle/>
          <a:p>
            <a:pPr algn="l">
              <a:spcAft>
                <a:spcPts val="0"/>
              </a:spcAft>
            </a:pPr>
            <a:r>
              <a:rPr lang="en-GB" sz="1300" b="0" dirty="0">
                <a:solidFill>
                  <a:srgbClr val="F4F8FE"/>
                </a:solidFill>
                <a:latin typeface="Aptos"/>
                <a:cs typeface="Aptos"/>
              </a:rPr>
              <a:t>Intranet page by name</a:t>
            </a:r>
          </a:p>
        </p:txBody>
      </p:sp>
      <p:sp>
        <p:nvSpPr>
          <p:cNvPr id="29" name="TextBox 29"/>
          <p:cNvSpPr txBox="1"/>
          <p:nvPr/>
        </p:nvSpPr>
        <p:spPr>
          <a:xfrm>
            <a:off x="5303520" y="4041648"/>
            <a:ext cx="96012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Pass</a:t>
            </a:r>
          </a:p>
        </p:txBody>
      </p:sp>
      <p:sp>
        <p:nvSpPr>
          <p:cNvPr id="30" name="Shape 30"/>
          <p:cNvSpPr/>
          <p:nvPr/>
        </p:nvSpPr>
        <p:spPr>
          <a:xfrm>
            <a:off x="868680" y="4379976"/>
            <a:ext cx="5394960" cy="10973"/>
          </a:xfrm>
          <a:prstGeom prst="rect">
            <a:avLst/>
          </a:prstGeom>
          <a:solidFill>
            <a:srgbClr val="314458"/>
          </a:solidFill>
          <a:ln>
            <a:noFill/>
          </a:ln>
        </p:spPr>
        <p:txBody>
          <a:bodyPr rtlCol="0" anchor="ctr"/>
          <a:lstStyle/>
          <a:p>
            <a:pPr algn="ctr"/>
            <a:endParaRPr/>
          </a:p>
        </p:txBody>
      </p:sp>
      <p:sp>
        <p:nvSpPr>
          <p:cNvPr id="31" name="TextBox 31"/>
          <p:cNvSpPr txBox="1"/>
          <p:nvPr/>
        </p:nvSpPr>
        <p:spPr>
          <a:xfrm>
            <a:off x="868680" y="4453128"/>
            <a:ext cx="457200" cy="32004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6</a:t>
            </a:r>
          </a:p>
        </p:txBody>
      </p:sp>
      <p:sp>
        <p:nvSpPr>
          <p:cNvPr id="32" name="TextBox 32"/>
          <p:cNvSpPr txBox="1"/>
          <p:nvPr/>
        </p:nvSpPr>
        <p:spPr>
          <a:xfrm>
            <a:off x="1371600" y="4453128"/>
            <a:ext cx="3931920" cy="320040"/>
          </a:xfrm>
          <a:prstGeom prst="rect">
            <a:avLst/>
          </a:prstGeom>
          <a:noFill/>
        </p:spPr>
        <p:txBody>
          <a:bodyPr wrap="square" lIns="9144" tIns="0" rIns="9144" bIns="0" anchor="t">
            <a:noAutofit/>
          </a:bodyPr>
          <a:lstStyle/>
          <a:p>
            <a:pPr algn="l">
              <a:spcAft>
                <a:spcPts val="0"/>
              </a:spcAft>
            </a:pPr>
            <a:r>
              <a:rPr lang="en-GB" sz="1300" b="0" dirty="0">
                <a:solidFill>
                  <a:srgbClr val="F4F8FE"/>
                </a:solidFill>
                <a:latin typeface="Aptos"/>
                <a:cs typeface="Aptos"/>
              </a:rPr>
              <a:t>Ping the cloud server</a:t>
            </a:r>
          </a:p>
        </p:txBody>
      </p:sp>
      <p:sp>
        <p:nvSpPr>
          <p:cNvPr id="33" name="TextBox 33"/>
          <p:cNvSpPr txBox="1"/>
          <p:nvPr/>
        </p:nvSpPr>
        <p:spPr>
          <a:xfrm>
            <a:off x="5303520" y="4453128"/>
            <a:ext cx="96012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Pass</a:t>
            </a:r>
          </a:p>
        </p:txBody>
      </p:sp>
      <p:sp>
        <p:nvSpPr>
          <p:cNvPr id="34" name="Shape 34"/>
          <p:cNvSpPr/>
          <p:nvPr/>
        </p:nvSpPr>
        <p:spPr>
          <a:xfrm>
            <a:off x="868680" y="4791456"/>
            <a:ext cx="5394960" cy="10973"/>
          </a:xfrm>
          <a:prstGeom prst="rect">
            <a:avLst/>
          </a:prstGeom>
          <a:solidFill>
            <a:srgbClr val="314458"/>
          </a:solidFill>
          <a:ln>
            <a:noFill/>
          </a:ln>
        </p:spPr>
        <p:txBody>
          <a:bodyPr rtlCol="0" anchor="ctr"/>
          <a:lstStyle/>
          <a:p>
            <a:pPr algn="ctr"/>
            <a:endParaRPr/>
          </a:p>
        </p:txBody>
      </p:sp>
      <p:sp>
        <p:nvSpPr>
          <p:cNvPr id="35" name="TextBox 35"/>
          <p:cNvSpPr txBox="1"/>
          <p:nvPr/>
        </p:nvSpPr>
        <p:spPr>
          <a:xfrm>
            <a:off x="868680" y="4864608"/>
            <a:ext cx="457200" cy="32004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7</a:t>
            </a:r>
          </a:p>
        </p:txBody>
      </p:sp>
      <p:sp>
        <p:nvSpPr>
          <p:cNvPr id="36" name="TextBox 36"/>
          <p:cNvSpPr txBox="1"/>
          <p:nvPr/>
        </p:nvSpPr>
        <p:spPr>
          <a:xfrm>
            <a:off x="1371600" y="4864608"/>
            <a:ext cx="3931920" cy="320040"/>
          </a:xfrm>
          <a:prstGeom prst="rect">
            <a:avLst/>
          </a:prstGeom>
          <a:noFill/>
        </p:spPr>
        <p:txBody>
          <a:bodyPr wrap="square" lIns="9144" tIns="0" rIns="9144" bIns="0" anchor="t">
            <a:noAutofit/>
          </a:bodyPr>
          <a:lstStyle/>
          <a:p>
            <a:pPr algn="l">
              <a:spcAft>
                <a:spcPts val="0"/>
              </a:spcAft>
            </a:pPr>
            <a:r>
              <a:rPr lang="en-GB" sz="1300" b="0" dirty="0">
                <a:solidFill>
                  <a:srgbClr val="F4F8FE"/>
                </a:solidFill>
                <a:latin typeface="Aptos"/>
                <a:cs typeface="Aptos"/>
              </a:rPr>
              <a:t>Cloud page by IP address</a:t>
            </a:r>
          </a:p>
        </p:txBody>
      </p:sp>
      <p:sp>
        <p:nvSpPr>
          <p:cNvPr id="37" name="TextBox 37"/>
          <p:cNvSpPr txBox="1"/>
          <p:nvPr/>
        </p:nvSpPr>
        <p:spPr>
          <a:xfrm>
            <a:off x="5303520" y="4864608"/>
            <a:ext cx="96012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Pass</a:t>
            </a:r>
          </a:p>
        </p:txBody>
      </p:sp>
      <p:sp>
        <p:nvSpPr>
          <p:cNvPr id="38" name="Shape 38"/>
          <p:cNvSpPr/>
          <p:nvPr/>
        </p:nvSpPr>
        <p:spPr>
          <a:xfrm>
            <a:off x="868680" y="5202936"/>
            <a:ext cx="5394960" cy="10973"/>
          </a:xfrm>
          <a:prstGeom prst="rect">
            <a:avLst/>
          </a:prstGeom>
          <a:solidFill>
            <a:srgbClr val="314458"/>
          </a:solidFill>
          <a:ln>
            <a:noFill/>
          </a:ln>
        </p:spPr>
        <p:txBody>
          <a:bodyPr rtlCol="0" anchor="ctr"/>
          <a:lstStyle/>
          <a:p>
            <a:pPr algn="ctr"/>
            <a:endParaRPr/>
          </a:p>
        </p:txBody>
      </p:sp>
      <p:sp>
        <p:nvSpPr>
          <p:cNvPr id="39" name="TextBox 39"/>
          <p:cNvSpPr txBox="1"/>
          <p:nvPr/>
        </p:nvSpPr>
        <p:spPr>
          <a:xfrm>
            <a:off x="868680" y="5276088"/>
            <a:ext cx="457200" cy="32004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8</a:t>
            </a:r>
          </a:p>
        </p:txBody>
      </p:sp>
      <p:sp>
        <p:nvSpPr>
          <p:cNvPr id="40" name="TextBox 40"/>
          <p:cNvSpPr txBox="1"/>
          <p:nvPr/>
        </p:nvSpPr>
        <p:spPr>
          <a:xfrm>
            <a:off x="1371600" y="5276088"/>
            <a:ext cx="3931920" cy="320040"/>
          </a:xfrm>
          <a:prstGeom prst="rect">
            <a:avLst/>
          </a:prstGeom>
          <a:noFill/>
        </p:spPr>
        <p:txBody>
          <a:bodyPr wrap="square" lIns="9144" tIns="0" rIns="9144" bIns="0" anchor="t">
            <a:noAutofit/>
          </a:bodyPr>
          <a:lstStyle/>
          <a:p>
            <a:pPr algn="l">
              <a:spcAft>
                <a:spcPts val="0"/>
              </a:spcAft>
            </a:pPr>
            <a:r>
              <a:rPr lang="en-GB" sz="1300" b="0" dirty="0">
                <a:solidFill>
                  <a:srgbClr val="F4F8FE"/>
                </a:solidFill>
                <a:latin typeface="Aptos"/>
                <a:cs typeface="Aptos"/>
              </a:rPr>
              <a:t>Cloud page by name</a:t>
            </a:r>
          </a:p>
        </p:txBody>
      </p:sp>
      <p:sp>
        <p:nvSpPr>
          <p:cNvPr id="41" name="TextBox 41"/>
          <p:cNvSpPr txBox="1"/>
          <p:nvPr/>
        </p:nvSpPr>
        <p:spPr>
          <a:xfrm>
            <a:off x="5303520" y="5276088"/>
            <a:ext cx="96012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Pass</a:t>
            </a:r>
          </a:p>
        </p:txBody>
      </p:sp>
      <p:sp>
        <p:nvSpPr>
          <p:cNvPr id="42" name="Shape 42"/>
          <p:cNvSpPr/>
          <p:nvPr/>
        </p:nvSpPr>
        <p:spPr>
          <a:xfrm>
            <a:off x="6793992" y="1719072"/>
            <a:ext cx="4754880" cy="4096512"/>
          </a:xfrm>
          <a:prstGeom prst="roundRect">
            <a:avLst>
              <a:gd name="adj" fmla="val 12000"/>
            </a:avLst>
          </a:prstGeom>
          <a:solidFill>
            <a:srgbClr val="172336"/>
          </a:solidFill>
          <a:ln>
            <a:noFill/>
          </a:ln>
        </p:spPr>
        <p:txBody>
          <a:bodyPr rtlCol="0" anchor="ctr"/>
          <a:lstStyle/>
          <a:p>
            <a:pPr algn="ctr"/>
            <a:endParaRPr/>
          </a:p>
        </p:txBody>
      </p:sp>
      <p:sp>
        <p:nvSpPr>
          <p:cNvPr id="43" name="Shape 43"/>
          <p:cNvSpPr/>
          <p:nvPr/>
        </p:nvSpPr>
        <p:spPr>
          <a:xfrm>
            <a:off x="7068312" y="1965960"/>
            <a:ext cx="4206240" cy="3219375"/>
          </a:xfrm>
          <a:prstGeom prst="rect">
            <a:avLst/>
          </a:prstGeom>
          <a:solidFill>
            <a:srgbClr val="FFFFFF"/>
          </a:solidFill>
          <a:ln>
            <a:noFill/>
          </a:ln>
        </p:spPr>
        <p:txBody>
          <a:bodyPr rtlCol="0" anchor="ctr"/>
          <a:lstStyle/>
          <a:p>
            <a:pPr algn="ctr"/>
            <a:endParaRPr/>
          </a:p>
        </p:txBody>
      </p:sp>
      <p:pic>
        <p:nvPicPr>
          <p:cNvPr id="44" name="Picture 44"/>
          <p:cNvPicPr>
            <a:picLocks noChangeAspect="1"/>
          </p:cNvPicPr>
          <p:nvPr/>
        </p:nvPicPr>
        <p:blipFill>
          <a:blip r:embed="rIdImg2"/>
          <a:stretch>
            <a:fillRect/>
          </a:stretch>
        </p:blipFill>
        <p:spPr>
          <a:xfrm>
            <a:off x="7068312" y="1965960"/>
            <a:ext cx="4206240" cy="3219375"/>
          </a:xfrm>
          <a:prstGeom prst="rect">
            <a:avLst/>
          </a:prstGeom>
        </p:spPr>
      </p:pic>
      <p:sp>
        <p:nvSpPr>
          <p:cNvPr id="45" name="TextBox 45"/>
          <p:cNvSpPr txBox="1"/>
          <p:nvPr/>
        </p:nvSpPr>
        <p:spPr>
          <a:xfrm>
            <a:off x="7068312" y="5257800"/>
            <a:ext cx="4206240" cy="274320"/>
          </a:xfrm>
          <a:prstGeom prst="rect">
            <a:avLst/>
          </a:prstGeom>
          <a:noFill/>
        </p:spPr>
        <p:txBody>
          <a:bodyPr wrap="square" lIns="9144" tIns="0" rIns="9144" bIns="0" anchor="t">
            <a:noAutofit/>
          </a:bodyPr>
          <a:lstStyle/>
          <a:p>
            <a:pPr algn="l">
              <a:spcAft>
                <a:spcPts val="0"/>
              </a:spcAft>
            </a:pPr>
            <a:r>
              <a:rPr lang="en-GB" sz="1000" b="0" dirty="0">
                <a:solidFill>
                  <a:srgbClr val="A6B8CF"/>
                </a:solidFill>
                <a:latin typeface="Aptos"/>
                <a:cs typeface="Aptos"/>
              </a:rPr>
              <a:t>Test 8: the cloud page opened by name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MP3   /   HAND-OVER   /   SORENA</a:t>
            </a:r>
          </a:p>
        </p:txBody>
      </p:sp>
      <p:sp>
        <p:nvSpPr>
          <p:cNvPr id="5" name="Shape 5"/>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6" name="TextBox 6"/>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HAND-OVER</a:t>
            </a:r>
          </a:p>
        </p:txBody>
      </p:sp>
      <p:sp>
        <p:nvSpPr>
          <p:cNvPr id="7" name="TextBox 7"/>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15</a:t>
            </a:r>
          </a:p>
        </p:txBody>
      </p:sp>
      <p:sp>
        <p:nvSpPr>
          <p:cNvPr id="8" name="Shape 8"/>
          <p:cNvSpPr/>
          <p:nvPr/>
        </p:nvSpPr>
        <p:spPr>
          <a:xfrm>
            <a:off x="2441448" y="1828800"/>
            <a:ext cx="7315200" cy="3017520"/>
          </a:xfrm>
          <a:prstGeom prst="roundRect">
            <a:avLst>
              <a:gd name="adj" fmla="val 12000"/>
            </a:avLst>
          </a:prstGeom>
          <a:solidFill>
            <a:srgbClr val="172336"/>
          </a:solidFill>
          <a:ln>
            <a:noFill/>
          </a:ln>
        </p:spPr>
        <p:txBody>
          <a:bodyPr rtlCol="0" anchor="ctr"/>
          <a:lstStyle/>
          <a:p>
            <a:pPr algn="ctr"/>
            <a:endParaRPr/>
          </a:p>
        </p:txBody>
      </p:sp>
      <p:sp>
        <p:nvSpPr>
          <p:cNvPr id="9" name="TextBox 9"/>
          <p:cNvSpPr txBox="1"/>
          <p:nvPr/>
        </p:nvSpPr>
        <p:spPr>
          <a:xfrm>
            <a:off x="2441448" y="2286000"/>
            <a:ext cx="7315200" cy="320040"/>
          </a:xfrm>
          <a:prstGeom prst="rect">
            <a:avLst/>
          </a:prstGeom>
          <a:noFill/>
        </p:spPr>
        <p:txBody>
          <a:bodyPr wrap="square" lIns="9144" tIns="0" rIns="9144" bIns="0" anchor="t">
            <a:noAutofit/>
          </a:bodyPr>
          <a:lstStyle/>
          <a:p>
            <a:pPr algn="ctr">
              <a:spcAft>
                <a:spcPts val="0"/>
              </a:spcAft>
            </a:pPr>
            <a:r>
              <a:rPr lang="en-GB" sz="1300" b="1" dirty="0">
                <a:solidFill>
                  <a:srgbClr val="3DCCC0"/>
                </a:solidFill>
                <a:latin typeface="Aptos"/>
                <a:cs typeface="Aptos"/>
              </a:rPr>
              <a:t>UP NEXT</a:t>
            </a:r>
          </a:p>
        </p:txBody>
      </p:sp>
      <p:sp>
        <p:nvSpPr>
          <p:cNvPr id="10" name="TextBox 10"/>
          <p:cNvSpPr txBox="1"/>
          <p:nvPr/>
        </p:nvSpPr>
        <p:spPr>
          <a:xfrm>
            <a:off x="2441448" y="2743200"/>
            <a:ext cx="7315200" cy="822960"/>
          </a:xfrm>
          <a:prstGeom prst="rect">
            <a:avLst/>
          </a:prstGeom>
          <a:noFill/>
        </p:spPr>
        <p:txBody>
          <a:bodyPr wrap="square" lIns="9144" tIns="0" rIns="9144" bIns="0" anchor="t">
            <a:noAutofit/>
          </a:bodyPr>
          <a:lstStyle/>
          <a:p>
            <a:pPr algn="ctr">
              <a:spcAft>
                <a:spcPts val="0"/>
              </a:spcAft>
            </a:pPr>
            <a:r>
              <a:rPr lang="en-GB" sz="4000" b="1" dirty="0">
                <a:solidFill>
                  <a:srgbClr val="F4F8FE"/>
                </a:solidFill>
                <a:latin typeface="Aptos"/>
                <a:cs typeface="Aptos"/>
              </a:rPr>
              <a:t>Marcus Weeks</a:t>
            </a:r>
          </a:p>
        </p:txBody>
      </p:sp>
      <p:sp>
        <p:nvSpPr>
          <p:cNvPr id="11" name="TextBox 11"/>
          <p:cNvSpPr txBox="1"/>
          <p:nvPr/>
        </p:nvSpPr>
        <p:spPr>
          <a:xfrm>
            <a:off x="2441448" y="3794760"/>
            <a:ext cx="7315200" cy="411480"/>
          </a:xfrm>
          <a:prstGeom prst="rect">
            <a:avLst/>
          </a:prstGeom>
          <a:noFill/>
        </p:spPr>
        <p:txBody>
          <a:bodyPr wrap="square" lIns="9144" tIns="0" rIns="9144" bIns="0" anchor="t">
            <a:noAutofit/>
          </a:bodyPr>
          <a:lstStyle/>
          <a:p>
            <a:pPr algn="ctr">
              <a:spcAft>
                <a:spcPts val="0"/>
              </a:spcAft>
            </a:pPr>
            <a:r>
              <a:rPr lang="en-GB" sz="1600" b="0" dirty="0">
                <a:solidFill>
                  <a:srgbClr val="A6B8CF"/>
                </a:solidFill>
                <a:latin typeface="Aptos"/>
                <a:cs typeface="Aptos"/>
              </a:rPr>
              <a:t>Staying safe online  ·  MP4 Cyber security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MP4   /   CYBER SECURITY   /   MARCUS</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Why people get hacked</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CYBER SECURITY AWARENESS</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16</a:t>
            </a:r>
          </a:p>
        </p:txBody>
      </p:sp>
      <p:sp>
        <p:nvSpPr>
          <p:cNvPr id="9" name="Shape 9"/>
          <p:cNvSpPr/>
          <p:nvPr/>
        </p:nvSpPr>
        <p:spPr>
          <a:xfrm>
            <a:off x="557784" y="1719072"/>
            <a:ext cx="5120640" cy="4096512"/>
          </a:xfrm>
          <a:prstGeom prst="roundRect">
            <a:avLst>
              <a:gd name="adj" fmla="val 12000"/>
            </a:avLst>
          </a:prstGeom>
          <a:solidFill>
            <a:srgbClr val="172336"/>
          </a:solidFill>
          <a:ln>
            <a:noFill/>
          </a:ln>
        </p:spPr>
        <p:txBody>
          <a:bodyPr rtlCol="0" anchor="ctr"/>
          <a:lstStyle/>
          <a:p>
            <a:pPr algn="ctr"/>
            <a:endParaRPr/>
          </a:p>
        </p:txBody>
      </p:sp>
      <p:sp>
        <p:nvSpPr>
          <p:cNvPr id="10" name="TextBox 10"/>
          <p:cNvSpPr txBox="1"/>
          <p:nvPr/>
        </p:nvSpPr>
        <p:spPr>
          <a:xfrm>
            <a:off x="896112" y="2011680"/>
            <a:ext cx="448056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THE PROBLEM</a:t>
            </a:r>
          </a:p>
        </p:txBody>
      </p:sp>
      <p:sp>
        <p:nvSpPr>
          <p:cNvPr id="11" name="TextBox 11"/>
          <p:cNvSpPr txBox="1"/>
          <p:nvPr/>
        </p:nvSpPr>
        <p:spPr>
          <a:xfrm>
            <a:off x="896112" y="2377440"/>
            <a:ext cx="4480560" cy="685800"/>
          </a:xfrm>
          <a:prstGeom prst="rect">
            <a:avLst/>
          </a:prstGeom>
          <a:noFill/>
        </p:spPr>
        <p:txBody>
          <a:bodyPr wrap="square" lIns="9144" tIns="0" rIns="9144" bIns="0" anchor="t">
            <a:noAutofit/>
          </a:bodyPr>
          <a:lstStyle/>
          <a:p>
            <a:pPr algn="l">
              <a:spcAft>
                <a:spcPts val="0"/>
              </a:spcAft>
            </a:pPr>
            <a:r>
              <a:rPr lang="en-GB" sz="3600" b="1" dirty="0">
                <a:solidFill>
                  <a:srgbClr val="F4F8FE"/>
                </a:solidFill>
                <a:latin typeface="Aptos"/>
                <a:cs typeface="Aptos"/>
              </a:rPr>
              <a:t>43%</a:t>
            </a:r>
          </a:p>
        </p:txBody>
      </p:sp>
      <p:sp>
        <p:nvSpPr>
          <p:cNvPr id="12" name="TextBox 12"/>
          <p:cNvSpPr txBox="1"/>
          <p:nvPr/>
        </p:nvSpPr>
        <p:spPr>
          <a:xfrm>
            <a:off x="896112" y="3063240"/>
            <a:ext cx="4480560" cy="50292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of UK businesses found a breach or attack in the last 12 months</a:t>
            </a:r>
          </a:p>
        </p:txBody>
      </p:sp>
      <p:sp>
        <p:nvSpPr>
          <p:cNvPr id="13" name="TextBox 13"/>
          <p:cNvSpPr txBox="1"/>
          <p:nvPr/>
        </p:nvSpPr>
        <p:spPr>
          <a:xfrm>
            <a:off x="896112" y="3584448"/>
            <a:ext cx="4480560" cy="201168"/>
          </a:xfrm>
          <a:prstGeom prst="rect">
            <a:avLst/>
          </a:prstGeom>
          <a:noFill/>
        </p:spPr>
        <p:txBody>
          <a:bodyPr wrap="square" lIns="9144" tIns="0" rIns="9144" bIns="0" anchor="t">
            <a:noAutofit/>
          </a:bodyPr>
          <a:lstStyle/>
          <a:p>
            <a:pPr algn="l">
              <a:spcAft>
                <a:spcPts val="0"/>
              </a:spcAft>
            </a:pPr>
            <a:r>
              <a:rPr lang="en-GB" sz="1000" b="0" dirty="0">
                <a:solidFill>
                  <a:srgbClr val="3DCCC0"/>
                </a:solidFill>
                <a:latin typeface="Aptos"/>
                <a:cs typeface="Aptos"/>
              </a:rPr>
              <a:t>(DSIT, 2025)</a:t>
            </a:r>
          </a:p>
        </p:txBody>
      </p:sp>
      <p:sp>
        <p:nvSpPr>
          <p:cNvPr id="14" name="Shape 14"/>
          <p:cNvSpPr/>
          <p:nvPr/>
        </p:nvSpPr>
        <p:spPr>
          <a:xfrm>
            <a:off x="896112" y="3977640"/>
            <a:ext cx="4480560" cy="10973"/>
          </a:xfrm>
          <a:prstGeom prst="rect">
            <a:avLst/>
          </a:prstGeom>
          <a:solidFill>
            <a:srgbClr val="314458"/>
          </a:solidFill>
          <a:ln>
            <a:noFill/>
          </a:ln>
        </p:spPr>
        <p:txBody>
          <a:bodyPr rtlCol="0" anchor="ctr"/>
          <a:lstStyle/>
          <a:p>
            <a:pPr algn="ctr"/>
            <a:endParaRPr/>
          </a:p>
        </p:txBody>
      </p:sp>
      <p:sp>
        <p:nvSpPr>
          <p:cNvPr id="15" name="TextBox 15"/>
          <p:cNvSpPr txBox="1"/>
          <p:nvPr/>
        </p:nvSpPr>
        <p:spPr>
          <a:xfrm>
            <a:off x="896112" y="4114800"/>
            <a:ext cx="4480560" cy="685800"/>
          </a:xfrm>
          <a:prstGeom prst="rect">
            <a:avLst/>
          </a:prstGeom>
          <a:noFill/>
        </p:spPr>
        <p:txBody>
          <a:bodyPr wrap="square" lIns="9144" tIns="0" rIns="9144" bIns="0" anchor="t">
            <a:noAutofit/>
          </a:bodyPr>
          <a:lstStyle/>
          <a:p>
            <a:pPr algn="l">
              <a:spcAft>
                <a:spcPts val="0"/>
              </a:spcAft>
            </a:pPr>
            <a:r>
              <a:rPr lang="en-GB" sz="3600" b="1" dirty="0">
                <a:solidFill>
                  <a:srgbClr val="F4F8FE"/>
                </a:solidFill>
                <a:latin typeface="Aptos"/>
                <a:cs typeface="Aptos"/>
              </a:rPr>
              <a:t>22%</a:t>
            </a:r>
          </a:p>
        </p:txBody>
      </p:sp>
      <p:sp>
        <p:nvSpPr>
          <p:cNvPr id="16" name="TextBox 16"/>
          <p:cNvSpPr txBox="1"/>
          <p:nvPr/>
        </p:nvSpPr>
        <p:spPr>
          <a:xfrm>
            <a:off x="896112" y="4800600"/>
            <a:ext cx="4480560" cy="50292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of the breaches Verizon studied started with stolen or compromised logins</a:t>
            </a:r>
          </a:p>
        </p:txBody>
      </p:sp>
      <p:sp>
        <p:nvSpPr>
          <p:cNvPr id="17" name="TextBox 17"/>
          <p:cNvSpPr txBox="1"/>
          <p:nvPr/>
        </p:nvSpPr>
        <p:spPr>
          <a:xfrm>
            <a:off x="896112" y="5321808"/>
            <a:ext cx="4480560" cy="201168"/>
          </a:xfrm>
          <a:prstGeom prst="rect">
            <a:avLst/>
          </a:prstGeom>
          <a:noFill/>
        </p:spPr>
        <p:txBody>
          <a:bodyPr wrap="square" lIns="9144" tIns="0" rIns="9144" bIns="0" anchor="t">
            <a:noAutofit/>
          </a:bodyPr>
          <a:lstStyle/>
          <a:p>
            <a:pPr algn="l">
              <a:spcAft>
                <a:spcPts val="0"/>
              </a:spcAft>
            </a:pPr>
            <a:r>
              <a:rPr lang="en-GB" sz="1000" b="0" dirty="0">
                <a:solidFill>
                  <a:srgbClr val="3DCCC0"/>
                </a:solidFill>
                <a:latin typeface="Aptos"/>
                <a:cs typeface="Aptos"/>
              </a:rPr>
              <a:t>(Langlois, 2025)</a:t>
            </a:r>
          </a:p>
        </p:txBody>
      </p:sp>
      <p:sp>
        <p:nvSpPr>
          <p:cNvPr id="18" name="Shape 18"/>
          <p:cNvSpPr/>
          <p:nvPr/>
        </p:nvSpPr>
        <p:spPr>
          <a:xfrm>
            <a:off x="6035040" y="1719072"/>
            <a:ext cx="5513832" cy="4096512"/>
          </a:xfrm>
          <a:prstGeom prst="roundRect">
            <a:avLst>
              <a:gd name="adj" fmla="val 12000"/>
            </a:avLst>
          </a:prstGeom>
          <a:solidFill>
            <a:srgbClr val="172336"/>
          </a:solidFill>
          <a:ln>
            <a:noFill/>
          </a:ln>
        </p:spPr>
        <p:txBody>
          <a:bodyPr rtlCol="0" anchor="ctr"/>
          <a:lstStyle/>
          <a:p>
            <a:pPr algn="ctr"/>
            <a:endParaRPr/>
          </a:p>
        </p:txBody>
      </p:sp>
      <p:sp>
        <p:nvSpPr>
          <p:cNvPr id="19" name="TextBox 19"/>
          <p:cNvSpPr txBox="1"/>
          <p:nvPr/>
        </p:nvSpPr>
        <p:spPr>
          <a:xfrm>
            <a:off x="6373368" y="2011680"/>
            <a:ext cx="493776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OUR GUIDE  ·  4 TOPICS</a:t>
            </a:r>
          </a:p>
        </p:txBody>
      </p:sp>
      <p:sp>
        <p:nvSpPr>
          <p:cNvPr id="20" name="TextBox 20"/>
          <p:cNvSpPr txBox="1"/>
          <p:nvPr/>
        </p:nvSpPr>
        <p:spPr>
          <a:xfrm>
            <a:off x="6373368" y="2542032"/>
            <a:ext cx="54864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01</a:t>
            </a:r>
          </a:p>
        </p:txBody>
      </p:sp>
      <p:sp>
        <p:nvSpPr>
          <p:cNvPr id="21" name="TextBox 21"/>
          <p:cNvSpPr txBox="1"/>
          <p:nvPr/>
        </p:nvSpPr>
        <p:spPr>
          <a:xfrm>
            <a:off x="7040880" y="2569464"/>
            <a:ext cx="3017520" cy="36576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Password hygiene</a:t>
            </a:r>
          </a:p>
        </p:txBody>
      </p:sp>
      <p:sp>
        <p:nvSpPr>
          <p:cNvPr id="22" name="TextBox 22"/>
          <p:cNvSpPr txBox="1"/>
          <p:nvPr/>
        </p:nvSpPr>
        <p:spPr>
          <a:xfrm>
            <a:off x="9692640" y="2596896"/>
            <a:ext cx="1508760" cy="320040"/>
          </a:xfrm>
          <a:prstGeom prst="rect">
            <a:avLst/>
          </a:prstGeom>
          <a:noFill/>
        </p:spPr>
        <p:txBody>
          <a:bodyPr wrap="square" lIns="9144" tIns="0" rIns="9144" bIns="0" anchor="t">
            <a:noAutofit/>
          </a:bodyPr>
          <a:lstStyle/>
          <a:p>
            <a:pPr algn="r">
              <a:spcAft>
                <a:spcPts val="0"/>
              </a:spcAft>
            </a:pPr>
            <a:r>
              <a:rPr lang="en-GB" sz="1300" b="1" dirty="0">
                <a:solidFill>
                  <a:srgbClr val="3DCCC0"/>
                </a:solidFill>
                <a:latin typeface="Aptos"/>
                <a:cs typeface="Aptos"/>
              </a:rPr>
              <a:t>Marcus</a:t>
            </a:r>
          </a:p>
        </p:txBody>
      </p:sp>
      <p:sp>
        <p:nvSpPr>
          <p:cNvPr id="23" name="Shape 23"/>
          <p:cNvSpPr/>
          <p:nvPr/>
        </p:nvSpPr>
        <p:spPr>
          <a:xfrm>
            <a:off x="6373368" y="3136392"/>
            <a:ext cx="4846320" cy="10973"/>
          </a:xfrm>
          <a:prstGeom prst="rect">
            <a:avLst/>
          </a:prstGeom>
          <a:solidFill>
            <a:srgbClr val="314458"/>
          </a:solidFill>
          <a:ln>
            <a:noFill/>
          </a:ln>
        </p:spPr>
        <p:txBody>
          <a:bodyPr rtlCol="0" anchor="ctr"/>
          <a:lstStyle/>
          <a:p>
            <a:pPr algn="ctr"/>
            <a:endParaRPr/>
          </a:p>
        </p:txBody>
      </p:sp>
      <p:sp>
        <p:nvSpPr>
          <p:cNvPr id="24" name="TextBox 24"/>
          <p:cNvSpPr txBox="1"/>
          <p:nvPr/>
        </p:nvSpPr>
        <p:spPr>
          <a:xfrm>
            <a:off x="6373368" y="3319272"/>
            <a:ext cx="54864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02</a:t>
            </a:r>
          </a:p>
        </p:txBody>
      </p:sp>
      <p:sp>
        <p:nvSpPr>
          <p:cNvPr id="25" name="TextBox 25"/>
          <p:cNvSpPr txBox="1"/>
          <p:nvPr/>
        </p:nvSpPr>
        <p:spPr>
          <a:xfrm>
            <a:off x="7040880" y="3346704"/>
            <a:ext cx="3017520" cy="36576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Two-factor authentication</a:t>
            </a:r>
          </a:p>
        </p:txBody>
      </p:sp>
      <p:sp>
        <p:nvSpPr>
          <p:cNvPr id="26" name="TextBox 26"/>
          <p:cNvSpPr txBox="1"/>
          <p:nvPr/>
        </p:nvSpPr>
        <p:spPr>
          <a:xfrm>
            <a:off x="9692640" y="3374136"/>
            <a:ext cx="1508760" cy="320040"/>
          </a:xfrm>
          <a:prstGeom prst="rect">
            <a:avLst/>
          </a:prstGeom>
          <a:noFill/>
        </p:spPr>
        <p:txBody>
          <a:bodyPr wrap="square" lIns="9144" tIns="0" rIns="9144" bIns="0" anchor="t">
            <a:noAutofit/>
          </a:bodyPr>
          <a:lstStyle/>
          <a:p>
            <a:pPr algn="r">
              <a:spcAft>
                <a:spcPts val="0"/>
              </a:spcAft>
            </a:pPr>
            <a:r>
              <a:rPr lang="en-GB" sz="1300" b="0" dirty="0">
                <a:solidFill>
                  <a:srgbClr val="A6B8CF"/>
                </a:solidFill>
                <a:latin typeface="Aptos"/>
                <a:cs typeface="Aptos"/>
              </a:rPr>
              <a:t>Charlie</a:t>
            </a:r>
          </a:p>
        </p:txBody>
      </p:sp>
      <p:sp>
        <p:nvSpPr>
          <p:cNvPr id="27" name="Shape 27"/>
          <p:cNvSpPr/>
          <p:nvPr/>
        </p:nvSpPr>
        <p:spPr>
          <a:xfrm>
            <a:off x="6373368" y="3913632"/>
            <a:ext cx="4846320" cy="10973"/>
          </a:xfrm>
          <a:prstGeom prst="rect">
            <a:avLst/>
          </a:prstGeom>
          <a:solidFill>
            <a:srgbClr val="314458"/>
          </a:solidFill>
          <a:ln>
            <a:noFill/>
          </a:ln>
        </p:spPr>
        <p:txBody>
          <a:bodyPr rtlCol="0" anchor="ctr"/>
          <a:lstStyle/>
          <a:p>
            <a:pPr algn="ctr"/>
            <a:endParaRPr/>
          </a:p>
        </p:txBody>
      </p:sp>
      <p:sp>
        <p:nvSpPr>
          <p:cNvPr id="28" name="TextBox 28"/>
          <p:cNvSpPr txBox="1"/>
          <p:nvPr/>
        </p:nvSpPr>
        <p:spPr>
          <a:xfrm>
            <a:off x="6373368" y="4096512"/>
            <a:ext cx="54864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03</a:t>
            </a:r>
          </a:p>
        </p:txBody>
      </p:sp>
      <p:sp>
        <p:nvSpPr>
          <p:cNvPr id="29" name="TextBox 29"/>
          <p:cNvSpPr txBox="1"/>
          <p:nvPr/>
        </p:nvSpPr>
        <p:spPr>
          <a:xfrm>
            <a:off x="7040880" y="4123944"/>
            <a:ext cx="3017520" cy="36576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Phishing</a:t>
            </a:r>
          </a:p>
        </p:txBody>
      </p:sp>
      <p:sp>
        <p:nvSpPr>
          <p:cNvPr id="30" name="TextBox 30"/>
          <p:cNvSpPr txBox="1"/>
          <p:nvPr/>
        </p:nvSpPr>
        <p:spPr>
          <a:xfrm>
            <a:off x="9692640" y="4151376"/>
            <a:ext cx="1508760" cy="320040"/>
          </a:xfrm>
          <a:prstGeom prst="rect">
            <a:avLst/>
          </a:prstGeom>
          <a:noFill/>
        </p:spPr>
        <p:txBody>
          <a:bodyPr wrap="square" lIns="9144" tIns="0" rIns="9144" bIns="0" anchor="t">
            <a:noAutofit/>
          </a:bodyPr>
          <a:lstStyle/>
          <a:p>
            <a:pPr algn="r">
              <a:spcAft>
                <a:spcPts val="0"/>
              </a:spcAft>
            </a:pPr>
            <a:r>
              <a:rPr lang="en-GB" sz="1300" b="0" dirty="0">
                <a:solidFill>
                  <a:srgbClr val="A6B8CF"/>
                </a:solidFill>
                <a:latin typeface="Aptos"/>
                <a:cs typeface="Aptos"/>
              </a:rPr>
              <a:t>Sorena</a:t>
            </a:r>
          </a:p>
        </p:txBody>
      </p:sp>
      <p:sp>
        <p:nvSpPr>
          <p:cNvPr id="31" name="Shape 31"/>
          <p:cNvSpPr/>
          <p:nvPr/>
        </p:nvSpPr>
        <p:spPr>
          <a:xfrm>
            <a:off x="6373368" y="4690872"/>
            <a:ext cx="4846320" cy="10973"/>
          </a:xfrm>
          <a:prstGeom prst="rect">
            <a:avLst/>
          </a:prstGeom>
          <a:solidFill>
            <a:srgbClr val="314458"/>
          </a:solidFill>
          <a:ln>
            <a:noFill/>
          </a:ln>
        </p:spPr>
        <p:txBody>
          <a:bodyPr rtlCol="0" anchor="ctr"/>
          <a:lstStyle/>
          <a:p>
            <a:pPr algn="ctr"/>
            <a:endParaRPr/>
          </a:p>
        </p:txBody>
      </p:sp>
      <p:sp>
        <p:nvSpPr>
          <p:cNvPr id="32" name="TextBox 32"/>
          <p:cNvSpPr txBox="1"/>
          <p:nvPr/>
        </p:nvSpPr>
        <p:spPr>
          <a:xfrm>
            <a:off x="6373368" y="4873752"/>
            <a:ext cx="54864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04</a:t>
            </a:r>
          </a:p>
        </p:txBody>
      </p:sp>
      <p:sp>
        <p:nvSpPr>
          <p:cNvPr id="33" name="TextBox 33"/>
          <p:cNvSpPr txBox="1"/>
          <p:nvPr/>
        </p:nvSpPr>
        <p:spPr>
          <a:xfrm>
            <a:off x="7040880" y="4901184"/>
            <a:ext cx="3017520" cy="36576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Safe use of devices</a:t>
            </a:r>
          </a:p>
        </p:txBody>
      </p:sp>
      <p:sp>
        <p:nvSpPr>
          <p:cNvPr id="34" name="TextBox 34"/>
          <p:cNvSpPr txBox="1"/>
          <p:nvPr/>
        </p:nvSpPr>
        <p:spPr>
          <a:xfrm>
            <a:off x="9692640" y="4928616"/>
            <a:ext cx="1508760" cy="320040"/>
          </a:xfrm>
          <a:prstGeom prst="rect">
            <a:avLst/>
          </a:prstGeom>
          <a:noFill/>
        </p:spPr>
        <p:txBody>
          <a:bodyPr wrap="square" lIns="9144" tIns="0" rIns="9144" bIns="0" anchor="t">
            <a:noAutofit/>
          </a:bodyPr>
          <a:lstStyle/>
          <a:p>
            <a:pPr algn="r">
              <a:spcAft>
                <a:spcPts val="0"/>
              </a:spcAft>
            </a:pPr>
            <a:r>
              <a:rPr lang="en-GB" sz="1300" b="0" dirty="0">
                <a:solidFill>
                  <a:srgbClr val="A6B8CF"/>
                </a:solidFill>
                <a:latin typeface="Aptos"/>
                <a:cs typeface="Aptos"/>
              </a:rPr>
              <a:t>Nah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MP4   /   CYBER SECURITY   /   MARCUS</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Password hygiene: what to do</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CYBER SECURITY AWARENESS</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17</a:t>
            </a:r>
          </a:p>
        </p:txBody>
      </p:sp>
      <p:sp>
        <p:nvSpPr>
          <p:cNvPr id="9" name="Shape 9"/>
          <p:cNvSpPr/>
          <p:nvPr/>
        </p:nvSpPr>
        <p:spPr>
          <a:xfrm>
            <a:off x="557784" y="1719072"/>
            <a:ext cx="4023360" cy="4096512"/>
          </a:xfrm>
          <a:prstGeom prst="roundRect">
            <a:avLst>
              <a:gd name="adj" fmla="val 12000"/>
            </a:avLst>
          </a:prstGeom>
          <a:solidFill>
            <a:srgbClr val="172336"/>
          </a:solidFill>
          <a:ln>
            <a:noFill/>
          </a:ln>
        </p:spPr>
        <p:txBody>
          <a:bodyPr rtlCol="0" anchor="ctr"/>
          <a:lstStyle/>
          <a:p>
            <a:pPr algn="ctr"/>
            <a:endParaRPr/>
          </a:p>
        </p:txBody>
      </p:sp>
      <p:sp>
        <p:nvSpPr>
          <p:cNvPr id="10" name="TextBox 10"/>
          <p:cNvSpPr txBox="1"/>
          <p:nvPr/>
        </p:nvSpPr>
        <p:spPr>
          <a:xfrm>
            <a:off x="877824" y="2011680"/>
            <a:ext cx="338328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DO</a:t>
            </a:r>
          </a:p>
        </p:txBody>
      </p:sp>
      <p:sp>
        <p:nvSpPr>
          <p:cNvPr id="11" name="TextBox 11"/>
          <p:cNvSpPr txBox="1"/>
          <p:nvPr/>
        </p:nvSpPr>
        <p:spPr>
          <a:xfrm>
            <a:off x="877824" y="2450592"/>
            <a:ext cx="3383280" cy="3246120"/>
          </a:xfrm>
          <a:prstGeom prst="rect">
            <a:avLst/>
          </a:prstGeom>
          <a:noFill/>
        </p:spPr>
        <p:txBody>
          <a:bodyPr wrap="square" lIns="9144" tIns="0" rIns="9144" bIns="0" anchor="t">
            <a:noAutofit/>
          </a:bodyPr>
          <a:lstStyle/>
          <a:p>
            <a:pPr algn="l">
              <a:spcAft>
                <a:spcPts val="100"/>
              </a:spcAft>
            </a:pPr>
            <a:r>
              <a:rPr lang="en-GB" sz="1300" b="0" dirty="0">
                <a:solidFill>
                  <a:srgbClr val="F4F8FE"/>
                </a:solidFill>
                <a:latin typeface="Aptos"/>
                <a:cs typeface="Aptos"/>
              </a:rPr>
              <a:t>Three random words, or 15+ characters</a:t>
            </a:r>
          </a:p>
          <a:p>
            <a:pPr algn="l">
              <a:spcAft>
                <a:spcPts val="1100"/>
              </a:spcAft>
            </a:pPr>
            <a:r>
              <a:rPr lang="en-GB" sz="1000" b="0" dirty="0">
                <a:solidFill>
                  <a:srgbClr val="A6B8CF"/>
                </a:solidFill>
                <a:latin typeface="Aptos"/>
                <a:cs typeface="Aptos"/>
              </a:rPr>
              <a:t>(NCSC, N.D.a; NIST, 2025)</a:t>
            </a:r>
          </a:p>
          <a:p>
            <a:pPr algn="l">
              <a:spcAft>
                <a:spcPts val="100"/>
              </a:spcAft>
            </a:pPr>
            <a:r>
              <a:rPr lang="en-GB" sz="1300" b="0" dirty="0">
                <a:solidFill>
                  <a:srgbClr val="F4F8FE"/>
                </a:solidFill>
                <a:latin typeface="Aptos"/>
                <a:cs typeface="Aptos"/>
              </a:rPr>
              <a:t>A different password for every account</a:t>
            </a:r>
          </a:p>
          <a:p>
            <a:pPr algn="l">
              <a:spcAft>
                <a:spcPts val="1100"/>
              </a:spcAft>
            </a:pPr>
            <a:r>
              <a:rPr lang="en-GB" sz="1000" b="0" dirty="0">
                <a:solidFill>
                  <a:srgbClr val="A6B8CF"/>
                </a:solidFill>
                <a:latin typeface="Aptos"/>
                <a:cs typeface="Aptos"/>
              </a:rPr>
              <a:t>(NCSC, N.D.b)</a:t>
            </a:r>
          </a:p>
          <a:p>
            <a:pPr algn="l">
              <a:spcAft>
                <a:spcPts val="100"/>
              </a:spcAft>
            </a:pPr>
            <a:r>
              <a:rPr lang="en-GB" sz="1300" b="0" dirty="0">
                <a:solidFill>
                  <a:srgbClr val="F4F8FE"/>
                </a:solidFill>
                <a:latin typeface="Aptos"/>
                <a:cs typeface="Aptos"/>
              </a:rPr>
              <a:t>Use a password manager</a:t>
            </a:r>
          </a:p>
          <a:p>
            <a:pPr algn="l">
              <a:spcAft>
                <a:spcPts val="1100"/>
              </a:spcAft>
            </a:pPr>
            <a:r>
              <a:rPr lang="en-GB" sz="1000" b="0" dirty="0">
                <a:solidFill>
                  <a:srgbClr val="A6B8CF"/>
                </a:solidFill>
                <a:latin typeface="Aptos"/>
                <a:cs typeface="Aptos"/>
              </a:rPr>
              <a:t>(NCSC, N.D.b)</a:t>
            </a:r>
          </a:p>
          <a:p>
            <a:pPr algn="l">
              <a:spcAft>
                <a:spcPts val="100"/>
              </a:spcAft>
            </a:pPr>
            <a:r>
              <a:rPr lang="en-GB" sz="1300" b="0" dirty="0">
                <a:solidFill>
                  <a:srgbClr val="F4F8FE"/>
                </a:solidFill>
                <a:latin typeface="Aptos"/>
                <a:cs typeface="Aptos"/>
              </a:rPr>
              <a:t>Turn on 2-step verification</a:t>
            </a:r>
          </a:p>
          <a:p>
            <a:pPr algn="l">
              <a:spcAft>
                <a:spcPts val="1100"/>
              </a:spcAft>
            </a:pPr>
            <a:r>
              <a:rPr lang="en-GB" sz="1000" b="0" dirty="0">
                <a:solidFill>
                  <a:srgbClr val="A6B8CF"/>
                </a:solidFill>
                <a:latin typeface="Aptos"/>
                <a:cs typeface="Aptos"/>
              </a:rPr>
              <a:t>(NCSC, N.D.b)</a:t>
            </a:r>
          </a:p>
        </p:txBody>
      </p:sp>
      <p:sp>
        <p:nvSpPr>
          <p:cNvPr id="12" name="Shape 12"/>
          <p:cNvSpPr/>
          <p:nvPr/>
        </p:nvSpPr>
        <p:spPr>
          <a:xfrm>
            <a:off x="4736592" y="1719072"/>
            <a:ext cx="4023360" cy="4096512"/>
          </a:xfrm>
          <a:prstGeom prst="roundRect">
            <a:avLst>
              <a:gd name="adj" fmla="val 12000"/>
            </a:avLst>
          </a:prstGeom>
          <a:solidFill>
            <a:srgbClr val="172336"/>
          </a:solidFill>
          <a:ln>
            <a:noFill/>
          </a:ln>
        </p:spPr>
        <p:txBody>
          <a:bodyPr rtlCol="0" anchor="ctr"/>
          <a:lstStyle/>
          <a:p>
            <a:pPr algn="ctr"/>
            <a:endParaRPr/>
          </a:p>
        </p:txBody>
      </p:sp>
      <p:sp>
        <p:nvSpPr>
          <p:cNvPr id="13" name="TextBox 13"/>
          <p:cNvSpPr txBox="1"/>
          <p:nvPr/>
        </p:nvSpPr>
        <p:spPr>
          <a:xfrm>
            <a:off x="5056632" y="2011680"/>
            <a:ext cx="338328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DON'T</a:t>
            </a:r>
          </a:p>
        </p:txBody>
      </p:sp>
      <p:sp>
        <p:nvSpPr>
          <p:cNvPr id="14" name="TextBox 14"/>
          <p:cNvSpPr txBox="1"/>
          <p:nvPr/>
        </p:nvSpPr>
        <p:spPr>
          <a:xfrm>
            <a:off x="5056632" y="2450592"/>
            <a:ext cx="3383280" cy="3246120"/>
          </a:xfrm>
          <a:prstGeom prst="rect">
            <a:avLst/>
          </a:prstGeom>
          <a:noFill/>
        </p:spPr>
        <p:txBody>
          <a:bodyPr wrap="square" lIns="9144" tIns="0" rIns="9144" bIns="0" anchor="t">
            <a:noAutofit/>
          </a:bodyPr>
          <a:lstStyle/>
          <a:p>
            <a:pPr algn="l">
              <a:spcAft>
                <a:spcPts val="100"/>
              </a:spcAft>
            </a:pPr>
            <a:r>
              <a:rPr lang="en-GB" sz="1300" b="0" dirty="0">
                <a:solidFill>
                  <a:srgbClr val="F4F8FE"/>
                </a:solidFill>
                <a:latin typeface="Aptos"/>
                <a:cs typeface="Aptos"/>
              </a:rPr>
              <a:t>Rely on swaps like “P@ssw0rd”</a:t>
            </a:r>
          </a:p>
          <a:p>
            <a:pPr algn="l">
              <a:spcAft>
                <a:spcPts val="1100"/>
              </a:spcAft>
            </a:pPr>
            <a:r>
              <a:rPr lang="en-GB" sz="1000" b="0" dirty="0">
                <a:solidFill>
                  <a:srgbClr val="A6B8CF"/>
                </a:solidFill>
                <a:latin typeface="Aptos"/>
                <a:cs typeface="Aptos"/>
              </a:rPr>
              <a:t>(NCSC, 2021a)</a:t>
            </a:r>
          </a:p>
          <a:p>
            <a:pPr algn="l">
              <a:spcAft>
                <a:spcPts val="100"/>
              </a:spcAft>
            </a:pPr>
            <a:r>
              <a:rPr lang="en-GB" sz="1300" b="0" dirty="0">
                <a:solidFill>
                  <a:srgbClr val="F4F8FE"/>
                </a:solidFill>
                <a:latin typeface="Aptos"/>
                <a:cs typeface="Aptos"/>
              </a:rPr>
              <a:t>Reuse passwords, even tweaked ones</a:t>
            </a:r>
          </a:p>
          <a:p>
            <a:pPr algn="l">
              <a:spcAft>
                <a:spcPts val="1100"/>
              </a:spcAft>
            </a:pPr>
            <a:r>
              <a:rPr lang="en-GB" sz="1000" b="0" dirty="0">
                <a:solidFill>
                  <a:srgbClr val="A6B8CF"/>
                </a:solidFill>
                <a:latin typeface="Aptos"/>
                <a:cs typeface="Aptos"/>
              </a:rPr>
              <a:t>(Das et al., 2014)</a:t>
            </a:r>
          </a:p>
          <a:p>
            <a:pPr algn="l">
              <a:spcAft>
                <a:spcPts val="100"/>
              </a:spcAft>
            </a:pPr>
            <a:r>
              <a:rPr lang="en-GB" sz="1300" b="0" dirty="0">
                <a:solidFill>
                  <a:srgbClr val="F4F8FE"/>
                </a:solidFill>
                <a:latin typeface="Aptos"/>
                <a:cs typeface="Aptos"/>
              </a:rPr>
              <a:t>Change them on a set schedule</a:t>
            </a:r>
          </a:p>
          <a:p>
            <a:pPr algn="l">
              <a:spcAft>
                <a:spcPts val="1100"/>
              </a:spcAft>
            </a:pPr>
            <a:r>
              <a:rPr lang="en-GB" sz="1000" b="0" dirty="0">
                <a:solidFill>
                  <a:srgbClr val="A6B8CF"/>
                </a:solidFill>
                <a:latin typeface="Aptos"/>
                <a:cs typeface="Aptos"/>
              </a:rPr>
              <a:t>(NIST, 2025)</a:t>
            </a:r>
          </a:p>
          <a:p>
            <a:pPr algn="l">
              <a:spcAft>
                <a:spcPts val="100"/>
              </a:spcAft>
            </a:pPr>
            <a:r>
              <a:rPr lang="en-GB" sz="1300" b="0" dirty="0">
                <a:solidFill>
                  <a:srgbClr val="F4F8FE"/>
                </a:solidFill>
                <a:latin typeface="Aptos"/>
                <a:cs typeface="Aptos"/>
              </a:rPr>
              <a:t>Rely on a password alone</a:t>
            </a:r>
          </a:p>
          <a:p>
            <a:pPr algn="l">
              <a:spcAft>
                <a:spcPts val="1100"/>
              </a:spcAft>
            </a:pPr>
            <a:r>
              <a:rPr lang="en-GB" sz="1000" b="0" dirty="0">
                <a:solidFill>
                  <a:srgbClr val="A6B8CF"/>
                </a:solidFill>
                <a:latin typeface="Aptos"/>
                <a:cs typeface="Aptos"/>
              </a:rPr>
              <a:t>(NCSC, N.D.b)</a:t>
            </a:r>
          </a:p>
        </p:txBody>
      </p:sp>
      <p:sp>
        <p:nvSpPr>
          <p:cNvPr id="15" name="Shape 15"/>
          <p:cNvSpPr/>
          <p:nvPr/>
        </p:nvSpPr>
        <p:spPr>
          <a:xfrm>
            <a:off x="8915400" y="1719072"/>
            <a:ext cx="2633472" cy="4096512"/>
          </a:xfrm>
          <a:prstGeom prst="roundRect">
            <a:avLst>
              <a:gd name="adj" fmla="val 12000"/>
            </a:avLst>
          </a:prstGeom>
          <a:solidFill>
            <a:srgbClr val="172336"/>
          </a:solidFill>
          <a:ln>
            <a:noFill/>
          </a:ln>
        </p:spPr>
        <p:txBody>
          <a:bodyPr rtlCol="0" anchor="ctr"/>
          <a:lstStyle/>
          <a:p>
            <a:pPr algn="ctr"/>
            <a:endParaRPr/>
          </a:p>
        </p:txBody>
      </p:sp>
      <p:sp>
        <p:nvSpPr>
          <p:cNvPr id="16" name="TextBox 16"/>
          <p:cNvSpPr txBox="1"/>
          <p:nvPr/>
        </p:nvSpPr>
        <p:spPr>
          <a:xfrm>
            <a:off x="9208008" y="2011680"/>
            <a:ext cx="219456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REAL CASE</a:t>
            </a:r>
          </a:p>
        </p:txBody>
      </p:sp>
      <p:sp>
        <p:nvSpPr>
          <p:cNvPr id="17" name="TextBox 17"/>
          <p:cNvSpPr txBox="1"/>
          <p:nvPr/>
        </p:nvSpPr>
        <p:spPr>
          <a:xfrm>
            <a:off x="9208008" y="2395728"/>
            <a:ext cx="2194560" cy="365760"/>
          </a:xfrm>
          <a:prstGeom prst="rect">
            <a:avLst/>
          </a:prstGeom>
          <a:noFill/>
        </p:spPr>
        <p:txBody>
          <a:bodyPr wrap="square" lIns="9144" tIns="0" rIns="9144" bIns="0" anchor="t">
            <a:noAutofit/>
          </a:bodyPr>
          <a:lstStyle/>
          <a:p>
            <a:pPr algn="l">
              <a:spcAft>
                <a:spcPts val="0"/>
              </a:spcAft>
            </a:pPr>
            <a:r>
              <a:rPr lang="en-GB" sz="1800" b="1" dirty="0">
                <a:solidFill>
                  <a:srgbClr val="F4F8FE"/>
                </a:solidFill>
                <a:latin typeface="Aptos"/>
                <a:cs typeface="Aptos"/>
              </a:rPr>
              <a:t>23andMe</a:t>
            </a:r>
          </a:p>
        </p:txBody>
      </p:sp>
      <p:sp>
        <p:nvSpPr>
          <p:cNvPr id="18" name="TextBox 18"/>
          <p:cNvSpPr txBox="1"/>
          <p:nvPr/>
        </p:nvSpPr>
        <p:spPr>
          <a:xfrm>
            <a:off x="9208008" y="2852928"/>
            <a:ext cx="2194560" cy="548640"/>
          </a:xfrm>
          <a:prstGeom prst="rect">
            <a:avLst/>
          </a:prstGeom>
          <a:noFill/>
        </p:spPr>
        <p:txBody>
          <a:bodyPr wrap="square" lIns="9144" tIns="0" rIns="9144" bIns="0" anchor="t">
            <a:noAutofit/>
          </a:bodyPr>
          <a:lstStyle/>
          <a:p>
            <a:pPr algn="l">
              <a:spcAft>
                <a:spcPts val="0"/>
              </a:spcAft>
            </a:pPr>
            <a:r>
              <a:rPr lang="en-GB" sz="2900" b="1" dirty="0">
                <a:solidFill>
                  <a:srgbClr val="3DCCC0"/>
                </a:solidFill>
                <a:latin typeface="Aptos"/>
                <a:cs typeface="Aptos"/>
              </a:rPr>
              <a:t>£2.31m</a:t>
            </a:r>
          </a:p>
        </p:txBody>
      </p:sp>
      <p:sp>
        <p:nvSpPr>
          <p:cNvPr id="19" name="TextBox 19"/>
          <p:cNvSpPr txBox="1"/>
          <p:nvPr/>
        </p:nvSpPr>
        <p:spPr>
          <a:xfrm>
            <a:off x="9208008" y="3401568"/>
            <a:ext cx="2194560" cy="27432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fine from the ICO</a:t>
            </a:r>
          </a:p>
        </p:txBody>
      </p:sp>
      <p:sp>
        <p:nvSpPr>
          <p:cNvPr id="20" name="TextBox 20"/>
          <p:cNvSpPr txBox="1"/>
          <p:nvPr/>
        </p:nvSpPr>
        <p:spPr>
          <a:xfrm>
            <a:off x="9208008" y="3886200"/>
            <a:ext cx="2148840" cy="1371600"/>
          </a:xfrm>
          <a:prstGeom prst="rect">
            <a:avLst/>
          </a:prstGeom>
          <a:noFill/>
        </p:spPr>
        <p:txBody>
          <a:bodyPr wrap="square" lIns="9144" tIns="0" rIns="9144" bIns="0" anchor="t">
            <a:noAutofit/>
          </a:bodyPr>
          <a:lstStyle/>
          <a:p>
            <a:pPr algn="l">
              <a:spcAft>
                <a:spcPts val="0"/>
              </a:spcAft>
            </a:pPr>
            <a:r>
              <a:rPr lang="en-GB" sz="1200" b="0" dirty="0">
                <a:solidFill>
                  <a:srgbClr val="F4F8FE"/>
                </a:solidFill>
                <a:latin typeface="Aptos"/>
                <a:cs typeface="Aptos"/>
              </a:rPr>
              <a:t>An attacker used logins stolen in other breaches to reach 155,592 UK people's data.</a:t>
            </a:r>
          </a:p>
        </p:txBody>
      </p:sp>
      <p:sp>
        <p:nvSpPr>
          <p:cNvPr id="21" name="TextBox 21"/>
          <p:cNvSpPr txBox="1"/>
          <p:nvPr/>
        </p:nvSpPr>
        <p:spPr>
          <a:xfrm>
            <a:off x="9208008" y="4983480"/>
            <a:ext cx="2194560" cy="201168"/>
          </a:xfrm>
          <a:prstGeom prst="rect">
            <a:avLst/>
          </a:prstGeom>
          <a:noFill/>
        </p:spPr>
        <p:txBody>
          <a:bodyPr wrap="square" lIns="9144" tIns="0" rIns="9144" bIns="0" anchor="t">
            <a:noAutofit/>
          </a:bodyPr>
          <a:lstStyle/>
          <a:p>
            <a:pPr algn="l">
              <a:spcAft>
                <a:spcPts val="0"/>
              </a:spcAft>
            </a:pPr>
            <a:r>
              <a:rPr lang="en-GB" sz="1000" b="0" dirty="0">
                <a:solidFill>
                  <a:srgbClr val="A6B8CF"/>
                </a:solidFill>
                <a:latin typeface="Aptos"/>
                <a:cs typeface="Aptos"/>
              </a:rPr>
              <a:t>(ICO, 2025)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MP4   /   HAND-OVER   /   MARCUS</a:t>
            </a:r>
          </a:p>
        </p:txBody>
      </p:sp>
      <p:sp>
        <p:nvSpPr>
          <p:cNvPr id="5" name="Shape 5"/>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6" name="TextBox 6"/>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CYBER SECURITY AWARENESS</a:t>
            </a:r>
          </a:p>
        </p:txBody>
      </p:sp>
      <p:sp>
        <p:nvSpPr>
          <p:cNvPr id="7" name="TextBox 7"/>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18</a:t>
            </a:r>
          </a:p>
        </p:txBody>
      </p:sp>
      <p:sp>
        <p:nvSpPr>
          <p:cNvPr id="8" name="Shape 8"/>
          <p:cNvSpPr/>
          <p:nvPr/>
        </p:nvSpPr>
        <p:spPr>
          <a:xfrm>
            <a:off x="2441448" y="1828800"/>
            <a:ext cx="7315200" cy="3017520"/>
          </a:xfrm>
          <a:prstGeom prst="roundRect">
            <a:avLst>
              <a:gd name="adj" fmla="val 12000"/>
            </a:avLst>
          </a:prstGeom>
          <a:solidFill>
            <a:srgbClr val="172336"/>
          </a:solidFill>
          <a:ln>
            <a:noFill/>
          </a:ln>
        </p:spPr>
        <p:txBody>
          <a:bodyPr rtlCol="0" anchor="ctr"/>
          <a:lstStyle/>
          <a:p>
            <a:pPr algn="ctr"/>
            <a:endParaRPr/>
          </a:p>
        </p:txBody>
      </p:sp>
      <p:sp>
        <p:nvSpPr>
          <p:cNvPr id="9" name="TextBox 9"/>
          <p:cNvSpPr txBox="1"/>
          <p:nvPr/>
        </p:nvSpPr>
        <p:spPr>
          <a:xfrm>
            <a:off x="2441448" y="2286000"/>
            <a:ext cx="7315200" cy="320040"/>
          </a:xfrm>
          <a:prstGeom prst="rect">
            <a:avLst/>
          </a:prstGeom>
          <a:noFill/>
        </p:spPr>
        <p:txBody>
          <a:bodyPr wrap="square" lIns="9144" tIns="0" rIns="9144" bIns="0" anchor="t">
            <a:noAutofit/>
          </a:bodyPr>
          <a:lstStyle/>
          <a:p>
            <a:pPr algn="ctr">
              <a:spcAft>
                <a:spcPts val="0"/>
              </a:spcAft>
            </a:pPr>
            <a:r>
              <a:rPr lang="en-GB" sz="1300" b="1" dirty="0">
                <a:solidFill>
                  <a:srgbClr val="3DCCC0"/>
                </a:solidFill>
                <a:latin typeface="Aptos"/>
                <a:cs typeface="Aptos"/>
              </a:rPr>
              <a:t>UP NEXT</a:t>
            </a:r>
          </a:p>
        </p:txBody>
      </p:sp>
      <p:sp>
        <p:nvSpPr>
          <p:cNvPr id="10" name="TextBox 10"/>
          <p:cNvSpPr txBox="1"/>
          <p:nvPr/>
        </p:nvSpPr>
        <p:spPr>
          <a:xfrm>
            <a:off x="2441448" y="2743200"/>
            <a:ext cx="7315200" cy="822960"/>
          </a:xfrm>
          <a:prstGeom prst="rect">
            <a:avLst/>
          </a:prstGeom>
          <a:noFill/>
        </p:spPr>
        <p:txBody>
          <a:bodyPr wrap="square" lIns="9144" tIns="0" rIns="9144" bIns="0" anchor="t">
            <a:noAutofit/>
          </a:bodyPr>
          <a:lstStyle/>
          <a:p>
            <a:pPr algn="ctr">
              <a:spcAft>
                <a:spcPts val="0"/>
              </a:spcAft>
            </a:pPr>
            <a:r>
              <a:rPr lang="en-GB" sz="4000" b="1" dirty="0">
                <a:solidFill>
                  <a:srgbClr val="F4F8FE"/>
                </a:solidFill>
                <a:latin typeface="Aptos"/>
                <a:cs typeface="Aptos"/>
              </a:rPr>
              <a:t>Nah'Kajsha Reid</a:t>
            </a:r>
          </a:p>
        </p:txBody>
      </p:sp>
      <p:sp>
        <p:nvSpPr>
          <p:cNvPr id="11" name="TextBox 11"/>
          <p:cNvSpPr txBox="1"/>
          <p:nvPr/>
        </p:nvSpPr>
        <p:spPr>
          <a:xfrm>
            <a:off x="2441448" y="3794760"/>
            <a:ext cx="7315200" cy="411480"/>
          </a:xfrm>
          <a:prstGeom prst="rect">
            <a:avLst/>
          </a:prstGeom>
          <a:noFill/>
        </p:spPr>
        <p:txBody>
          <a:bodyPr wrap="square" lIns="9144" tIns="0" rIns="9144" bIns="0" anchor="t">
            <a:noAutofit/>
          </a:bodyPr>
          <a:lstStyle/>
          <a:p>
            <a:pPr algn="ctr">
              <a:spcAft>
                <a:spcPts val="0"/>
              </a:spcAft>
            </a:pPr>
            <a:r>
              <a:rPr lang="en-GB" sz="1600" b="0" dirty="0">
                <a:solidFill>
                  <a:srgbClr val="A6B8CF"/>
                </a:solidFill>
                <a:latin typeface="Aptos"/>
                <a:cs typeface="Aptos"/>
              </a:rPr>
              <a:t>Our work, running live  ·  Live demo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LIVE DEMO   /   NAH</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Live demo: the pizza program running</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LIVE DEMO (PRE-RECORDED)</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19</a:t>
            </a:r>
          </a:p>
        </p:txBody>
      </p:sp>
      <p:pic>
        <p:nvPicPr>
          <p:cNvPr id="9" name="MP2_Demo_Nah">
            <a:hlinkClick r:id="" action="ppaction://media"/>
          </p:cNvPr>
          <p:cNvPicPr>
            <a:picLocks noChangeAspect="1"/>
          </p:cNvPicPr>
          <p:nvPr>
            <a:videoFile r:link="rIdV1"/>
            <p:extLst>
              <p:ext uri="{DAA4B4D4-6D71-4841-9C94-3DA0FCFD1F59}">
                <p14:media xmlns:p14="http://schemas.microsoft.com/office/powerpoint/2010/main" r:embed="rIdM1"/>
              </p:ext>
            </p:extLst>
          </p:nvPr>
        </p:nvPicPr>
        <p:blipFill>
          <a:blip r:embed="rIdP1"/>
          <a:stretch>
            <a:fillRect/>
          </a:stretch>
        </p:blipFill>
        <p:spPr>
          <a:xfrm>
            <a:off x="1819656" y="1572768"/>
            <a:ext cx="8558784" cy="4573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LIVE DEMO   /   HAND-OVER   /   NAH</a:t>
            </a:r>
          </a:p>
        </p:txBody>
      </p:sp>
      <p:sp>
        <p:nvSpPr>
          <p:cNvPr id="5" name="Shape 5"/>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6" name="TextBox 6"/>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HAND-OVER</a:t>
            </a:r>
          </a:p>
        </p:txBody>
      </p:sp>
      <p:sp>
        <p:nvSpPr>
          <p:cNvPr id="7" name="TextBox 7"/>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20</a:t>
            </a:r>
          </a:p>
        </p:txBody>
      </p:sp>
      <p:sp>
        <p:nvSpPr>
          <p:cNvPr id="8" name="Shape 8"/>
          <p:cNvSpPr/>
          <p:nvPr/>
        </p:nvSpPr>
        <p:spPr>
          <a:xfrm>
            <a:off x="2441448" y="1828800"/>
            <a:ext cx="7315200" cy="3017520"/>
          </a:xfrm>
          <a:prstGeom prst="roundRect">
            <a:avLst>
              <a:gd name="adj" fmla="val 12000"/>
            </a:avLst>
          </a:prstGeom>
          <a:solidFill>
            <a:srgbClr val="172336"/>
          </a:solidFill>
          <a:ln>
            <a:noFill/>
          </a:ln>
        </p:spPr>
        <p:txBody>
          <a:bodyPr rtlCol="0" anchor="ctr"/>
          <a:lstStyle/>
          <a:p>
            <a:pPr algn="ctr"/>
            <a:endParaRPr/>
          </a:p>
        </p:txBody>
      </p:sp>
      <p:sp>
        <p:nvSpPr>
          <p:cNvPr id="9" name="TextBox 9"/>
          <p:cNvSpPr txBox="1"/>
          <p:nvPr/>
        </p:nvSpPr>
        <p:spPr>
          <a:xfrm>
            <a:off x="2441448" y="2286000"/>
            <a:ext cx="7315200" cy="320040"/>
          </a:xfrm>
          <a:prstGeom prst="rect">
            <a:avLst/>
          </a:prstGeom>
          <a:noFill/>
        </p:spPr>
        <p:txBody>
          <a:bodyPr wrap="square" lIns="9144" tIns="0" rIns="9144" bIns="0" anchor="t">
            <a:noAutofit/>
          </a:bodyPr>
          <a:lstStyle/>
          <a:p>
            <a:pPr algn="ctr">
              <a:spcAft>
                <a:spcPts val="0"/>
              </a:spcAft>
            </a:pPr>
            <a:r>
              <a:rPr lang="en-GB" sz="1300" b="1" dirty="0">
                <a:solidFill>
                  <a:srgbClr val="3DCCC0"/>
                </a:solidFill>
                <a:latin typeface="Aptos"/>
                <a:cs typeface="Aptos"/>
              </a:rPr>
              <a:t>UP NEXT</a:t>
            </a:r>
          </a:p>
        </p:txBody>
      </p:sp>
      <p:sp>
        <p:nvSpPr>
          <p:cNvPr id="10" name="TextBox 10"/>
          <p:cNvSpPr txBox="1"/>
          <p:nvPr/>
        </p:nvSpPr>
        <p:spPr>
          <a:xfrm>
            <a:off x="2441448" y="2743200"/>
            <a:ext cx="7315200" cy="822960"/>
          </a:xfrm>
          <a:prstGeom prst="rect">
            <a:avLst/>
          </a:prstGeom>
          <a:noFill/>
        </p:spPr>
        <p:txBody>
          <a:bodyPr wrap="square" lIns="9144" tIns="0" rIns="9144" bIns="0" anchor="t">
            <a:noAutofit/>
          </a:bodyPr>
          <a:lstStyle/>
          <a:p>
            <a:pPr algn="ctr">
              <a:spcAft>
                <a:spcPts val="0"/>
              </a:spcAft>
            </a:pPr>
            <a:r>
              <a:rPr lang="en-GB" sz="4000" b="1" dirty="0">
                <a:solidFill>
                  <a:srgbClr val="F4F8FE"/>
                </a:solidFill>
                <a:latin typeface="Aptos"/>
                <a:cs typeface="Aptos"/>
              </a:rPr>
              <a:t>Charlie Broughton</a:t>
            </a:r>
          </a:p>
        </p:txBody>
      </p:sp>
      <p:sp>
        <p:nvSpPr>
          <p:cNvPr id="11" name="TextBox 11"/>
          <p:cNvSpPr txBox="1"/>
          <p:nvPr/>
        </p:nvSpPr>
        <p:spPr>
          <a:xfrm>
            <a:off x="2441448" y="3794760"/>
            <a:ext cx="7315200" cy="411480"/>
          </a:xfrm>
          <a:prstGeom prst="rect">
            <a:avLst/>
          </a:prstGeom>
          <a:noFill/>
        </p:spPr>
        <p:txBody>
          <a:bodyPr wrap="square" lIns="9144" tIns="0" rIns="9144" bIns="0" anchor="t">
            <a:noAutofit/>
          </a:bodyPr>
          <a:lstStyle/>
          <a:p>
            <a:pPr algn="ctr">
              <a:spcAft>
                <a:spcPts val="0"/>
              </a:spcAft>
            </a:pPr>
            <a:r>
              <a:rPr lang="en-GB" sz="1600" b="0" dirty="0">
                <a:solidFill>
                  <a:srgbClr val="A6B8CF"/>
                </a:solidFill>
                <a:latin typeface="Aptos"/>
                <a:cs typeface="Aptos"/>
              </a:rPr>
              <a:t>What we learned  ·  Conclusion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222"/>
        </a:solidFill>
        <a:effectLst/>
      </p:bgPr>
    </p:bg>
    <p:spTree>
      <p:nvGrpSpPr>
        <p:cNvPr id="1" name=""/>
        <p:cNvGrpSpPr/>
        <p:nvPr/>
      </p:nvGrpSpPr>
      <p:grpSpPr>
        <a:xfrm>
          <a:off x="0" y="0"/>
          <a:ext cx="0" cy="0"/>
          <a:chOff x="0" y="0"/>
          <a:chExt cx="0" cy="0"/>
        </a:xfrm>
      </p:grpSpPr>
      <p:sp>
        <p:nvSpPr>
          <p:cNvPr id="3" name="Shape 3"/>
          <p:cNvSpPr/>
          <p:nvPr/>
        </p:nvSpPr>
        <p:spPr>
          <a:xfrm>
            <a:off x="502920" y="411480"/>
            <a:ext cx="64008" cy="320040"/>
          </a:xfrm>
          <a:prstGeom prst="rect">
            <a:avLst/>
          </a:prstGeom>
          <a:solidFill>
            <a:srgbClr val="3DCCC0"/>
          </a:solidFill>
          <a:ln>
            <a:noFill/>
          </a:ln>
        </p:spPr>
        <p:txBody>
          <a:bodyPr rtlCol="0" anchor="ctr"/>
          <a:lstStyle/>
          <a:p>
            <a:pPr algn="ctr"/>
            <a:endParaRPr/>
          </a:p>
        </p:txBody>
      </p:sp>
      <p:sp>
        <p:nvSpPr>
          <p:cNvPr id="4" name="TextBox 4"/>
          <p:cNvSpPr txBox="1"/>
          <p:nvPr/>
        </p:nvSpPr>
        <p:spPr>
          <a:xfrm>
            <a:off x="704088" y="393192"/>
            <a:ext cx="5486400" cy="292608"/>
          </a:xfrm>
          <a:prstGeom prst="rect">
            <a:avLst/>
          </a:prstGeom>
          <a:noFill/>
        </p:spPr>
        <p:txBody>
          <a:bodyPr wrap="square" lIns="9144" tIns="0" rIns="9144" bIns="0" anchor="t">
            <a:noAutofit/>
          </a:bodyPr>
          <a:lstStyle/>
          <a:p>
            <a:pPr algn="l">
              <a:spcAft>
                <a:spcPts val="0"/>
              </a:spcAft>
            </a:pPr>
            <a:r>
              <a:rPr lang="en-GB" sz="1200" b="1" dirty="0">
                <a:solidFill>
                  <a:srgbClr val="3DCCC0"/>
                </a:solidFill>
                <a:latin typeface="Aptos"/>
                <a:cs typeface="Aptos"/>
              </a:rPr>
              <a:t>CONCLUSION   /   FOUR PROJECTS, ONE TEAM   /   CHARLIE</a:t>
            </a:r>
          </a:p>
        </p:txBody>
      </p:sp>
      <p:sp>
        <p:nvSpPr>
          <p:cNvPr id="5" name="TextBox 5"/>
          <p:cNvSpPr txBox="1"/>
          <p:nvPr/>
        </p:nvSpPr>
        <p:spPr>
          <a:xfrm>
            <a:off x="566928" y="859536"/>
            <a:ext cx="11201400" cy="548640"/>
          </a:xfrm>
          <a:prstGeom prst="rect">
            <a:avLst/>
          </a:prstGeom>
          <a:noFill/>
        </p:spPr>
        <p:txBody>
          <a:bodyPr wrap="square" lIns="9144" tIns="0" rIns="9144" bIns="0" anchor="t">
            <a:noAutofit/>
          </a:bodyPr>
          <a:lstStyle/>
          <a:p>
            <a:pPr algn="l">
              <a:spcAft>
                <a:spcPts val="0"/>
              </a:spcAft>
            </a:pPr>
            <a:r>
              <a:rPr lang="en-GB" sz="2700" b="1" dirty="0">
                <a:solidFill>
                  <a:srgbClr val="F4F8FE"/>
                </a:solidFill>
                <a:latin typeface="Aptos"/>
                <a:cs typeface="Aptos"/>
              </a:rPr>
              <a:t>Conclusion: what we learned</a:t>
            </a:r>
          </a:p>
        </p:txBody>
      </p:sp>
      <p:sp>
        <p:nvSpPr>
          <p:cNvPr id="6" name="Shape 6"/>
          <p:cNvSpPr/>
          <p:nvPr/>
        </p:nvSpPr>
        <p:spPr>
          <a:xfrm>
            <a:off x="585216" y="6473952"/>
            <a:ext cx="11018520" cy="10973"/>
          </a:xfrm>
          <a:prstGeom prst="rect">
            <a:avLst/>
          </a:prstGeom>
          <a:solidFill>
            <a:srgbClr val="314458"/>
          </a:solidFill>
          <a:ln>
            <a:noFill/>
          </a:ln>
        </p:spPr>
        <p:txBody>
          <a:bodyPr rtlCol="0" anchor="ctr"/>
          <a:lstStyle/>
          <a:p>
            <a:pPr algn="ctr"/>
            <a:endParaRPr/>
          </a:p>
        </p:txBody>
      </p:sp>
      <p:sp>
        <p:nvSpPr>
          <p:cNvPr id="7" name="TextBox 7"/>
          <p:cNvSpPr txBox="1"/>
          <p:nvPr/>
        </p:nvSpPr>
        <p:spPr>
          <a:xfrm>
            <a:off x="594360" y="6547104"/>
            <a:ext cx="9144000" cy="182880"/>
          </a:xfrm>
          <a:prstGeom prst="rect">
            <a:avLst/>
          </a:prstGeom>
          <a:noFill/>
        </p:spPr>
        <p:txBody>
          <a:bodyPr wrap="square" lIns="9144" tIns="0" rIns="9144" bIns="0" anchor="t">
            <a:noAutofit/>
          </a:bodyPr>
          <a:lstStyle/>
          <a:p>
            <a:pPr algn="l">
              <a:spcAft>
                <a:spcPts val="0"/>
              </a:spcAft>
            </a:pPr>
            <a:r>
              <a:rPr lang="en-GB" sz="900" b="0" dirty="0">
                <a:solidFill>
                  <a:srgbClr val="A6B8CF"/>
                </a:solidFill>
                <a:latin typeface="Aptos"/>
                <a:cs typeface="Aptos"/>
              </a:rPr>
              <a:t>THE AVENGERS   •   CONCLUSION</a:t>
            </a:r>
          </a:p>
        </p:txBody>
      </p:sp>
      <p:sp>
        <p:nvSpPr>
          <p:cNvPr id="8" name="TextBox 8"/>
          <p:cNvSpPr txBox="1"/>
          <p:nvPr/>
        </p:nvSpPr>
        <p:spPr>
          <a:xfrm>
            <a:off x="11018520" y="6510528"/>
            <a:ext cx="502920" cy="210312"/>
          </a:xfrm>
          <a:prstGeom prst="rect">
            <a:avLst/>
          </a:prstGeom>
          <a:noFill/>
        </p:spPr>
        <p:txBody>
          <a:bodyPr wrap="square" lIns="9144" tIns="0" rIns="9144" bIns="0" anchor="t">
            <a:noAutofit/>
          </a:bodyPr>
          <a:lstStyle/>
          <a:p>
            <a:pPr algn="r">
              <a:spcAft>
                <a:spcPts val="0"/>
              </a:spcAft>
            </a:pPr>
            <a:r>
              <a:rPr lang="en-GB" sz="1100" b="1" dirty="0">
                <a:solidFill>
                  <a:srgbClr val="3DCCC0"/>
                </a:solidFill>
                <a:latin typeface="Aptos"/>
                <a:cs typeface="Aptos"/>
              </a:rPr>
              <a:t>21</a:t>
            </a:r>
          </a:p>
        </p:txBody>
      </p:sp>
      <p:sp>
        <p:nvSpPr>
          <p:cNvPr id="9" name="Shape 9"/>
          <p:cNvSpPr/>
          <p:nvPr/>
        </p:nvSpPr>
        <p:spPr>
          <a:xfrm>
            <a:off x="557784" y="1719072"/>
            <a:ext cx="2633472" cy="2103120"/>
          </a:xfrm>
          <a:prstGeom prst="roundRect">
            <a:avLst>
              <a:gd name="adj" fmla="val 12000"/>
            </a:avLst>
          </a:prstGeom>
          <a:solidFill>
            <a:srgbClr val="172336"/>
          </a:solidFill>
          <a:ln>
            <a:noFill/>
          </a:ln>
        </p:spPr>
        <p:txBody>
          <a:bodyPr rtlCol="0" anchor="ctr"/>
          <a:lstStyle/>
          <a:p>
            <a:pPr algn="ctr"/>
            <a:endParaRPr/>
          </a:p>
        </p:txBody>
      </p:sp>
      <p:sp>
        <p:nvSpPr>
          <p:cNvPr id="10" name="TextBox 10"/>
          <p:cNvSpPr txBox="1"/>
          <p:nvPr/>
        </p:nvSpPr>
        <p:spPr>
          <a:xfrm>
            <a:off x="832104" y="1965960"/>
            <a:ext cx="210312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01</a:t>
            </a:r>
          </a:p>
        </p:txBody>
      </p:sp>
      <p:sp>
        <p:nvSpPr>
          <p:cNvPr id="11" name="TextBox 11"/>
          <p:cNvSpPr txBox="1"/>
          <p:nvPr/>
        </p:nvSpPr>
        <p:spPr>
          <a:xfrm>
            <a:off x="832104" y="2395728"/>
            <a:ext cx="2103120" cy="36576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Computing</a:t>
            </a:r>
          </a:p>
        </p:txBody>
      </p:sp>
      <p:sp>
        <p:nvSpPr>
          <p:cNvPr id="12" name="TextBox 12"/>
          <p:cNvSpPr txBox="1"/>
          <p:nvPr/>
        </p:nvSpPr>
        <p:spPr>
          <a:xfrm>
            <a:off x="832104" y="2788920"/>
            <a:ext cx="2148840" cy="91440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Matched workstation hardware to role requirements and budgets using BuildCores and SQL</a:t>
            </a:r>
          </a:p>
        </p:txBody>
      </p:sp>
      <p:sp>
        <p:nvSpPr>
          <p:cNvPr id="13" name="Shape 13"/>
          <p:cNvSpPr/>
          <p:nvPr/>
        </p:nvSpPr>
        <p:spPr>
          <a:xfrm>
            <a:off x="3337560" y="1719072"/>
            <a:ext cx="2633472" cy="2103120"/>
          </a:xfrm>
          <a:prstGeom prst="roundRect">
            <a:avLst>
              <a:gd name="adj" fmla="val 12000"/>
            </a:avLst>
          </a:prstGeom>
          <a:solidFill>
            <a:srgbClr val="172336"/>
          </a:solidFill>
          <a:ln>
            <a:noFill/>
          </a:ln>
        </p:spPr>
        <p:txBody>
          <a:bodyPr rtlCol="0" anchor="ctr"/>
          <a:lstStyle/>
          <a:p>
            <a:pPr algn="ctr"/>
            <a:endParaRPr/>
          </a:p>
        </p:txBody>
      </p:sp>
      <p:sp>
        <p:nvSpPr>
          <p:cNvPr id="14" name="TextBox 14"/>
          <p:cNvSpPr txBox="1"/>
          <p:nvPr/>
        </p:nvSpPr>
        <p:spPr>
          <a:xfrm>
            <a:off x="3611880" y="1965960"/>
            <a:ext cx="210312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02</a:t>
            </a:r>
          </a:p>
        </p:txBody>
      </p:sp>
      <p:sp>
        <p:nvSpPr>
          <p:cNvPr id="15" name="TextBox 15"/>
          <p:cNvSpPr txBox="1"/>
          <p:nvPr/>
        </p:nvSpPr>
        <p:spPr>
          <a:xfrm>
            <a:off x="3611880" y="2395728"/>
            <a:ext cx="2103120" cy="36576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Pizza program</a:t>
            </a:r>
          </a:p>
        </p:txBody>
      </p:sp>
      <p:sp>
        <p:nvSpPr>
          <p:cNvPr id="16" name="TextBox 16"/>
          <p:cNvSpPr txBox="1"/>
          <p:nvPr/>
        </p:nvSpPr>
        <p:spPr>
          <a:xfrm>
            <a:off x="3611880" y="2788920"/>
            <a:ext cx="2148840" cy="91440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Improved the program through versions and testing, fixing a rounding bug</a:t>
            </a:r>
          </a:p>
        </p:txBody>
      </p:sp>
      <p:sp>
        <p:nvSpPr>
          <p:cNvPr id="17" name="Shape 17"/>
          <p:cNvSpPr/>
          <p:nvPr/>
        </p:nvSpPr>
        <p:spPr>
          <a:xfrm>
            <a:off x="6117336" y="1719072"/>
            <a:ext cx="2633472" cy="2103120"/>
          </a:xfrm>
          <a:prstGeom prst="roundRect">
            <a:avLst>
              <a:gd name="adj" fmla="val 12000"/>
            </a:avLst>
          </a:prstGeom>
          <a:solidFill>
            <a:srgbClr val="172336"/>
          </a:solidFill>
          <a:ln>
            <a:noFill/>
          </a:ln>
        </p:spPr>
        <p:txBody>
          <a:bodyPr rtlCol="0" anchor="ctr"/>
          <a:lstStyle/>
          <a:p>
            <a:pPr algn="ctr"/>
            <a:endParaRPr/>
          </a:p>
        </p:txBody>
      </p:sp>
      <p:sp>
        <p:nvSpPr>
          <p:cNvPr id="18" name="TextBox 18"/>
          <p:cNvSpPr txBox="1"/>
          <p:nvPr/>
        </p:nvSpPr>
        <p:spPr>
          <a:xfrm>
            <a:off x="6391656" y="1965960"/>
            <a:ext cx="210312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03</a:t>
            </a:r>
          </a:p>
        </p:txBody>
      </p:sp>
      <p:sp>
        <p:nvSpPr>
          <p:cNvPr id="19" name="TextBox 19"/>
          <p:cNvSpPr txBox="1"/>
          <p:nvPr/>
        </p:nvSpPr>
        <p:spPr>
          <a:xfrm>
            <a:off x="6391656" y="2395728"/>
            <a:ext cx="2103120" cy="36576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Networking</a:t>
            </a:r>
          </a:p>
        </p:txBody>
      </p:sp>
      <p:sp>
        <p:nvSpPr>
          <p:cNvPr id="20" name="TextBox 20"/>
          <p:cNvSpPr txBox="1"/>
          <p:nvPr/>
        </p:nvSpPr>
        <p:spPr>
          <a:xfrm>
            <a:off x="6391656" y="2788920"/>
            <a:ext cx="2148840" cy="91440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Designed and simulated the office network, passing all eight tests</a:t>
            </a:r>
          </a:p>
        </p:txBody>
      </p:sp>
      <p:sp>
        <p:nvSpPr>
          <p:cNvPr id="21" name="Shape 21"/>
          <p:cNvSpPr/>
          <p:nvPr/>
        </p:nvSpPr>
        <p:spPr>
          <a:xfrm>
            <a:off x="8897112" y="1719072"/>
            <a:ext cx="2633472" cy="2103120"/>
          </a:xfrm>
          <a:prstGeom prst="roundRect">
            <a:avLst>
              <a:gd name="adj" fmla="val 12000"/>
            </a:avLst>
          </a:prstGeom>
          <a:solidFill>
            <a:srgbClr val="172336"/>
          </a:solidFill>
          <a:ln>
            <a:noFill/>
          </a:ln>
        </p:spPr>
        <p:txBody>
          <a:bodyPr rtlCol="0" anchor="ctr"/>
          <a:lstStyle/>
          <a:p>
            <a:pPr algn="ctr"/>
            <a:endParaRPr/>
          </a:p>
        </p:txBody>
      </p:sp>
      <p:sp>
        <p:nvSpPr>
          <p:cNvPr id="22" name="TextBox 22"/>
          <p:cNvSpPr txBox="1"/>
          <p:nvPr/>
        </p:nvSpPr>
        <p:spPr>
          <a:xfrm>
            <a:off x="9171432" y="1965960"/>
            <a:ext cx="2103120" cy="365760"/>
          </a:xfrm>
          <a:prstGeom prst="rect">
            <a:avLst/>
          </a:prstGeom>
          <a:noFill/>
        </p:spPr>
        <p:txBody>
          <a:bodyPr wrap="square" lIns="9144" tIns="0" rIns="9144" bIns="0" anchor="t">
            <a:noAutofit/>
          </a:bodyPr>
          <a:lstStyle/>
          <a:p>
            <a:pPr algn="l">
              <a:spcAft>
                <a:spcPts val="0"/>
              </a:spcAft>
            </a:pPr>
            <a:r>
              <a:rPr lang="en-GB" sz="1700" b="1" dirty="0">
                <a:solidFill>
                  <a:srgbClr val="3DCCC0"/>
                </a:solidFill>
                <a:latin typeface="Aptos"/>
                <a:cs typeface="Aptos"/>
              </a:rPr>
              <a:t>04</a:t>
            </a:r>
          </a:p>
        </p:txBody>
      </p:sp>
      <p:sp>
        <p:nvSpPr>
          <p:cNvPr id="23" name="TextBox 23"/>
          <p:cNvSpPr txBox="1"/>
          <p:nvPr/>
        </p:nvSpPr>
        <p:spPr>
          <a:xfrm>
            <a:off x="9171432" y="2395728"/>
            <a:ext cx="2103120" cy="365760"/>
          </a:xfrm>
          <a:prstGeom prst="rect">
            <a:avLst/>
          </a:prstGeom>
          <a:noFill/>
        </p:spPr>
        <p:txBody>
          <a:bodyPr wrap="square" lIns="9144" tIns="0" rIns="9144" bIns="0" anchor="t">
            <a:noAutofit/>
          </a:bodyPr>
          <a:lstStyle/>
          <a:p>
            <a:pPr algn="l">
              <a:spcAft>
                <a:spcPts val="0"/>
              </a:spcAft>
            </a:pPr>
            <a:r>
              <a:rPr lang="en-GB" sz="1500" b="1" dirty="0">
                <a:solidFill>
                  <a:srgbClr val="F4F8FE"/>
                </a:solidFill>
                <a:latin typeface="Aptos"/>
                <a:cs typeface="Aptos"/>
              </a:rPr>
              <a:t>Cybersecurity</a:t>
            </a:r>
          </a:p>
        </p:txBody>
      </p:sp>
      <p:sp>
        <p:nvSpPr>
          <p:cNvPr id="24" name="TextBox 24"/>
          <p:cNvSpPr txBox="1"/>
          <p:nvPr/>
        </p:nvSpPr>
        <p:spPr>
          <a:xfrm>
            <a:off x="9171432" y="2788920"/>
            <a:ext cx="2148840" cy="91440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Explained practical ways to protect accounts, devices and everyday users</a:t>
            </a:r>
          </a:p>
        </p:txBody>
      </p:sp>
      <p:sp>
        <p:nvSpPr>
          <p:cNvPr id="25" name="Shape 25"/>
          <p:cNvSpPr/>
          <p:nvPr/>
        </p:nvSpPr>
        <p:spPr>
          <a:xfrm>
            <a:off x="557784" y="3986784"/>
            <a:ext cx="6720840" cy="1828800"/>
          </a:xfrm>
          <a:prstGeom prst="roundRect">
            <a:avLst>
              <a:gd name="adj" fmla="val 12000"/>
            </a:avLst>
          </a:prstGeom>
          <a:solidFill>
            <a:srgbClr val="172336"/>
          </a:solidFill>
          <a:ln>
            <a:noFill/>
          </a:ln>
        </p:spPr>
        <p:txBody>
          <a:bodyPr rtlCol="0" anchor="ctr"/>
          <a:lstStyle/>
          <a:p>
            <a:pPr algn="ctr"/>
            <a:endParaRPr/>
          </a:p>
        </p:txBody>
      </p:sp>
      <p:sp>
        <p:nvSpPr>
          <p:cNvPr id="26" name="TextBox 26"/>
          <p:cNvSpPr txBox="1"/>
          <p:nvPr/>
        </p:nvSpPr>
        <p:spPr>
          <a:xfrm>
            <a:off x="868680" y="4251960"/>
            <a:ext cx="612648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AI AND VERIFICATION</a:t>
            </a:r>
          </a:p>
        </p:txBody>
      </p:sp>
      <p:sp>
        <p:nvSpPr>
          <p:cNvPr id="27" name="TextBox 27"/>
          <p:cNvSpPr txBox="1"/>
          <p:nvPr/>
        </p:nvSpPr>
        <p:spPr>
          <a:xfrm>
            <a:off x="868680" y="4645152"/>
            <a:ext cx="6126480" cy="1005840"/>
          </a:xfrm>
          <a:prstGeom prst="rect">
            <a:avLst/>
          </a:prstGeom>
          <a:noFill/>
        </p:spPr>
        <p:txBody>
          <a:bodyPr wrap="square" lIns="9144" tIns="0" rIns="9144" bIns="0" anchor="t">
            <a:noAutofit/>
          </a:bodyPr>
          <a:lstStyle/>
          <a:p>
            <a:pPr algn="l">
              <a:spcAft>
                <a:spcPts val="0"/>
              </a:spcAft>
            </a:pPr>
            <a:r>
              <a:rPr lang="en-GB" sz="1500" b="0" dirty="0">
                <a:solidFill>
                  <a:srgbClr val="F4F8FE"/>
                </a:solidFill>
                <a:latin typeface="Aptos"/>
                <a:cs typeface="Aptos"/>
              </a:rPr>
              <a:t>AI can support learning and problem-solving, but its output must be checked against requirements, tests and reliable sources.</a:t>
            </a:r>
          </a:p>
        </p:txBody>
      </p:sp>
      <p:sp>
        <p:nvSpPr>
          <p:cNvPr id="28" name="Shape 28"/>
          <p:cNvSpPr/>
          <p:nvPr/>
        </p:nvSpPr>
        <p:spPr>
          <a:xfrm>
            <a:off x="7498080" y="3986784"/>
            <a:ext cx="4032504" cy="1828800"/>
          </a:xfrm>
          <a:prstGeom prst="roundRect">
            <a:avLst>
              <a:gd name="adj" fmla="val 12000"/>
            </a:avLst>
          </a:prstGeom>
          <a:solidFill>
            <a:srgbClr val="172336"/>
          </a:solidFill>
          <a:ln>
            <a:noFill/>
          </a:ln>
        </p:spPr>
        <p:txBody>
          <a:bodyPr rtlCol="0" anchor="ctr"/>
          <a:lstStyle/>
          <a:p>
            <a:pPr algn="ctr"/>
            <a:endParaRPr/>
          </a:p>
        </p:txBody>
      </p:sp>
      <p:sp>
        <p:nvSpPr>
          <p:cNvPr id="29" name="TextBox 29"/>
          <p:cNvSpPr txBox="1"/>
          <p:nvPr/>
        </p:nvSpPr>
        <p:spPr>
          <a:xfrm>
            <a:off x="7818120" y="4251960"/>
            <a:ext cx="3474720" cy="274320"/>
          </a:xfrm>
          <a:prstGeom prst="rect">
            <a:avLst/>
          </a:prstGeom>
          <a:noFill/>
        </p:spPr>
        <p:txBody>
          <a:bodyPr wrap="square" lIns="9144" tIns="0" rIns="9144" bIns="0" anchor="t">
            <a:noAutofit/>
          </a:bodyPr>
          <a:lstStyle/>
          <a:p>
            <a:pPr algn="l">
              <a:spcAft>
                <a:spcPts val="0"/>
              </a:spcAft>
            </a:pPr>
            <a:r>
              <a:rPr lang="en-GB" sz="1300" b="1" dirty="0">
                <a:solidFill>
                  <a:srgbClr val="3DCCC0"/>
                </a:solidFill>
                <a:latin typeface="Aptos"/>
                <a:cs typeface="Aptos"/>
              </a:rPr>
              <a:t>OUR BIGGEST LESSON</a:t>
            </a:r>
          </a:p>
        </p:txBody>
      </p:sp>
      <p:sp>
        <p:nvSpPr>
          <p:cNvPr id="30" name="TextBox 30"/>
          <p:cNvSpPr txBox="1"/>
          <p:nvPr/>
        </p:nvSpPr>
        <p:spPr>
          <a:xfrm>
            <a:off x="7818120" y="4590288"/>
            <a:ext cx="3474720" cy="457200"/>
          </a:xfrm>
          <a:prstGeom prst="rect">
            <a:avLst/>
          </a:prstGeom>
          <a:noFill/>
        </p:spPr>
        <p:txBody>
          <a:bodyPr wrap="square" lIns="9144" tIns="0" rIns="9144" bIns="0" anchor="t">
            <a:noAutofit/>
          </a:bodyPr>
          <a:lstStyle/>
          <a:p>
            <a:pPr algn="l">
              <a:spcAft>
                <a:spcPts val="0"/>
              </a:spcAft>
            </a:pPr>
            <a:r>
              <a:rPr lang="en-GB" sz="1900" b="1" dirty="0">
                <a:solidFill>
                  <a:srgbClr val="F4F8FE"/>
                </a:solidFill>
                <a:latin typeface="Aptos"/>
                <a:cs typeface="Aptos"/>
              </a:rPr>
              <a:t>Build it. Test it. Verify it.</a:t>
            </a:r>
          </a:p>
        </p:txBody>
      </p:sp>
      <p:sp>
        <p:nvSpPr>
          <p:cNvPr id="31" name="TextBox 31"/>
          <p:cNvSpPr txBox="1"/>
          <p:nvPr/>
        </p:nvSpPr>
        <p:spPr>
          <a:xfrm>
            <a:off x="7818120" y="5102352"/>
            <a:ext cx="3474720" cy="548640"/>
          </a:xfrm>
          <a:prstGeom prst="rect">
            <a:avLst/>
          </a:prstGeom>
          <a:noFill/>
        </p:spPr>
        <p:txBody>
          <a:bodyPr wrap="square" lIns="9144" tIns="0" rIns="9144" bIns="0" anchor="t">
            <a:noAutofit/>
          </a:bodyPr>
          <a:lstStyle/>
          <a:p>
            <a:pPr algn="l">
              <a:spcAft>
                <a:spcPts val="0"/>
              </a:spcAft>
            </a:pPr>
            <a:r>
              <a:rPr lang="en-GB" sz="1200" b="0" dirty="0">
                <a:solidFill>
                  <a:srgbClr val="A6B8CF"/>
                </a:solidFill>
                <a:latin typeface="Aptos"/>
                <a:cs typeface="Aptos"/>
              </a:rPr>
              <a:t>Reliable solutions need teamwork, evidence and critical thinking.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ff4a36f2-e97e-4bc3-a6a6-050d942d64c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1629</TotalTime>
  <Words>1444</Words>
  <Application>Microsoft Office PowerPoint</Application>
  <PresentationFormat>Widescreen</PresentationFormat>
  <Paragraphs>156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Kev Broughton</dc:creator>
  <cp:keywords/>
  <dc:description>generated using python-pptx</dc:description>
  <cp:lastModifiedBy>Broughton, Charlie</cp:lastModifiedBy>
  <cp:revision>37</cp:revision>
  <dcterms:created xsi:type="dcterms:W3CDTF">2013-01-27T09:14:16Z</dcterms:created>
  <dcterms:modified xsi:type="dcterms:W3CDTF">2026-10-21T07:58:31Z</dcterms:modified>
  <cp:category/>
</cp:coreProperties>
</file>
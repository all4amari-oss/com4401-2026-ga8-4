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9a97a4f-31bb-ddba-09c7-4af912dd2bd4}">
          <p14:sldIdLst>
            <p14:sldId id="256"/>
            <p14:sldId id="257"/>
          </p14:sldIdLst>
        </p14:section>
        <p14:section name="How it works" id="{257fc41a-216a-3f44-5cc0-28b25c95aa26}">
          <p14:sldIdLst>
            <p14:sldId id="258"/>
            <p14:sldId id="259"/>
            <p14:sldId id="260"/>
            <p14:sldId id="261"/>
            <p14:sldId id="262"/>
          </p14:sldIdLst>
        </p14:section>
        <p14:section name="Testing" id="{bea9df30-6e38-74b8-fccd-af0a2e782af1}">
          <p14:sldIdLst>
            <p14:sldId id="263"/>
          </p14:sldIdLst>
        </p14:section>
        <p14:section name="Close" id="{d0d1fae6-7600-a97c-8c06-cae791f038b1}">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is a pizza ordering program that I built in Flowgorithm.
این فلوچارت یه برنامه‌ی سفارش پیتزاست که توی Flowgorithm ساختم.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takes the customer's details, lets them order up to six pizzas, works out the price and prints a bill.
برنامه مشخصات مشتری رو می‌گیره، تا ۶ تا پیتزا سفارش می‌گیره، قیمت رو حساب می‌کنه و فاکتور چاپ می‌کنه.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split the program into functions, and the Main function calls them in order.
برنامه رو به چند تا تابع تقسیم کردم و تابع Main اونا رو به ترتیب صدا می‌زنه.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Main, I declare the arrays and set the prices: Small £3.25, Medium £5.50 and Large £7.15.
The topping prices are stored in an array, where the index is the number of toppings.
توی Main آرایه‌ها رو تعریف می‌کنم و قیمت‌ها رو می‌ذارم: Small £3.25، Medium £5.50، Large £7.15.
قیمت تاپینگ‌ها توی یه آرایه‌ست که شماره‌ی هر خونه همون تعداد تاپینگه.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getCustomerDetails function asks for the name, address and phone number, and doesn't allow any of them to be blank.
If something is left blank, a while loop shows "This cannot be blank, try again!" and asks again.
The getPizzas function asks how many pizzas the customer wants, and only accepts a number from 1 to 6.
The choosePizzas function asks for the size (0 to 2) and the number of toppings for each pizza, and rejects invalid inputs.
The getDelivery function asks if the customer wants delivery, and only accepts Y or N.
تابع getCustomerDetails اسم، آدرس و شماره تلفن رو می‌گیره و اجازه نمی‌ده هیچ‌کدوم خالی بمونه.
اگه چیزی خالی وارد بشه، یه حلقه‌ی while پیغام «This cannot be blank, try again!» رو نشون می‌ده و دوباره می‌پرسه.
تابع getPizzas تعداد پیتزا رو می‌پرسه و فقط عدد ۱ تا ۶ قبول می‌کنه.
تابع choosePizzas برای هر پیتزا سایز (۰ تا ۲) و تعداد تاپینگ رو می‌گیره و ورودی‌های اشتباه رو رد می‌کنه.
تابع getDelivery می‌پرسه مشتری ارسال می‌خواد یا نه، و فقط Y یا N قبول می‌کنه.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pizzaPrice function works out the price of each pizza, and an if statement makes four or more toppings all cost £2.50.
The calcTotals function uses a for loop to add up the price of all the pizzas.
If the order is over £20, it gets a 10% discount, and delivery adds £2.50.
I round the discount to the nearest penny before working out the total, so the bill is never even 1p out.
تابع pizzaPrice قیمت هر پیتزا رو حساب می‌کنه، و با یه if، چهار تاپینگ یا بیشتر همه £2.50 حساب می‌شن.
تابع calcTotals با یه حلقه‌ی for قیمت همه‌ی پیتزاها رو جمع می‌زنه.
اگه جمع سفارش بالای £20 باشه، ۱۰٪ تخفیف می‌خوره و ارسال هم £2.50 اضافه می‌کنه.
تخفیف رو قبل از جمع کل تا نزدیک‌ترین پنی گرد می‌کنم تا فاکتور حتی یه پنی هم اشتباه نشه.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displayBill function shows the bill: the name, address, phone number, number of pizzas, the price of each pizza, the discount, delivery and the total.
در آخر تابع displayBill فاکتور رو نشون می‌ده: اسم، آدرس، تلفن، تعداد پیتزا، قیمت هر پیتزا، تخفیف، هزینه‌ی ارسال و جمع کل.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Nah tested the program with 18 tests, and we fixed the problems that came up in versions 2 and 3.
For example, we fixed a rounding bug that made a £20.05 order 1p out, and we changed the error messages to match the design exactly.
Nah برنامه رو با ۱۸ تا تست امتحان کرد و ما مشکلاتی که پیدا شد رو توی نسخه‌ی ۲ و ۳ درست کردیم.
مثلاً یه باگ گرد کردن داشتیم که سفارش £20.05 رو یه پنی اشتباه حساب می‌کرد، و پیغام‌های خطا رو هم دقیقاً مثل طراحی کردیم.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I'm happy to answer any questions.
ممنون که گوش دادید، اگه سؤالی دارید خوشحال می‌شم جواب بدم.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30352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606040"/>
            <a:ext cx="5303520" cy="54864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Pizza Order Program · Flowgorithm</a:t>
            </a:r>
            <a:endParaRPr lang="en-US" sz="10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303520" cy="1097280"/>
          </a:xfrm>
          <a:prstGeom prst="rect">
            <a:avLst/>
          </a:prstGeom>
          <a:noFill/>
          <a:ln/>
        </p:spPr>
        <p:txBody>
          <a:bodyPr wrap="square" lIns="0" tIns="0" rIns="0" bIns="0" rtlCol="0" anchor="b"/>
          <a:lstStyle/>
          <a:p>
            <a:pPr algn="l" indent="0" marL="0">
              <a:buNone/>
            </a:pPr>
            <a:r>
              <a:rPr lang="en-US" sz="4400" b="1" dirty="0">
                <a:solidFill>
                  <a:schemeClr val="bg1"/>
                </a:solidFill>
              </a:rPr>
              <a:t>Pizza Order Program</a:t>
            </a:r>
            <a:endParaRPr lang="en-US" sz="4400" dirty="0"/>
          </a:p>
        </p:txBody>
      </p:sp>
      <p:sp>
        <p:nvSpPr>
          <p:cNvPr id="3" name="Text 0"/>
          <p:cNvSpPr/>
          <p:nvPr>
            <p:ph idx="101" type="body" hasCustomPrompt="1"/>
          </p:nvPr>
        </p:nvSpPr>
        <p:spPr>
          <a:xfrm>
            <a:off x="548640" y="2606040"/>
            <a:ext cx="5303520" cy="548640"/>
          </a:xfrm>
          <a:prstGeom prst="rect">
            <a:avLst/>
          </a:prstGeom>
          <a:noFill/>
          <a:ln/>
        </p:spPr>
        <p:txBody>
          <a:bodyPr wrap="square" lIns="0" tIns="0" rIns="0" bIns="0" rtlCol="0" anchor="t"/>
          <a:lstStyle/>
          <a:p>
            <a:pPr indent="0" marL="0">
              <a:buNone/>
            </a:pPr>
            <a:r>
              <a:rPr lang="en-US" sz="2000" dirty="0">
                <a:solidFill>
                  <a:schemeClr val="accent5"/>
                </a:solidFill>
              </a:rPr>
              <a:t>A Flowgorithm flowchart</a:t>
            </a:r>
            <a:endParaRPr lang="en-US" sz="2000" dirty="0"/>
          </a:p>
        </p:txBody>
      </p:sp>
      <p:sp>
        <p:nvSpPr>
          <p:cNvPr id="4" name="Presenter"/>
          <p:cNvSpPr txBox="1"/>
          <p:nvPr/>
        </p:nvSpPr>
        <p:spPr>
          <a:xfrm>
            <a:off x="548640" y="4206240"/>
            <a:ext cx="3657600" cy="365760"/>
          </a:xfrm>
          <a:prstGeom prst="rect">
            <a:avLst/>
          </a:prstGeom>
          <a:noFill/>
          <a:ln/>
        </p:spPr>
        <p:txBody>
          <a:bodyPr wrap="square" lIns="0" tIns="0" rIns="0" bIns="0" rtlCol="0" anchor="ctr"/>
          <a:lstStyle/>
          <a:p>
            <a:pPr indent="0" marL="0">
              <a:buNone/>
            </a:pPr>
            <a:r>
              <a:rPr lang="en-US" sz="1400" dirty="0">
                <a:solidFill>
                  <a:schemeClr val="accent4"/>
                </a:solidFill>
              </a:rPr>
              <a:t>Sorena  ·  COM4401</a:t>
            </a:r>
            <a:endParaRPr lang="en-US" sz="1400" dirty="0"/>
          </a:p>
        </p:txBody>
      </p:sp>
      <p:sp>
        <p:nvSpPr>
          <p:cNvPr id="5" name="Pizza circle"/>
          <p:cNvSpPr/>
          <p:nvPr/>
        </p:nvSpPr>
        <p:spPr>
          <a:xfrm>
            <a:off x="6126480" y="1188720"/>
            <a:ext cx="2377440" cy="2377440"/>
          </a:xfrm>
          <a:prstGeom prst="ellipse">
            <a:avLst/>
          </a:prstGeom>
          <a:solidFill>
            <a:schemeClr val="accent1"/>
          </a:solidFill>
          <a:ln w="12700">
            <a:solidFill>
              <a:schemeClr val="accent1"/>
            </a:solidFill>
            <a:prstDash val="solid"/>
          </a:ln>
        </p:spPr>
      </p:sp>
      <p:pic>
        <p:nvPicPr>
          <p:cNvPr id="6" name="Pizza icon" descr="preencoded.png">    </p:cNvPr>
          <p:cNvPicPr>
            <a:picLocks noChangeAspect="1"/>
          </p:cNvPicPr>
          <p:nvPr/>
        </p:nvPicPr>
        <p:blipFill>
          <a:blip r:embed="rId1"/>
          <a:stretch>
            <a:fillRect/>
          </a:stretch>
        </p:blipFill>
        <p:spPr>
          <a:xfrm>
            <a:off x="6720840" y="1783080"/>
            <a:ext cx="1188720" cy="1188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What the program does</a:t>
            </a:r>
            <a:endParaRPr lang="en-US" sz="3200" dirty="0"/>
          </a:p>
        </p:txBody>
      </p:sp>
      <p:sp>
        <p:nvSpPr>
          <p:cNvPr id="3" name="Step 1 card"/>
          <p:cNvSpPr/>
          <p:nvPr/>
        </p:nvSpPr>
        <p:spPr>
          <a:xfrm>
            <a:off x="457200" y="1371600"/>
            <a:ext cx="1828800" cy="2651760"/>
          </a:xfrm>
          <a:prstGeom prst="roundRect">
            <a:avLst>
              <a:gd name="adj" fmla="val 7500"/>
            </a:avLst>
          </a:prstGeom>
          <a:solidFill>
            <a:schemeClr val="bg2"/>
          </a:solidFill>
          <a:ln w="12700">
            <a:solidFill>
              <a:schemeClr val="bg2"/>
            </a:solidFill>
            <a:prstDash val="solid"/>
          </a:ln>
        </p:spPr>
      </p:sp>
      <p:sp>
        <p:nvSpPr>
          <p:cNvPr id="4" name="Step 1 circle"/>
          <p:cNvSpPr/>
          <p:nvPr/>
        </p:nvSpPr>
        <p:spPr>
          <a:xfrm>
            <a:off x="1005840" y="1691640"/>
            <a:ext cx="731520" cy="731520"/>
          </a:xfrm>
          <a:prstGeom prst="ellipse">
            <a:avLst/>
          </a:prstGeom>
          <a:solidFill>
            <a:schemeClr val="accent1"/>
          </a:solidFill>
          <a:ln w="12700">
            <a:solidFill>
              <a:schemeClr val="accent1"/>
            </a:solidFill>
            <a:prstDash val="solid"/>
          </a:ln>
        </p:spPr>
      </p:sp>
      <p:pic>
        <p:nvPicPr>
          <p:cNvPr id="5" name="Step 1 icon" descr="preencoded.png">    </p:cNvPr>
          <p:cNvPicPr>
            <a:picLocks noChangeAspect="1"/>
          </p:cNvPicPr>
          <p:nvPr/>
        </p:nvPicPr>
        <p:blipFill>
          <a:blip r:embed="rId1"/>
          <a:stretch>
            <a:fillRect/>
          </a:stretch>
        </p:blipFill>
        <p:spPr>
          <a:xfrm>
            <a:off x="1188720" y="1874520"/>
            <a:ext cx="365760" cy="365760"/>
          </a:xfrm>
          <a:prstGeom prst="rect">
            <a:avLst/>
          </a:prstGeom>
        </p:spPr>
      </p:pic>
      <p:sp>
        <p:nvSpPr>
          <p:cNvPr id="6" name="Step 1 number"/>
          <p:cNvSpPr txBox="1"/>
          <p:nvPr/>
        </p:nvSpPr>
        <p:spPr>
          <a:xfrm>
            <a:off x="640080" y="1554480"/>
            <a:ext cx="365760" cy="365760"/>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7" name="Step 1 title"/>
          <p:cNvSpPr txBox="1"/>
          <p:nvPr/>
        </p:nvSpPr>
        <p:spPr>
          <a:xfrm>
            <a:off x="594360" y="2606040"/>
            <a:ext cx="1554480" cy="457200"/>
          </a:xfrm>
          <a:prstGeom prst="rect">
            <a:avLst/>
          </a:prstGeom>
          <a:noFill/>
          <a:ln/>
        </p:spPr>
        <p:txBody>
          <a:bodyPr wrap="square" lIns="0" tIns="0" rIns="0" bIns="0" rtlCol="0" anchor="ctr"/>
          <a:lstStyle/>
          <a:p>
            <a:pPr algn="ctr" indent="0" marL="0">
              <a:buNone/>
            </a:pPr>
            <a:r>
              <a:rPr lang="en-US" sz="1700" b="1" dirty="0">
                <a:solidFill>
                  <a:schemeClr val="tx1"/>
                </a:solidFill>
              </a:rPr>
              <a:t>Customer details</a:t>
            </a:r>
            <a:endParaRPr lang="en-US" sz="1700" dirty="0"/>
          </a:p>
        </p:txBody>
      </p:sp>
      <p:sp>
        <p:nvSpPr>
          <p:cNvPr id="8" name="Step 1 text"/>
          <p:cNvSpPr txBox="1"/>
          <p:nvPr/>
        </p:nvSpPr>
        <p:spPr>
          <a:xfrm>
            <a:off x="594360" y="3108960"/>
            <a:ext cx="1554480" cy="1005840"/>
          </a:xfrm>
          <a:prstGeom prst="rect">
            <a:avLst/>
          </a:prstGeom>
          <a:noFill/>
          <a:ln/>
        </p:spPr>
        <p:txBody>
          <a:bodyPr wrap="square" lIns="0" tIns="0" rIns="0" bIns="0" rtlCol="0" anchor="t"/>
          <a:lstStyle/>
          <a:p>
            <a:pPr algn="ctr" indent="0" marL="0">
              <a:buNone/>
            </a:pPr>
            <a:r>
              <a:rPr lang="en-US" sz="1400" dirty="0">
                <a:solidFill>
                  <a:schemeClr val="tx2"/>
                </a:solidFill>
              </a:rPr>
              <a:t>Name, address and phone number</a:t>
            </a:r>
            <a:endParaRPr lang="en-US" sz="1400" dirty="0"/>
          </a:p>
        </p:txBody>
      </p:sp>
      <p:sp>
        <p:nvSpPr>
          <p:cNvPr id="9" name="Arrow 1"/>
          <p:cNvSpPr/>
          <p:nvPr/>
        </p:nvSpPr>
        <p:spPr>
          <a:xfrm>
            <a:off x="2359152" y="2743200"/>
            <a:ext cx="155448" cy="274320"/>
          </a:xfrm>
          <a:prstGeom prst="chevron">
            <a:avLst/>
          </a:prstGeom>
          <a:solidFill>
            <a:schemeClr val="accent4"/>
          </a:solidFill>
          <a:ln w="12700">
            <a:solidFill>
              <a:schemeClr val="accent4"/>
            </a:solidFill>
            <a:prstDash val="solid"/>
          </a:ln>
        </p:spPr>
      </p:sp>
      <p:sp>
        <p:nvSpPr>
          <p:cNvPr id="10" name="Step 2 card"/>
          <p:cNvSpPr/>
          <p:nvPr/>
        </p:nvSpPr>
        <p:spPr>
          <a:xfrm>
            <a:off x="2587752" y="1371600"/>
            <a:ext cx="1828800" cy="2651760"/>
          </a:xfrm>
          <a:prstGeom prst="roundRect">
            <a:avLst>
              <a:gd name="adj" fmla="val 7500"/>
            </a:avLst>
          </a:prstGeom>
          <a:solidFill>
            <a:schemeClr val="bg2"/>
          </a:solidFill>
          <a:ln w="12700">
            <a:solidFill>
              <a:schemeClr val="bg2"/>
            </a:solidFill>
            <a:prstDash val="solid"/>
          </a:ln>
        </p:spPr>
      </p:sp>
      <p:sp>
        <p:nvSpPr>
          <p:cNvPr id="11" name="Step 2 circle"/>
          <p:cNvSpPr/>
          <p:nvPr/>
        </p:nvSpPr>
        <p:spPr>
          <a:xfrm>
            <a:off x="3136392" y="1691640"/>
            <a:ext cx="731520" cy="731520"/>
          </a:xfrm>
          <a:prstGeom prst="ellipse">
            <a:avLst/>
          </a:prstGeom>
          <a:solidFill>
            <a:schemeClr val="accent1"/>
          </a:solidFill>
          <a:ln w="12700">
            <a:solidFill>
              <a:schemeClr val="accent1"/>
            </a:solidFill>
            <a:prstDash val="solid"/>
          </a:ln>
        </p:spPr>
      </p:sp>
      <p:pic>
        <p:nvPicPr>
          <p:cNvPr id="12" name="Step 2 icon" descr="preencoded.png">    </p:cNvPr>
          <p:cNvPicPr>
            <a:picLocks noChangeAspect="1"/>
          </p:cNvPicPr>
          <p:nvPr/>
        </p:nvPicPr>
        <p:blipFill>
          <a:blip r:embed="rId2"/>
          <a:stretch>
            <a:fillRect/>
          </a:stretch>
        </p:blipFill>
        <p:spPr>
          <a:xfrm>
            <a:off x="3319272" y="1874520"/>
            <a:ext cx="365760" cy="365760"/>
          </a:xfrm>
          <a:prstGeom prst="rect">
            <a:avLst/>
          </a:prstGeom>
        </p:spPr>
      </p:pic>
      <p:sp>
        <p:nvSpPr>
          <p:cNvPr id="13" name="Step 2 number"/>
          <p:cNvSpPr txBox="1"/>
          <p:nvPr/>
        </p:nvSpPr>
        <p:spPr>
          <a:xfrm>
            <a:off x="2770632" y="1554480"/>
            <a:ext cx="365760" cy="365760"/>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14" name="Step 2 title"/>
          <p:cNvSpPr txBox="1"/>
          <p:nvPr/>
        </p:nvSpPr>
        <p:spPr>
          <a:xfrm>
            <a:off x="2724912" y="2606040"/>
            <a:ext cx="1554480" cy="457200"/>
          </a:xfrm>
          <a:prstGeom prst="rect">
            <a:avLst/>
          </a:prstGeom>
          <a:noFill/>
          <a:ln/>
        </p:spPr>
        <p:txBody>
          <a:bodyPr wrap="square" lIns="0" tIns="0" rIns="0" bIns="0" rtlCol="0" anchor="ctr"/>
          <a:lstStyle/>
          <a:p>
            <a:pPr algn="ctr" indent="0" marL="0">
              <a:buNone/>
            </a:pPr>
            <a:r>
              <a:rPr lang="en-US" sz="1700" b="1" dirty="0">
                <a:solidFill>
                  <a:schemeClr val="tx1"/>
                </a:solidFill>
              </a:rPr>
              <a:t>Choose pizzas</a:t>
            </a:r>
            <a:endParaRPr lang="en-US" sz="1700" dirty="0"/>
          </a:p>
        </p:txBody>
      </p:sp>
      <p:sp>
        <p:nvSpPr>
          <p:cNvPr id="15" name="Step 2 text"/>
          <p:cNvSpPr txBox="1"/>
          <p:nvPr/>
        </p:nvSpPr>
        <p:spPr>
          <a:xfrm>
            <a:off x="2724912" y="3108960"/>
            <a:ext cx="1554480" cy="1005840"/>
          </a:xfrm>
          <a:prstGeom prst="rect">
            <a:avLst/>
          </a:prstGeom>
          <a:noFill/>
          <a:ln/>
        </p:spPr>
        <p:txBody>
          <a:bodyPr wrap="square" lIns="0" tIns="0" rIns="0" bIns="0" rtlCol="0" anchor="t"/>
          <a:lstStyle/>
          <a:p>
            <a:pPr algn="ctr" indent="0" marL="0">
              <a:buNone/>
            </a:pPr>
            <a:r>
              <a:rPr lang="en-US" sz="1400" dirty="0">
                <a:solidFill>
                  <a:schemeClr val="tx2"/>
                </a:solidFill>
              </a:rPr>
              <a:t>Up to 6, each with a size and toppings</a:t>
            </a:r>
            <a:endParaRPr lang="en-US" sz="1400" dirty="0"/>
          </a:p>
        </p:txBody>
      </p:sp>
      <p:sp>
        <p:nvSpPr>
          <p:cNvPr id="16" name="Arrow 2"/>
          <p:cNvSpPr/>
          <p:nvPr/>
        </p:nvSpPr>
        <p:spPr>
          <a:xfrm>
            <a:off x="4489704" y="2743200"/>
            <a:ext cx="155448" cy="274320"/>
          </a:xfrm>
          <a:prstGeom prst="chevron">
            <a:avLst/>
          </a:prstGeom>
          <a:solidFill>
            <a:schemeClr val="accent4"/>
          </a:solidFill>
          <a:ln w="12700">
            <a:solidFill>
              <a:schemeClr val="accent4"/>
            </a:solidFill>
            <a:prstDash val="solid"/>
          </a:ln>
        </p:spPr>
      </p:sp>
      <p:sp>
        <p:nvSpPr>
          <p:cNvPr id="17" name="Step 3 card"/>
          <p:cNvSpPr/>
          <p:nvPr/>
        </p:nvSpPr>
        <p:spPr>
          <a:xfrm>
            <a:off x="4718304" y="1371600"/>
            <a:ext cx="1828800" cy="2651760"/>
          </a:xfrm>
          <a:prstGeom prst="roundRect">
            <a:avLst>
              <a:gd name="adj" fmla="val 7500"/>
            </a:avLst>
          </a:prstGeom>
          <a:solidFill>
            <a:schemeClr val="bg2"/>
          </a:solidFill>
          <a:ln w="12700">
            <a:solidFill>
              <a:schemeClr val="bg2"/>
            </a:solidFill>
            <a:prstDash val="solid"/>
          </a:ln>
        </p:spPr>
      </p:sp>
      <p:sp>
        <p:nvSpPr>
          <p:cNvPr id="18" name="Step 3 circle"/>
          <p:cNvSpPr/>
          <p:nvPr/>
        </p:nvSpPr>
        <p:spPr>
          <a:xfrm>
            <a:off x="5266944" y="1691640"/>
            <a:ext cx="731520" cy="731520"/>
          </a:xfrm>
          <a:prstGeom prst="ellipse">
            <a:avLst/>
          </a:prstGeom>
          <a:solidFill>
            <a:schemeClr val="accent1"/>
          </a:solidFill>
          <a:ln w="12700">
            <a:solidFill>
              <a:schemeClr val="accent1"/>
            </a:solidFill>
            <a:prstDash val="solid"/>
          </a:ln>
        </p:spPr>
      </p:sp>
      <p:pic>
        <p:nvPicPr>
          <p:cNvPr id="19" name="Step 3 icon" descr="preencoded.png">    </p:cNvPr>
          <p:cNvPicPr>
            <a:picLocks noChangeAspect="1"/>
          </p:cNvPicPr>
          <p:nvPr/>
        </p:nvPicPr>
        <p:blipFill>
          <a:blip r:embed="rId3"/>
          <a:stretch>
            <a:fillRect/>
          </a:stretch>
        </p:blipFill>
        <p:spPr>
          <a:xfrm>
            <a:off x="5449824" y="1874520"/>
            <a:ext cx="365760" cy="365760"/>
          </a:xfrm>
          <a:prstGeom prst="rect">
            <a:avLst/>
          </a:prstGeom>
        </p:spPr>
      </p:pic>
      <p:sp>
        <p:nvSpPr>
          <p:cNvPr id="20" name="Step 3 number"/>
          <p:cNvSpPr txBox="1"/>
          <p:nvPr/>
        </p:nvSpPr>
        <p:spPr>
          <a:xfrm>
            <a:off x="4901184" y="1554480"/>
            <a:ext cx="365760" cy="365760"/>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21" name="Step 3 title"/>
          <p:cNvSpPr txBox="1"/>
          <p:nvPr/>
        </p:nvSpPr>
        <p:spPr>
          <a:xfrm>
            <a:off x="4855464" y="2606040"/>
            <a:ext cx="1554480" cy="457200"/>
          </a:xfrm>
          <a:prstGeom prst="rect">
            <a:avLst/>
          </a:prstGeom>
          <a:noFill/>
          <a:ln/>
        </p:spPr>
        <p:txBody>
          <a:bodyPr wrap="square" lIns="0" tIns="0" rIns="0" bIns="0" rtlCol="0" anchor="ctr"/>
          <a:lstStyle/>
          <a:p>
            <a:pPr algn="ctr" indent="0" marL="0">
              <a:buNone/>
            </a:pPr>
            <a:r>
              <a:rPr lang="en-US" sz="1700" b="1" dirty="0">
                <a:solidFill>
                  <a:schemeClr val="tx1"/>
                </a:solidFill>
              </a:rPr>
              <a:t>Delivery</a:t>
            </a:r>
            <a:endParaRPr lang="en-US" sz="1700" dirty="0"/>
          </a:p>
        </p:txBody>
      </p:sp>
      <p:sp>
        <p:nvSpPr>
          <p:cNvPr id="22" name="Step 3 text"/>
          <p:cNvSpPr txBox="1"/>
          <p:nvPr/>
        </p:nvSpPr>
        <p:spPr>
          <a:xfrm>
            <a:off x="4855464" y="3108960"/>
            <a:ext cx="1554480" cy="1005840"/>
          </a:xfrm>
          <a:prstGeom prst="rect">
            <a:avLst/>
          </a:prstGeom>
          <a:noFill/>
          <a:ln/>
        </p:spPr>
        <p:txBody>
          <a:bodyPr wrap="square" lIns="0" tIns="0" rIns="0" bIns="0" rtlCol="0" anchor="t"/>
          <a:lstStyle/>
          <a:p>
            <a:pPr algn="ctr" indent="0" marL="0">
              <a:buNone/>
            </a:pPr>
            <a:r>
              <a:rPr lang="en-US" sz="1400" dirty="0">
                <a:solidFill>
                  <a:schemeClr val="tx2"/>
                </a:solidFill>
              </a:rPr>
              <a:t>Yes or no, delivery costs £2.50</a:t>
            </a:r>
            <a:endParaRPr lang="en-US" sz="1400" dirty="0"/>
          </a:p>
        </p:txBody>
      </p:sp>
      <p:sp>
        <p:nvSpPr>
          <p:cNvPr id="23" name="Arrow 3"/>
          <p:cNvSpPr/>
          <p:nvPr/>
        </p:nvSpPr>
        <p:spPr>
          <a:xfrm>
            <a:off x="6620256" y="2743200"/>
            <a:ext cx="155448" cy="274320"/>
          </a:xfrm>
          <a:prstGeom prst="chevron">
            <a:avLst/>
          </a:prstGeom>
          <a:solidFill>
            <a:schemeClr val="accent4"/>
          </a:solidFill>
          <a:ln w="12700">
            <a:solidFill>
              <a:schemeClr val="accent4"/>
            </a:solidFill>
            <a:prstDash val="solid"/>
          </a:ln>
        </p:spPr>
      </p:sp>
      <p:sp>
        <p:nvSpPr>
          <p:cNvPr id="24" name="Step 4 card"/>
          <p:cNvSpPr/>
          <p:nvPr/>
        </p:nvSpPr>
        <p:spPr>
          <a:xfrm>
            <a:off x="6848856" y="1371600"/>
            <a:ext cx="1828800" cy="2651760"/>
          </a:xfrm>
          <a:prstGeom prst="roundRect">
            <a:avLst>
              <a:gd name="adj" fmla="val 7500"/>
            </a:avLst>
          </a:prstGeom>
          <a:solidFill>
            <a:schemeClr val="bg2"/>
          </a:solidFill>
          <a:ln w="12700">
            <a:solidFill>
              <a:schemeClr val="bg2"/>
            </a:solidFill>
            <a:prstDash val="solid"/>
          </a:ln>
        </p:spPr>
      </p:sp>
      <p:sp>
        <p:nvSpPr>
          <p:cNvPr id="25" name="Step 4 circle"/>
          <p:cNvSpPr/>
          <p:nvPr/>
        </p:nvSpPr>
        <p:spPr>
          <a:xfrm>
            <a:off x="7397496" y="1691640"/>
            <a:ext cx="731520" cy="731520"/>
          </a:xfrm>
          <a:prstGeom prst="ellipse">
            <a:avLst/>
          </a:prstGeom>
          <a:solidFill>
            <a:schemeClr val="accent1"/>
          </a:solidFill>
          <a:ln w="12700">
            <a:solidFill>
              <a:schemeClr val="accent1"/>
            </a:solidFill>
            <a:prstDash val="solid"/>
          </a:ln>
        </p:spPr>
      </p:sp>
      <p:pic>
        <p:nvPicPr>
          <p:cNvPr id="26" name="Step 4 icon" descr="preencoded.png">    </p:cNvPr>
          <p:cNvPicPr>
            <a:picLocks noChangeAspect="1"/>
          </p:cNvPicPr>
          <p:nvPr/>
        </p:nvPicPr>
        <p:blipFill>
          <a:blip r:embed="rId4"/>
          <a:stretch>
            <a:fillRect/>
          </a:stretch>
        </p:blipFill>
        <p:spPr>
          <a:xfrm>
            <a:off x="7580376" y="1874520"/>
            <a:ext cx="365760" cy="365760"/>
          </a:xfrm>
          <a:prstGeom prst="rect">
            <a:avLst/>
          </a:prstGeom>
        </p:spPr>
      </p:pic>
      <p:sp>
        <p:nvSpPr>
          <p:cNvPr id="27" name="Step 4 number"/>
          <p:cNvSpPr txBox="1"/>
          <p:nvPr/>
        </p:nvSpPr>
        <p:spPr>
          <a:xfrm>
            <a:off x="7031736" y="1554480"/>
            <a:ext cx="365760" cy="365760"/>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28" name="Step 4 title"/>
          <p:cNvSpPr txBox="1"/>
          <p:nvPr/>
        </p:nvSpPr>
        <p:spPr>
          <a:xfrm>
            <a:off x="6986016" y="2606040"/>
            <a:ext cx="1554480" cy="457200"/>
          </a:xfrm>
          <a:prstGeom prst="rect">
            <a:avLst/>
          </a:prstGeom>
          <a:noFill/>
          <a:ln/>
        </p:spPr>
        <p:txBody>
          <a:bodyPr wrap="square" lIns="0" tIns="0" rIns="0" bIns="0" rtlCol="0" anchor="ctr"/>
          <a:lstStyle/>
          <a:p>
            <a:pPr algn="ctr" indent="0" marL="0">
              <a:buNone/>
            </a:pPr>
            <a:r>
              <a:rPr lang="en-US" sz="1700" b="1" dirty="0">
                <a:solidFill>
                  <a:schemeClr val="tx1"/>
                </a:solidFill>
              </a:rPr>
              <a:t>The bill</a:t>
            </a:r>
            <a:endParaRPr lang="en-US" sz="1700" dirty="0"/>
          </a:p>
        </p:txBody>
      </p:sp>
      <p:sp>
        <p:nvSpPr>
          <p:cNvPr id="29" name="Step 4 text"/>
          <p:cNvSpPr txBox="1"/>
          <p:nvPr/>
        </p:nvSpPr>
        <p:spPr>
          <a:xfrm>
            <a:off x="6986016" y="3108960"/>
            <a:ext cx="1554480" cy="1005840"/>
          </a:xfrm>
          <a:prstGeom prst="rect">
            <a:avLst/>
          </a:prstGeom>
          <a:noFill/>
          <a:ln/>
        </p:spPr>
        <p:txBody>
          <a:bodyPr wrap="square" lIns="0" tIns="0" rIns="0" bIns="0" rtlCol="0" anchor="t"/>
          <a:lstStyle/>
          <a:p>
            <a:pPr algn="ctr" indent="0" marL="0">
              <a:buNone/>
            </a:pPr>
            <a:r>
              <a:rPr lang="en-US" sz="1400" dirty="0">
                <a:solidFill>
                  <a:schemeClr val="tx2"/>
                </a:solidFill>
              </a:rPr>
              <a:t>Every pizza, the discount and the total</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How the program is organised</a:t>
            </a:r>
            <a:endParaRPr lang="en-US" sz="3200" dirty="0"/>
          </a:p>
        </p:txBody>
      </p:sp>
      <p:sp>
        <p:nvSpPr>
          <p:cNvPr id="3" name="Main"/>
          <p:cNvSpPr/>
          <p:nvPr/>
        </p:nvSpPr>
        <p:spPr>
          <a:xfrm>
            <a:off x="548640" y="2331720"/>
            <a:ext cx="1463040" cy="731520"/>
          </a:xfrm>
          <a:prstGeom prst="roundRect">
            <a:avLst>
              <a:gd name="adj" fmla="val 15000"/>
            </a:avLst>
          </a:prstGeom>
          <a:solidFill>
            <a:schemeClr val="tx1"/>
          </a:solidFill>
          <a:ln w="12700">
            <a:solidFill>
              <a:schemeClr val="tx1"/>
            </a:solidFill>
            <a:prstDash val="solid"/>
          </a:ln>
        </p:spPr>
      </p:sp>
      <p:sp>
        <p:nvSpPr>
          <p:cNvPr id="4" name="Main label"/>
          <p:cNvSpPr txBox="1"/>
          <p:nvPr/>
        </p:nvSpPr>
        <p:spPr>
          <a:xfrm>
            <a:off x="548640" y="2331720"/>
            <a:ext cx="146304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Main</a:t>
            </a:r>
            <a:endParaRPr lang="en-US" sz="2000" dirty="0"/>
          </a:p>
        </p:txBody>
      </p:sp>
      <p:sp>
        <p:nvSpPr>
          <p:cNvPr id="5" name="Call 1"/>
          <p:cNvSpPr/>
          <p:nvPr/>
        </p:nvSpPr>
        <p:spPr>
          <a:xfrm flipV="1">
            <a:off x="2011680" y="1399032"/>
            <a:ext cx="685800" cy="1298448"/>
          </a:xfrm>
          <a:prstGeom prst="line">
            <a:avLst/>
          </a:prstGeom>
          <a:noFill/>
          <a:ln w="15875">
            <a:solidFill>
              <a:schemeClr val="accent4"/>
            </a:solidFill>
            <a:prstDash val="solid"/>
            <a:tailEnd type="triangle"/>
          </a:ln>
        </p:spPr>
      </p:sp>
      <p:sp>
        <p:nvSpPr>
          <p:cNvPr id="6" name="Function 1"/>
          <p:cNvSpPr/>
          <p:nvPr/>
        </p:nvSpPr>
        <p:spPr>
          <a:xfrm>
            <a:off x="2697480" y="1188720"/>
            <a:ext cx="2331720" cy="420624"/>
          </a:xfrm>
          <a:prstGeom prst="roundRect">
            <a:avLst>
              <a:gd name="adj" fmla="val 26087"/>
            </a:avLst>
          </a:prstGeom>
          <a:solidFill>
            <a:schemeClr val="bg2"/>
          </a:solidFill>
          <a:ln w="12700">
            <a:solidFill>
              <a:schemeClr val="bg2"/>
            </a:solidFill>
            <a:prstDash val="solid"/>
          </a:ln>
        </p:spPr>
      </p:sp>
      <p:sp>
        <p:nvSpPr>
          <p:cNvPr id="7" name="Function 1 label"/>
          <p:cNvSpPr txBox="1"/>
          <p:nvPr/>
        </p:nvSpPr>
        <p:spPr>
          <a:xfrm>
            <a:off x="2697480" y="1188720"/>
            <a:ext cx="2331720" cy="420624"/>
          </a:xfrm>
          <a:prstGeom prst="rect">
            <a:avLst/>
          </a:prstGeom>
          <a:no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getCustomerDetails()</a:t>
            </a:r>
            <a:endParaRPr lang="en-US" sz="1300" dirty="0"/>
          </a:p>
        </p:txBody>
      </p:sp>
      <p:sp>
        <p:nvSpPr>
          <p:cNvPr id="8" name="Function 1 text"/>
          <p:cNvSpPr txBox="1"/>
          <p:nvPr/>
        </p:nvSpPr>
        <p:spPr>
          <a:xfrm>
            <a:off x="5166360" y="1188720"/>
            <a:ext cx="2103120" cy="420624"/>
          </a:xfrm>
          <a:prstGeom prst="rect">
            <a:avLst/>
          </a:prstGeom>
          <a:noFill/>
          <a:ln/>
        </p:spPr>
        <p:txBody>
          <a:bodyPr wrap="square" lIns="0" tIns="0" rIns="0" bIns="0" rtlCol="0" anchor="ctr"/>
          <a:lstStyle/>
          <a:p>
            <a:pPr indent="0" marL="0">
              <a:buNone/>
            </a:pPr>
            <a:r>
              <a:rPr lang="en-US" sz="1400" dirty="0">
                <a:solidFill>
                  <a:schemeClr val="tx2"/>
                </a:solidFill>
              </a:rPr>
              <a:t>1. name, address, phone</a:t>
            </a:r>
            <a:endParaRPr lang="en-US" sz="1400" dirty="0"/>
          </a:p>
        </p:txBody>
      </p:sp>
      <p:sp>
        <p:nvSpPr>
          <p:cNvPr id="9" name="Call 2"/>
          <p:cNvSpPr/>
          <p:nvPr/>
        </p:nvSpPr>
        <p:spPr>
          <a:xfrm flipV="1">
            <a:off x="2011680" y="1947672"/>
            <a:ext cx="685800" cy="749808"/>
          </a:xfrm>
          <a:prstGeom prst="line">
            <a:avLst/>
          </a:prstGeom>
          <a:noFill/>
          <a:ln w="15875">
            <a:solidFill>
              <a:schemeClr val="accent4"/>
            </a:solidFill>
            <a:prstDash val="solid"/>
            <a:tailEnd type="triangle"/>
          </a:ln>
        </p:spPr>
      </p:sp>
      <p:sp>
        <p:nvSpPr>
          <p:cNvPr id="10" name="Function 2"/>
          <p:cNvSpPr/>
          <p:nvPr/>
        </p:nvSpPr>
        <p:spPr>
          <a:xfrm>
            <a:off x="2697480" y="1737360"/>
            <a:ext cx="2331720" cy="420624"/>
          </a:xfrm>
          <a:prstGeom prst="roundRect">
            <a:avLst>
              <a:gd name="adj" fmla="val 26087"/>
            </a:avLst>
          </a:prstGeom>
          <a:solidFill>
            <a:schemeClr val="bg2"/>
          </a:solidFill>
          <a:ln w="12700">
            <a:solidFill>
              <a:schemeClr val="bg2"/>
            </a:solidFill>
            <a:prstDash val="solid"/>
          </a:ln>
        </p:spPr>
      </p:sp>
      <p:sp>
        <p:nvSpPr>
          <p:cNvPr id="11" name="Function 2 label"/>
          <p:cNvSpPr txBox="1"/>
          <p:nvPr/>
        </p:nvSpPr>
        <p:spPr>
          <a:xfrm>
            <a:off x="2697480" y="1737360"/>
            <a:ext cx="2331720" cy="420624"/>
          </a:xfrm>
          <a:prstGeom prst="rect">
            <a:avLst/>
          </a:prstGeom>
          <a:no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getPizzas()</a:t>
            </a:r>
            <a:endParaRPr lang="en-US" sz="1300" dirty="0"/>
          </a:p>
        </p:txBody>
      </p:sp>
      <p:sp>
        <p:nvSpPr>
          <p:cNvPr id="12" name="Function 2 text"/>
          <p:cNvSpPr txBox="1"/>
          <p:nvPr/>
        </p:nvSpPr>
        <p:spPr>
          <a:xfrm>
            <a:off x="5166360" y="1737360"/>
            <a:ext cx="2103120" cy="420624"/>
          </a:xfrm>
          <a:prstGeom prst="rect">
            <a:avLst/>
          </a:prstGeom>
          <a:noFill/>
          <a:ln/>
        </p:spPr>
        <p:txBody>
          <a:bodyPr wrap="square" lIns="0" tIns="0" rIns="0" bIns="0" rtlCol="0" anchor="ctr"/>
          <a:lstStyle/>
          <a:p>
            <a:pPr indent="0" marL="0">
              <a:buNone/>
            </a:pPr>
            <a:r>
              <a:rPr lang="en-US" sz="1400" dirty="0">
                <a:solidFill>
                  <a:schemeClr val="tx2"/>
                </a:solidFill>
              </a:rPr>
              <a:t>2. how many pizzas (1 to 6)</a:t>
            </a:r>
            <a:endParaRPr lang="en-US" sz="1400" dirty="0"/>
          </a:p>
        </p:txBody>
      </p:sp>
      <p:sp>
        <p:nvSpPr>
          <p:cNvPr id="13" name="Call 3"/>
          <p:cNvSpPr/>
          <p:nvPr/>
        </p:nvSpPr>
        <p:spPr>
          <a:xfrm flipV="1">
            <a:off x="2011680" y="2496312"/>
            <a:ext cx="685800" cy="201168"/>
          </a:xfrm>
          <a:prstGeom prst="line">
            <a:avLst/>
          </a:prstGeom>
          <a:noFill/>
          <a:ln w="15875">
            <a:solidFill>
              <a:schemeClr val="accent4"/>
            </a:solidFill>
            <a:prstDash val="solid"/>
            <a:tailEnd type="triangle"/>
          </a:ln>
        </p:spPr>
      </p:sp>
      <p:sp>
        <p:nvSpPr>
          <p:cNvPr id="14" name="Function 3"/>
          <p:cNvSpPr/>
          <p:nvPr/>
        </p:nvSpPr>
        <p:spPr>
          <a:xfrm>
            <a:off x="2697480" y="2286000"/>
            <a:ext cx="2331720" cy="420624"/>
          </a:xfrm>
          <a:prstGeom prst="roundRect">
            <a:avLst>
              <a:gd name="adj" fmla="val 26087"/>
            </a:avLst>
          </a:prstGeom>
          <a:solidFill>
            <a:schemeClr val="bg2"/>
          </a:solidFill>
          <a:ln w="12700">
            <a:solidFill>
              <a:schemeClr val="bg2"/>
            </a:solidFill>
            <a:prstDash val="solid"/>
          </a:ln>
        </p:spPr>
      </p:sp>
      <p:sp>
        <p:nvSpPr>
          <p:cNvPr id="15" name="Function 3 label"/>
          <p:cNvSpPr txBox="1"/>
          <p:nvPr/>
        </p:nvSpPr>
        <p:spPr>
          <a:xfrm>
            <a:off x="2697480" y="2286000"/>
            <a:ext cx="2331720" cy="420624"/>
          </a:xfrm>
          <a:prstGeom prst="rect">
            <a:avLst/>
          </a:prstGeom>
          <a:no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choosePizzas()</a:t>
            </a:r>
            <a:endParaRPr lang="en-US" sz="1300" dirty="0"/>
          </a:p>
        </p:txBody>
      </p:sp>
      <p:sp>
        <p:nvSpPr>
          <p:cNvPr id="16" name="Function 3 text"/>
          <p:cNvSpPr txBox="1"/>
          <p:nvPr/>
        </p:nvSpPr>
        <p:spPr>
          <a:xfrm>
            <a:off x="5166360" y="2286000"/>
            <a:ext cx="2103120" cy="420624"/>
          </a:xfrm>
          <a:prstGeom prst="rect">
            <a:avLst/>
          </a:prstGeom>
          <a:noFill/>
          <a:ln/>
        </p:spPr>
        <p:txBody>
          <a:bodyPr wrap="square" lIns="0" tIns="0" rIns="0" bIns="0" rtlCol="0" anchor="ctr"/>
          <a:lstStyle/>
          <a:p>
            <a:pPr indent="0" marL="0">
              <a:buNone/>
            </a:pPr>
            <a:r>
              <a:rPr lang="en-US" sz="1400" dirty="0">
                <a:solidFill>
                  <a:schemeClr val="tx2"/>
                </a:solidFill>
              </a:rPr>
              <a:t>3. size and toppings for each</a:t>
            </a:r>
            <a:endParaRPr lang="en-US" sz="1400" dirty="0"/>
          </a:p>
        </p:txBody>
      </p:sp>
      <p:sp>
        <p:nvSpPr>
          <p:cNvPr id="17" name="Call 4"/>
          <p:cNvSpPr/>
          <p:nvPr/>
        </p:nvSpPr>
        <p:spPr>
          <a:xfrm>
            <a:off x="2011680" y="2697480"/>
            <a:ext cx="685800" cy="347472"/>
          </a:xfrm>
          <a:prstGeom prst="line">
            <a:avLst/>
          </a:prstGeom>
          <a:noFill/>
          <a:ln w="15875">
            <a:solidFill>
              <a:schemeClr val="accent4"/>
            </a:solidFill>
            <a:prstDash val="solid"/>
            <a:tailEnd type="triangle"/>
          </a:ln>
        </p:spPr>
      </p:sp>
      <p:sp>
        <p:nvSpPr>
          <p:cNvPr id="18" name="Function 4"/>
          <p:cNvSpPr/>
          <p:nvPr/>
        </p:nvSpPr>
        <p:spPr>
          <a:xfrm>
            <a:off x="2697480" y="2834640"/>
            <a:ext cx="2331720" cy="420624"/>
          </a:xfrm>
          <a:prstGeom prst="roundRect">
            <a:avLst>
              <a:gd name="adj" fmla="val 26087"/>
            </a:avLst>
          </a:prstGeom>
          <a:solidFill>
            <a:schemeClr val="bg2"/>
          </a:solidFill>
          <a:ln w="12700">
            <a:solidFill>
              <a:schemeClr val="bg2"/>
            </a:solidFill>
            <a:prstDash val="solid"/>
          </a:ln>
        </p:spPr>
      </p:sp>
      <p:sp>
        <p:nvSpPr>
          <p:cNvPr id="19" name="Function 4 label"/>
          <p:cNvSpPr txBox="1"/>
          <p:nvPr/>
        </p:nvSpPr>
        <p:spPr>
          <a:xfrm>
            <a:off x="2697480" y="2834640"/>
            <a:ext cx="2331720" cy="420624"/>
          </a:xfrm>
          <a:prstGeom prst="rect">
            <a:avLst/>
          </a:prstGeom>
          <a:no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getDelivery()</a:t>
            </a:r>
            <a:endParaRPr lang="en-US" sz="1300" dirty="0"/>
          </a:p>
        </p:txBody>
      </p:sp>
      <p:sp>
        <p:nvSpPr>
          <p:cNvPr id="20" name="Function 4 text"/>
          <p:cNvSpPr txBox="1"/>
          <p:nvPr/>
        </p:nvSpPr>
        <p:spPr>
          <a:xfrm>
            <a:off x="5166360" y="2834640"/>
            <a:ext cx="2103120" cy="420624"/>
          </a:xfrm>
          <a:prstGeom prst="rect">
            <a:avLst/>
          </a:prstGeom>
          <a:noFill/>
          <a:ln/>
        </p:spPr>
        <p:txBody>
          <a:bodyPr wrap="square" lIns="0" tIns="0" rIns="0" bIns="0" rtlCol="0" anchor="ctr"/>
          <a:lstStyle/>
          <a:p>
            <a:pPr indent="0" marL="0">
              <a:buNone/>
            </a:pPr>
            <a:r>
              <a:rPr lang="en-US" sz="1400" dirty="0">
                <a:solidFill>
                  <a:schemeClr val="tx2"/>
                </a:solidFill>
              </a:rPr>
              <a:t>4. Y or N</a:t>
            </a:r>
            <a:endParaRPr lang="en-US" sz="1400" dirty="0"/>
          </a:p>
        </p:txBody>
      </p:sp>
      <p:sp>
        <p:nvSpPr>
          <p:cNvPr id="21" name="Call 5"/>
          <p:cNvSpPr/>
          <p:nvPr/>
        </p:nvSpPr>
        <p:spPr>
          <a:xfrm>
            <a:off x="2011680" y="2697480"/>
            <a:ext cx="685800" cy="896112"/>
          </a:xfrm>
          <a:prstGeom prst="line">
            <a:avLst/>
          </a:prstGeom>
          <a:noFill/>
          <a:ln w="15875">
            <a:solidFill>
              <a:schemeClr val="accent4"/>
            </a:solidFill>
            <a:prstDash val="solid"/>
            <a:tailEnd type="triangle"/>
          </a:ln>
        </p:spPr>
      </p:sp>
      <p:sp>
        <p:nvSpPr>
          <p:cNvPr id="22" name="Function 5"/>
          <p:cNvSpPr/>
          <p:nvPr/>
        </p:nvSpPr>
        <p:spPr>
          <a:xfrm>
            <a:off x="2697480" y="3383280"/>
            <a:ext cx="2331720" cy="420624"/>
          </a:xfrm>
          <a:prstGeom prst="roundRect">
            <a:avLst>
              <a:gd name="adj" fmla="val 26087"/>
            </a:avLst>
          </a:prstGeom>
          <a:solidFill>
            <a:schemeClr val="bg2"/>
          </a:solidFill>
          <a:ln w="12700">
            <a:solidFill>
              <a:schemeClr val="bg2"/>
            </a:solidFill>
            <a:prstDash val="solid"/>
          </a:ln>
        </p:spPr>
      </p:sp>
      <p:sp>
        <p:nvSpPr>
          <p:cNvPr id="23" name="Function 5 label"/>
          <p:cNvSpPr txBox="1"/>
          <p:nvPr/>
        </p:nvSpPr>
        <p:spPr>
          <a:xfrm>
            <a:off x="2697480" y="3383280"/>
            <a:ext cx="2331720" cy="420624"/>
          </a:xfrm>
          <a:prstGeom prst="rect">
            <a:avLst/>
          </a:prstGeom>
          <a:no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calcTotals()</a:t>
            </a:r>
            <a:endParaRPr lang="en-US" sz="1300" dirty="0"/>
          </a:p>
        </p:txBody>
      </p:sp>
      <p:sp>
        <p:nvSpPr>
          <p:cNvPr id="24" name="Function 5 text"/>
          <p:cNvSpPr txBox="1"/>
          <p:nvPr/>
        </p:nvSpPr>
        <p:spPr>
          <a:xfrm>
            <a:off x="5166360" y="3383280"/>
            <a:ext cx="2103120" cy="420624"/>
          </a:xfrm>
          <a:prstGeom prst="rect">
            <a:avLst/>
          </a:prstGeom>
          <a:noFill/>
          <a:ln/>
        </p:spPr>
        <p:txBody>
          <a:bodyPr wrap="square" lIns="0" tIns="0" rIns="0" bIns="0" rtlCol="0" anchor="ctr"/>
          <a:lstStyle/>
          <a:p>
            <a:pPr indent="0" marL="0">
              <a:buNone/>
            </a:pPr>
            <a:r>
              <a:rPr lang="en-US" sz="1400" dirty="0">
                <a:solidFill>
                  <a:schemeClr val="tx2"/>
                </a:solidFill>
              </a:rPr>
              <a:t>5. subtotal, discount, total</a:t>
            </a:r>
            <a:endParaRPr lang="en-US" sz="1400" dirty="0"/>
          </a:p>
        </p:txBody>
      </p:sp>
      <p:sp>
        <p:nvSpPr>
          <p:cNvPr id="25" name="Call 6"/>
          <p:cNvSpPr/>
          <p:nvPr/>
        </p:nvSpPr>
        <p:spPr>
          <a:xfrm>
            <a:off x="2011680" y="2697480"/>
            <a:ext cx="685800" cy="1444752"/>
          </a:xfrm>
          <a:prstGeom prst="line">
            <a:avLst/>
          </a:prstGeom>
          <a:noFill/>
          <a:ln w="15875">
            <a:solidFill>
              <a:schemeClr val="accent4"/>
            </a:solidFill>
            <a:prstDash val="solid"/>
            <a:tailEnd type="triangle"/>
          </a:ln>
        </p:spPr>
      </p:sp>
      <p:sp>
        <p:nvSpPr>
          <p:cNvPr id="26" name="Function 6"/>
          <p:cNvSpPr/>
          <p:nvPr/>
        </p:nvSpPr>
        <p:spPr>
          <a:xfrm>
            <a:off x="2697480" y="3931920"/>
            <a:ext cx="2331720" cy="420624"/>
          </a:xfrm>
          <a:prstGeom prst="roundRect">
            <a:avLst>
              <a:gd name="adj" fmla="val 26087"/>
            </a:avLst>
          </a:prstGeom>
          <a:solidFill>
            <a:schemeClr val="bg2"/>
          </a:solidFill>
          <a:ln w="12700">
            <a:solidFill>
              <a:schemeClr val="bg2"/>
            </a:solidFill>
            <a:prstDash val="solid"/>
          </a:ln>
        </p:spPr>
      </p:sp>
      <p:sp>
        <p:nvSpPr>
          <p:cNvPr id="27" name="Function 6 label"/>
          <p:cNvSpPr txBox="1"/>
          <p:nvPr/>
        </p:nvSpPr>
        <p:spPr>
          <a:xfrm>
            <a:off x="2697480" y="3931920"/>
            <a:ext cx="2331720" cy="420624"/>
          </a:xfrm>
          <a:prstGeom prst="rect">
            <a:avLst/>
          </a:prstGeom>
          <a:no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displayBill()</a:t>
            </a:r>
            <a:endParaRPr lang="en-US" sz="1300" dirty="0"/>
          </a:p>
        </p:txBody>
      </p:sp>
      <p:sp>
        <p:nvSpPr>
          <p:cNvPr id="28" name="Function 6 text"/>
          <p:cNvSpPr txBox="1"/>
          <p:nvPr/>
        </p:nvSpPr>
        <p:spPr>
          <a:xfrm>
            <a:off x="5166360" y="3931920"/>
            <a:ext cx="2103120" cy="420624"/>
          </a:xfrm>
          <a:prstGeom prst="rect">
            <a:avLst/>
          </a:prstGeom>
          <a:noFill/>
          <a:ln/>
        </p:spPr>
        <p:txBody>
          <a:bodyPr wrap="square" lIns="0" tIns="0" rIns="0" bIns="0" rtlCol="0" anchor="ctr"/>
          <a:lstStyle/>
          <a:p>
            <a:pPr indent="0" marL="0">
              <a:buNone/>
            </a:pPr>
            <a:r>
              <a:rPr lang="en-US" sz="1400" dirty="0">
                <a:solidFill>
                  <a:schemeClr val="tx2"/>
                </a:solidFill>
              </a:rPr>
              <a:t>6. prints the bill</a:t>
            </a:r>
            <a:endParaRPr lang="en-US" sz="1400" dirty="0"/>
          </a:p>
        </p:txBody>
      </p:sp>
      <p:sp>
        <p:nvSpPr>
          <p:cNvPr id="29" name="Helper card"/>
          <p:cNvSpPr/>
          <p:nvPr/>
        </p:nvSpPr>
        <p:spPr>
          <a:xfrm>
            <a:off x="7315200" y="1874520"/>
            <a:ext cx="1417320" cy="1600200"/>
          </a:xfrm>
          <a:prstGeom prst="roundRect">
            <a:avLst>
              <a:gd name="adj" fmla="val 7742"/>
            </a:avLst>
          </a:prstGeom>
          <a:solidFill>
            <a:schemeClr val="accent6"/>
          </a:solidFill>
          <a:ln w="12700">
            <a:solidFill>
              <a:schemeClr val="accent6"/>
            </a:solidFill>
            <a:prstDash val="solid"/>
          </a:ln>
        </p:spPr>
      </p:sp>
      <p:sp>
        <p:nvSpPr>
          <p:cNvPr id="30" name="Helper label"/>
          <p:cNvSpPr txBox="1"/>
          <p:nvPr/>
        </p:nvSpPr>
        <p:spPr>
          <a:xfrm>
            <a:off x="7406640" y="1965960"/>
            <a:ext cx="1234440" cy="274320"/>
          </a:xfrm>
          <a:prstGeom prst="rect">
            <a:avLst/>
          </a:prstGeom>
          <a:noFill/>
          <a:ln/>
        </p:spPr>
        <p:txBody>
          <a:bodyPr wrap="square" lIns="0" tIns="0" rIns="0" bIns="0" rtlCol="0" anchor="ctr"/>
          <a:lstStyle/>
          <a:p>
            <a:pPr indent="0" marL="0">
              <a:buNone/>
            </a:pPr>
            <a:r>
              <a:rPr lang="en-US" sz="1200" b="1" dirty="0">
                <a:solidFill>
                  <a:schemeClr val="accent2"/>
                </a:solidFill>
              </a:rPr>
              <a:t>Helper</a:t>
            </a:r>
            <a:endParaRPr lang="en-US" sz="1200" dirty="0"/>
          </a:p>
        </p:txBody>
      </p:sp>
      <p:sp>
        <p:nvSpPr>
          <p:cNvPr id="31" name="Helper name"/>
          <p:cNvSpPr txBox="1"/>
          <p:nvPr/>
        </p:nvSpPr>
        <p:spPr>
          <a:xfrm>
            <a:off x="7406640" y="2240280"/>
            <a:ext cx="1234440" cy="320040"/>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pizzaPrice()</a:t>
            </a:r>
            <a:endParaRPr lang="en-US" sz="1200" dirty="0"/>
          </a:p>
        </p:txBody>
      </p:sp>
      <p:sp>
        <p:nvSpPr>
          <p:cNvPr id="32" name="Helper text"/>
          <p:cNvSpPr txBox="1"/>
          <p:nvPr/>
        </p:nvSpPr>
        <p:spPr>
          <a:xfrm>
            <a:off x="7406640" y="2606040"/>
            <a:ext cx="1234440" cy="777240"/>
          </a:xfrm>
          <a:prstGeom prst="rect">
            <a:avLst/>
          </a:prstGeom>
          <a:noFill/>
          <a:ln/>
        </p:spPr>
        <p:txBody>
          <a:bodyPr wrap="square" lIns="0" tIns="0" rIns="0" bIns="0" rtlCol="0" anchor="t"/>
          <a:lstStyle/>
          <a:p>
            <a:pPr indent="0" marL="0">
              <a:buNone/>
            </a:pPr>
            <a:r>
              <a:rPr lang="en-US" sz="1200" dirty="0">
                <a:solidFill>
                  <a:schemeClr val="tx2"/>
                </a:solidFill>
              </a:rPr>
              <a:t>Price of one pizza, used by 3 functions</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Prices are stored in arrays</a:t>
            </a:r>
            <a:endParaRPr lang="en-US" sz="3200" dirty="0"/>
          </a:p>
        </p:txBody>
      </p:sp>
      <p:sp>
        <p:nvSpPr>
          <p:cNvPr id="3" name="Sizes heading"/>
          <p:cNvSpPr txBox="1"/>
          <p:nvPr/>
        </p:nvSpPr>
        <p:spPr>
          <a:xfrm>
            <a:off x="548640" y="1143000"/>
            <a:ext cx="3840480" cy="320040"/>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sizePrice[ ]  and  sizeNames[ ]</a:t>
            </a:r>
            <a:endParaRPr lang="en-US" sz="1400" dirty="0"/>
          </a:p>
        </p:txBody>
      </p:sp>
      <p:graphicFrame>
        <p:nvGraphicFramePr>
          <p:cNvPr id="5" name="Sizes table"/>
          <p:cNvGraphicFramePr>
            <a:graphicFrameLocks noGrp="1"/>
          </p:cNvGraphicFramePr>
          <p:nvPr>
            <p:extLst>
              <p:ext uri="{D42A27DB-BD31-4B8C-83A1-F6EECF244321}">
                <p14:modId xmlns:p14="http://schemas.microsoft.com/office/powerpoint/2010/main" val="1579011935"/>
              </p:ext>
            </p:extLst>
          </p:nvPr>
        </p:nvGraphicFramePr>
        <p:xfrm>
          <a:off x="548640" y="1554480"/>
          <a:ext cx="3657600" cy="914400"/>
        </p:xfrm>
        <a:graphic>
          <a:graphicData uri="http://schemas.openxmlformats.org/drawingml/2006/table">
            <a:tbl>
              <a:tblPr/>
              <a:tblGrid>
                <a:gridCol w="914400"/>
                <a:gridCol w="1463040"/>
                <a:gridCol w="1280160"/>
              </a:tblGrid>
              <a:tr h="384048">
                <a:tc>
                  <a:txBody>
                    <a:bodyPr/>
                    <a:lstStyle/>
                    <a:p>
                      <a:pPr indent="0" marL="0">
                        <a:buNone/>
                      </a:pPr>
                      <a:r>
                        <a:rPr lang="en-US" sz="1400" b="1" dirty="0">
                          <a:solidFill>
                            <a:schemeClr val="bg1"/>
                          </a:solidFill>
                        </a:rPr>
                        <a:t>Index</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Size</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Price</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accent1"/>
                    </a:solidFill>
                  </a:tcPr>
                </a:tc>
              </a:tr>
              <a:tr h="384048">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Small</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£3.25</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Medium</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£5.50</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Large</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£7.15</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r>
            </a:tbl>
          </a:graphicData>
        </a:graphic>
      </p:graphicFrame>
      <p:sp>
        <p:nvSpPr>
          <p:cNvPr id="5" name="Toppings heading"/>
          <p:cNvSpPr txBox="1"/>
          <p:nvPr/>
        </p:nvSpPr>
        <p:spPr>
          <a:xfrm>
            <a:off x="4937760" y="1143000"/>
            <a:ext cx="3657600" cy="320040"/>
          </a:xfrm>
          <a:prstGeom prst="rect">
            <a:avLst/>
          </a:prstGeom>
          <a:noFill/>
          <a:ln/>
        </p:spPr>
        <p:txBody>
          <a:bodyPr wrap="square" lIns="0" tIns="0" rIns="0" bIns="0" rtlCol="0" anchor="ctr"/>
          <a:lstStyle/>
          <a:p>
            <a:pPr indent="0" marL="0">
              <a:buNone/>
            </a:pPr>
            <a:r>
              <a:rPr lang="en-US" sz="1400" b="1" dirty="0">
                <a:solidFill>
                  <a:schemeClr val="tx1"/>
                </a:solidFill>
                <a:latin typeface="Courier New" pitchFamily="34" charset="0"/>
                <a:ea typeface="Courier New" pitchFamily="34" charset="-122"/>
                <a:cs typeface="Courier New" pitchFamily="34" charset="-120"/>
              </a:rPr>
              <a:t>toppingPrice[ ]</a:t>
            </a:r>
            <a:endParaRPr lang="en-US" sz="1400" dirty="0"/>
          </a:p>
        </p:txBody>
      </p:sp>
      <p:graphicFrame>
        <p:nvGraphicFramePr>
          <p:cNvPr id="9" name="Toppings table"/>
          <p:cNvGraphicFramePr>
            <a:graphicFrameLocks noGrp="1"/>
          </p:cNvGraphicFramePr>
          <p:nvPr>
            <p:extLst>
              <p:ext uri="{D42A27DB-BD31-4B8C-83A1-F6EECF244321}">
                <p14:modId xmlns:p14="http://schemas.microsoft.com/office/powerpoint/2010/main" val="1579011935"/>
              </p:ext>
            </p:extLst>
          </p:nvPr>
        </p:nvGraphicFramePr>
        <p:xfrm>
          <a:off x="4937760" y="1554480"/>
          <a:ext cx="3657600" cy="914400"/>
        </p:xfrm>
        <a:graphic>
          <a:graphicData uri="http://schemas.openxmlformats.org/drawingml/2006/table">
            <a:tbl>
              <a:tblPr/>
              <a:tblGrid>
                <a:gridCol w="1645920"/>
                <a:gridCol w="2011680"/>
              </a:tblGrid>
              <a:tr h="384048">
                <a:tc>
                  <a:txBody>
                    <a:bodyPr/>
                    <a:lstStyle/>
                    <a:p>
                      <a:pPr indent="0" marL="0">
                        <a:buNone/>
                      </a:pPr>
                      <a:r>
                        <a:rPr lang="en-US" sz="1400" b="1" dirty="0">
                          <a:solidFill>
                            <a:schemeClr val="bg1"/>
                          </a:solidFill>
                        </a:rPr>
                        <a:t>Toppings</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Extra cost</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accent1"/>
                    </a:solidFill>
                  </a:tcPr>
                </a:tc>
              </a:tr>
              <a:tr h="384048">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£0.00</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£0.75</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£1.35</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£2.00</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4 or more</a:t>
                      </a:r>
                      <a:endParaRPr lang="en-US" sz="1400" dirty="0">
                        <a:latin typeface="Courier New" charset="0"/>
                        <a:ea typeface="Courier New" charset="0"/>
                        <a:cs typeface="Courier New" charset="0"/>
                      </a:endParaRPr>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£2.50</a:t>
                      </a:r>
                      <a:endParaRPr lang="en-US" sz="14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r>
            </a:tbl>
          </a:graphicData>
        </a:graphic>
      </p:graphicFrame>
      <p:sp>
        <p:nvSpPr>
          <p:cNvPr id="7" name="Lookup note"/>
          <p:cNvSpPr txBox="1"/>
          <p:nvPr/>
        </p:nvSpPr>
        <p:spPr>
          <a:xfrm>
            <a:off x="548640" y="3291840"/>
            <a:ext cx="3840480" cy="822960"/>
          </a:xfrm>
          <a:prstGeom prst="rect">
            <a:avLst/>
          </a:prstGeom>
          <a:noFill/>
          <a:ln/>
        </p:spPr>
        <p:txBody>
          <a:bodyPr wrap="square" lIns="0" tIns="0" rIns="0" bIns="0" rtlCol="0" anchor="t"/>
          <a:lstStyle/>
          <a:p>
            <a:pPr indent="0" marL="0">
              <a:buNone/>
            </a:pPr>
            <a:r>
              <a:rPr lang="en-US" sz="1400" dirty="0">
                <a:solidFill>
                  <a:schemeClr val="tx2"/>
                </a:solidFill>
              </a:rPr>
              <a:t>The index is the customer’s choice, so each price is one lookup: </a:t>
            </a:r>
            <a:pPr indent="0" marL="0">
              <a:buNone/>
            </a:pPr>
            <a:r>
              <a:rPr lang="en-US" sz="1400" b="1" dirty="0">
                <a:solidFill>
                  <a:schemeClr val="accent1"/>
                </a:solidFill>
                <a:latin typeface="Courier New" pitchFamily="34" charset="0"/>
                <a:ea typeface="Courier New" pitchFamily="34" charset="-122"/>
                <a:cs typeface="Courier New" pitchFamily="34" charset="-120"/>
              </a:rPr>
              <a:t>sizePrice[size]</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Every input is checked</a:t>
            </a:r>
            <a:endParaRPr lang="en-US" sz="3200" dirty="0"/>
          </a:p>
        </p:txBody>
      </p:sp>
      <p:graphicFrame>
        <p:nvGraphicFramePr>
          <p:cNvPr id="6" name="Validation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011680"/>
                <a:gridCol w="1463040"/>
                <a:gridCol w="4754880"/>
              </a:tblGrid>
              <a:tr h="384048">
                <a:tc>
                  <a:txBody>
                    <a:bodyPr/>
                    <a:lstStyle/>
                    <a:p>
                      <a:pPr indent="0" marL="0">
                        <a:buNone/>
                      </a:pPr>
                      <a:r>
                        <a:rPr lang="en-US" sz="1300" b="1" dirty="0">
                          <a:solidFill>
                            <a:schemeClr val="bg1"/>
                          </a:solidFill>
                        </a:rPr>
                        <a:t>Input</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Rule</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Message shown</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tx1"/>
                    </a:solidFill>
                  </a:tcPr>
                </a:tc>
              </a:tr>
              <a:tr h="384048">
                <a:tc>
                  <a:txBody>
                    <a:bodyPr/>
                    <a:lstStyle/>
                    <a:p>
                      <a:pPr indent="0" marL="0">
                        <a:buNone/>
                      </a:pPr>
                      <a:r>
                        <a:rPr lang="en-US" sz="1300" dirty="0">
                          <a:solidFill>
                            <a:schemeClr val="tx1"/>
                          </a:solidFill>
                        </a:rPr>
                        <a:t>Name, address, phone</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Cannot be blank</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300" i="1" dirty="0">
                          <a:solidFill>
                            <a:schemeClr val="accent1"/>
                          </a:solidFill>
                        </a:rPr>
                        <a:t>“This cannot be blank, try again!”</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Number of pizzas</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 to 6</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300" i="1" dirty="0">
                          <a:solidFill>
                            <a:schemeClr val="accent1"/>
                          </a:solidFill>
                        </a:rPr>
                        <a:t>“Error, must be between 1 and 6!”</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Pizza size</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 1 or 2</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300" i="1" dirty="0">
                          <a:solidFill>
                            <a:schemeClr val="accent1"/>
                          </a:solidFill>
                        </a:rPr>
                        <a:t>“Invalid choice. Please enter an ID from 0 to 2”</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Toppings</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 or more</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300" i="1" dirty="0">
                          <a:solidFill>
                            <a:schemeClr val="accent1"/>
                          </a:solidFill>
                        </a:rPr>
                        <a:t>“Invalid. Toppings cannot be less than 0”</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rPr>
                        <a:t>Delivery</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Y or N</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c>
                  <a:txBody>
                    <a:bodyPr/>
                    <a:lstStyle/>
                    <a:p>
                      <a:pPr indent="0" marL="0">
                        <a:buNone/>
                      </a:pPr>
                      <a:r>
                        <a:rPr lang="en-US" sz="1300" i="1" dirty="0">
                          <a:solidFill>
                            <a:schemeClr val="accent1"/>
                          </a:solidFill>
                        </a:rPr>
                        <a:t>“Please enter Y or N”</a:t>
                      </a:r>
                      <a:endParaRPr lang="en-US" sz="1300" dirty="0"/>
                    </a:p>
                  </a:txBody>
                  <a:tcPr marL="91440" marR="91440" marT="45720" marB="45720" anchor="ctr">
                    <a:lnL w="9525" cap="flat" cmpd="sng" algn="ctr">
                      <a:solidFill>
                        <a:srgbClr val="F3D3CE"/>
                      </a:solidFill>
                      <a:prstDash val="solid"/>
                      <a:round/>
                      <a:headEnd type="none" w="med" len="med"/>
                      <a:tailEnd type="none" w="med" len="med"/>
                    </a:lnL>
                    <a:lnR w="9525" cap="flat" cmpd="sng" algn="ctr">
                      <a:solidFill>
                        <a:srgbClr val="F3D3CE"/>
                      </a:solidFill>
                      <a:prstDash val="solid"/>
                      <a:round/>
                      <a:headEnd type="none" w="med" len="med"/>
                      <a:tailEnd type="none" w="med" len="med"/>
                    </a:lnR>
                    <a:lnT w="9525" cap="flat" cmpd="sng" algn="ctr">
                      <a:solidFill>
                        <a:srgbClr val="F3D3CE"/>
                      </a:solidFill>
                      <a:prstDash val="solid"/>
                      <a:round/>
                      <a:headEnd type="none" w="med" len="med"/>
                      <a:tailEnd type="none" w="med" len="med"/>
                    </a:lnT>
                    <a:lnB w="9525" cap="flat" cmpd="sng" algn="ctr">
                      <a:solidFill>
                        <a:srgbClr val="F3D3CE"/>
                      </a:solidFill>
                      <a:prstDash val="solid"/>
                      <a:round/>
                      <a:headEnd type="none" w="med" len="med"/>
                      <a:tailEnd type="none" w="med" len="med"/>
                    </a:lnB>
                    <a:solidFill>
                      <a:schemeClr val="bg1"/>
                    </a:solidFill>
                  </a:tcPr>
                </a:tc>
              </a:tr>
            </a:tbl>
          </a:graphicData>
        </a:graphic>
      </p:graphicFrame>
      <p:sp>
        <p:nvSpPr>
          <p:cNvPr id="4" name="Loop circle"/>
          <p:cNvSpPr/>
          <p:nvPr/>
        </p:nvSpPr>
        <p:spPr>
          <a:xfrm>
            <a:off x="457200" y="3840480"/>
            <a:ext cx="548640" cy="548640"/>
          </a:xfrm>
          <a:prstGeom prst="ellipse">
            <a:avLst/>
          </a:prstGeom>
          <a:solidFill>
            <a:schemeClr val="accent2"/>
          </a:solidFill>
          <a:ln w="12700">
            <a:solidFill>
              <a:schemeClr val="accent2"/>
            </a:solidFill>
            <a:prstDash val="solid"/>
          </a:ln>
        </p:spPr>
      </p:sp>
      <p:pic>
        <p:nvPicPr>
          <p:cNvPr id="5" name="Loop icon" descr="preencoded.png">    </p:cNvPr>
          <p:cNvPicPr>
            <a:picLocks noChangeAspect="1"/>
          </p:cNvPicPr>
          <p:nvPr/>
        </p:nvPicPr>
        <p:blipFill>
          <a:blip r:embed="rId1"/>
          <a:stretch>
            <a:fillRect/>
          </a:stretch>
        </p:blipFill>
        <p:spPr>
          <a:xfrm>
            <a:off x="594360" y="3977640"/>
            <a:ext cx="274320" cy="274320"/>
          </a:xfrm>
          <a:prstGeom prst="rect">
            <a:avLst/>
          </a:prstGeom>
        </p:spPr>
      </p:pic>
      <p:sp>
        <p:nvSpPr>
          <p:cNvPr id="6" name="Loop note"/>
          <p:cNvSpPr txBox="1"/>
          <p:nvPr/>
        </p:nvSpPr>
        <p:spPr>
          <a:xfrm>
            <a:off x="1188720" y="3840480"/>
            <a:ext cx="7498080" cy="548640"/>
          </a:xfrm>
          <a:prstGeom prst="rect">
            <a:avLst/>
          </a:prstGeom>
          <a:noFill/>
          <a:ln/>
        </p:spPr>
        <p:txBody>
          <a:bodyPr wrap="square" lIns="0" tIns="0" rIns="0" bIns="0" rtlCol="0" anchor="ctr"/>
          <a:lstStyle/>
          <a:p>
            <a:pPr indent="0" marL="0">
              <a:buNone/>
            </a:pPr>
            <a:r>
              <a:rPr lang="en-US" sz="1400" dirty="0">
                <a:solidFill>
                  <a:schemeClr val="tx2"/>
                </a:solidFill>
              </a:rPr>
              <a:t>Each check is a while loop: it shows the message and asks again until the input is valid.</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Working out the total</a:t>
            </a:r>
            <a:endParaRPr lang="en-US" sz="3200" dirty="0"/>
          </a:p>
        </p:txBody>
      </p:sp>
      <p:sp>
        <p:nvSpPr>
          <p:cNvPr id="3" name="Subtotal card"/>
          <p:cNvSpPr/>
          <p:nvPr/>
        </p:nvSpPr>
        <p:spPr>
          <a:xfrm>
            <a:off x="457200" y="1280160"/>
            <a:ext cx="1783080" cy="2011680"/>
          </a:xfrm>
          <a:prstGeom prst="roundRect">
            <a:avLst>
              <a:gd name="adj" fmla="val 7692"/>
            </a:avLst>
          </a:prstGeom>
          <a:solidFill>
            <a:schemeClr val="bg2"/>
          </a:solidFill>
          <a:ln w="12700">
            <a:solidFill>
              <a:schemeClr val="bg2"/>
            </a:solidFill>
            <a:prstDash val="solid"/>
          </a:ln>
        </p:spPr>
      </p:sp>
      <p:sp>
        <p:nvSpPr>
          <p:cNvPr id="4" name="Subtotal title"/>
          <p:cNvSpPr txBox="1"/>
          <p:nvPr/>
        </p:nvSpPr>
        <p:spPr>
          <a:xfrm>
            <a:off x="594360" y="1463040"/>
            <a:ext cx="1508760" cy="411480"/>
          </a:xfrm>
          <a:prstGeom prst="rect">
            <a:avLst/>
          </a:prstGeom>
          <a:noFill/>
          <a:ln/>
        </p:spPr>
        <p:txBody>
          <a:bodyPr wrap="square" lIns="0" tIns="0" rIns="0" bIns="0" rtlCol="0" anchor="ctr"/>
          <a:lstStyle/>
          <a:p>
            <a:pPr algn="ctr" indent="0" marL="0">
              <a:buNone/>
            </a:pPr>
            <a:r>
              <a:rPr lang="en-US" sz="1800" b="1" dirty="0">
                <a:solidFill>
                  <a:schemeClr val="tx1"/>
                </a:solidFill>
              </a:rPr>
              <a:t>Subtotal</a:t>
            </a:r>
            <a:endParaRPr lang="en-US" sz="1800" dirty="0"/>
          </a:p>
        </p:txBody>
      </p:sp>
      <p:sp>
        <p:nvSpPr>
          <p:cNvPr id="5" name="Subtotal text"/>
          <p:cNvSpPr txBox="1"/>
          <p:nvPr/>
        </p:nvSpPr>
        <p:spPr>
          <a:xfrm>
            <a:off x="594360" y="1965960"/>
            <a:ext cx="1508760" cy="1188720"/>
          </a:xfrm>
          <a:prstGeom prst="rect">
            <a:avLst/>
          </a:prstGeom>
          <a:noFill/>
          <a:ln/>
        </p:spPr>
        <p:txBody>
          <a:bodyPr wrap="square" lIns="0" tIns="0" rIns="0" bIns="0" rtlCol="0" anchor="t"/>
          <a:lstStyle/>
          <a:p>
            <a:pPr algn="ctr" indent="0" marL="0">
              <a:buNone/>
            </a:pPr>
            <a:r>
              <a:rPr lang="en-US" sz="1400" dirty="0">
                <a:solidFill>
                  <a:schemeClr val="tx1"/>
                </a:solidFill>
              </a:rPr>
              <a:t>A for loop adds up pizzaPrice() for every pizza</a:t>
            </a:r>
            <a:endParaRPr lang="en-US" sz="1400" dirty="0"/>
          </a:p>
        </p:txBody>
      </p:sp>
      <p:sp>
        <p:nvSpPr>
          <p:cNvPr id="6" name="Operator 1"/>
          <p:cNvSpPr txBox="1"/>
          <p:nvPr/>
        </p:nvSpPr>
        <p:spPr>
          <a:xfrm>
            <a:off x="2240280" y="2057400"/>
            <a:ext cx="365760" cy="457200"/>
          </a:xfrm>
          <a:prstGeom prst="rect">
            <a:avLst/>
          </a:prstGeom>
          <a:noFill/>
          <a:ln/>
        </p:spPr>
        <p:txBody>
          <a:bodyPr wrap="square" lIns="0" tIns="0" rIns="0" bIns="0" rtlCol="0" anchor="ctr"/>
          <a:lstStyle/>
          <a:p>
            <a:pPr algn="ctr" indent="0" marL="0">
              <a:buNone/>
            </a:pPr>
            <a:r>
              <a:rPr lang="en-US" sz="2800" b="1" dirty="0">
                <a:solidFill>
                  <a:schemeClr val="accent4"/>
                </a:solidFill>
              </a:rPr>
              <a:t>−</a:t>
            </a:r>
            <a:endParaRPr lang="en-US" sz="2800" dirty="0"/>
          </a:p>
        </p:txBody>
      </p:sp>
      <p:sp>
        <p:nvSpPr>
          <p:cNvPr id="7" name="Discount card"/>
          <p:cNvSpPr/>
          <p:nvPr/>
        </p:nvSpPr>
        <p:spPr>
          <a:xfrm>
            <a:off x="2606040" y="1280160"/>
            <a:ext cx="1783080" cy="2011680"/>
          </a:xfrm>
          <a:prstGeom prst="roundRect">
            <a:avLst>
              <a:gd name="adj" fmla="val 7692"/>
            </a:avLst>
          </a:prstGeom>
          <a:solidFill>
            <a:schemeClr val="bg2"/>
          </a:solidFill>
          <a:ln w="12700">
            <a:solidFill>
              <a:schemeClr val="bg2"/>
            </a:solidFill>
            <a:prstDash val="solid"/>
          </a:ln>
        </p:spPr>
      </p:sp>
      <p:sp>
        <p:nvSpPr>
          <p:cNvPr id="8" name="Discount title"/>
          <p:cNvSpPr txBox="1"/>
          <p:nvPr/>
        </p:nvSpPr>
        <p:spPr>
          <a:xfrm>
            <a:off x="2743200" y="1463040"/>
            <a:ext cx="1508760" cy="411480"/>
          </a:xfrm>
          <a:prstGeom prst="rect">
            <a:avLst/>
          </a:prstGeom>
          <a:noFill/>
          <a:ln/>
        </p:spPr>
        <p:txBody>
          <a:bodyPr wrap="square" lIns="0" tIns="0" rIns="0" bIns="0" rtlCol="0" anchor="ctr"/>
          <a:lstStyle/>
          <a:p>
            <a:pPr algn="ctr" indent="0" marL="0">
              <a:buNone/>
            </a:pPr>
            <a:r>
              <a:rPr lang="en-US" sz="1800" b="1" dirty="0">
                <a:solidFill>
                  <a:schemeClr val="tx1"/>
                </a:solidFill>
              </a:rPr>
              <a:t>Discount</a:t>
            </a:r>
            <a:endParaRPr lang="en-US" sz="1800" dirty="0"/>
          </a:p>
        </p:txBody>
      </p:sp>
      <p:sp>
        <p:nvSpPr>
          <p:cNvPr id="9" name="Discount text"/>
          <p:cNvSpPr txBox="1"/>
          <p:nvPr/>
        </p:nvSpPr>
        <p:spPr>
          <a:xfrm>
            <a:off x="2743200" y="1965960"/>
            <a:ext cx="1508760" cy="1188720"/>
          </a:xfrm>
          <a:prstGeom prst="rect">
            <a:avLst/>
          </a:prstGeom>
          <a:noFill/>
          <a:ln/>
        </p:spPr>
        <p:txBody>
          <a:bodyPr wrap="square" lIns="0" tIns="0" rIns="0" bIns="0" rtlCol="0" anchor="t"/>
          <a:lstStyle/>
          <a:p>
            <a:pPr algn="ctr" indent="0" marL="0">
              <a:buNone/>
            </a:pPr>
            <a:r>
              <a:rPr lang="en-US" sz="1400" dirty="0">
                <a:solidFill>
                  <a:schemeClr val="tx1"/>
                </a:solidFill>
              </a:rPr>
              <a:t>10% if the subtotal is over £20, rounded to the nearest penny</a:t>
            </a:r>
            <a:endParaRPr lang="en-US" sz="1400" dirty="0"/>
          </a:p>
        </p:txBody>
      </p:sp>
      <p:sp>
        <p:nvSpPr>
          <p:cNvPr id="10" name="Operator 2"/>
          <p:cNvSpPr txBox="1"/>
          <p:nvPr/>
        </p:nvSpPr>
        <p:spPr>
          <a:xfrm>
            <a:off x="4389120" y="2057400"/>
            <a:ext cx="365760" cy="457200"/>
          </a:xfrm>
          <a:prstGeom prst="rect">
            <a:avLst/>
          </a:prstGeom>
          <a:noFill/>
          <a:ln/>
        </p:spPr>
        <p:txBody>
          <a:bodyPr wrap="square" lIns="0" tIns="0" rIns="0" bIns="0" rtlCol="0" anchor="ctr"/>
          <a:lstStyle/>
          <a:p>
            <a:pPr algn="ctr" indent="0" marL="0">
              <a:buNone/>
            </a:pPr>
            <a:r>
              <a:rPr lang="en-US" sz="2800" b="1" dirty="0">
                <a:solidFill>
                  <a:schemeClr val="accent4"/>
                </a:solidFill>
              </a:rPr>
              <a:t>+</a:t>
            </a:r>
            <a:endParaRPr lang="en-US" sz="2800" dirty="0"/>
          </a:p>
        </p:txBody>
      </p:sp>
      <p:sp>
        <p:nvSpPr>
          <p:cNvPr id="11" name="Delivery card"/>
          <p:cNvSpPr/>
          <p:nvPr/>
        </p:nvSpPr>
        <p:spPr>
          <a:xfrm>
            <a:off x="4754880" y="1280160"/>
            <a:ext cx="1783080" cy="2011680"/>
          </a:xfrm>
          <a:prstGeom prst="roundRect">
            <a:avLst>
              <a:gd name="adj" fmla="val 7692"/>
            </a:avLst>
          </a:prstGeom>
          <a:solidFill>
            <a:schemeClr val="bg2"/>
          </a:solidFill>
          <a:ln w="12700">
            <a:solidFill>
              <a:schemeClr val="bg2"/>
            </a:solidFill>
            <a:prstDash val="solid"/>
          </a:ln>
        </p:spPr>
      </p:sp>
      <p:sp>
        <p:nvSpPr>
          <p:cNvPr id="12" name="Delivery title"/>
          <p:cNvSpPr txBox="1"/>
          <p:nvPr/>
        </p:nvSpPr>
        <p:spPr>
          <a:xfrm>
            <a:off x="4892040" y="1463040"/>
            <a:ext cx="1508760" cy="411480"/>
          </a:xfrm>
          <a:prstGeom prst="rect">
            <a:avLst/>
          </a:prstGeom>
          <a:noFill/>
          <a:ln/>
        </p:spPr>
        <p:txBody>
          <a:bodyPr wrap="square" lIns="0" tIns="0" rIns="0" bIns="0" rtlCol="0" anchor="ctr"/>
          <a:lstStyle/>
          <a:p>
            <a:pPr algn="ctr" indent="0" marL="0">
              <a:buNone/>
            </a:pPr>
            <a:r>
              <a:rPr lang="en-US" sz="1800" b="1" dirty="0">
                <a:solidFill>
                  <a:schemeClr val="tx1"/>
                </a:solidFill>
              </a:rPr>
              <a:t>Delivery</a:t>
            </a:r>
            <a:endParaRPr lang="en-US" sz="1800" dirty="0"/>
          </a:p>
        </p:txBody>
      </p:sp>
      <p:sp>
        <p:nvSpPr>
          <p:cNvPr id="13" name="Delivery text"/>
          <p:cNvSpPr txBox="1"/>
          <p:nvPr/>
        </p:nvSpPr>
        <p:spPr>
          <a:xfrm>
            <a:off x="4892040" y="1965960"/>
            <a:ext cx="1508760" cy="1188720"/>
          </a:xfrm>
          <a:prstGeom prst="rect">
            <a:avLst/>
          </a:prstGeom>
          <a:noFill/>
          <a:ln/>
        </p:spPr>
        <p:txBody>
          <a:bodyPr wrap="square" lIns="0" tIns="0" rIns="0" bIns="0" rtlCol="0" anchor="t"/>
          <a:lstStyle/>
          <a:p>
            <a:pPr algn="ctr" indent="0" marL="0">
              <a:buNone/>
            </a:pPr>
            <a:r>
              <a:rPr lang="en-US" sz="1400" dirty="0">
                <a:solidFill>
                  <a:schemeClr val="tx1"/>
                </a:solidFill>
              </a:rPr>
              <a:t>£2.50 if the customer chose Y, otherwise £0</a:t>
            </a:r>
            <a:endParaRPr lang="en-US" sz="1400" dirty="0"/>
          </a:p>
        </p:txBody>
      </p:sp>
      <p:sp>
        <p:nvSpPr>
          <p:cNvPr id="14" name="Operator 3"/>
          <p:cNvSpPr txBox="1"/>
          <p:nvPr/>
        </p:nvSpPr>
        <p:spPr>
          <a:xfrm>
            <a:off x="6537960" y="2057400"/>
            <a:ext cx="365760" cy="457200"/>
          </a:xfrm>
          <a:prstGeom prst="rect">
            <a:avLst/>
          </a:prstGeom>
          <a:noFill/>
          <a:ln/>
        </p:spPr>
        <p:txBody>
          <a:bodyPr wrap="square" lIns="0" tIns="0" rIns="0" bIns="0" rtlCol="0" anchor="ctr"/>
          <a:lstStyle/>
          <a:p>
            <a:pPr algn="ctr" indent="0" marL="0">
              <a:buNone/>
            </a:pPr>
            <a:r>
              <a:rPr lang="en-US" sz="2800" b="1" dirty="0">
                <a:solidFill>
                  <a:schemeClr val="accent4"/>
                </a:solidFill>
              </a:rPr>
              <a:t>=</a:t>
            </a:r>
            <a:endParaRPr lang="en-US" sz="2800" dirty="0"/>
          </a:p>
        </p:txBody>
      </p:sp>
      <p:sp>
        <p:nvSpPr>
          <p:cNvPr id="15" name="Total card"/>
          <p:cNvSpPr/>
          <p:nvPr/>
        </p:nvSpPr>
        <p:spPr>
          <a:xfrm>
            <a:off x="6903720" y="1280160"/>
            <a:ext cx="1783080" cy="2011680"/>
          </a:xfrm>
          <a:prstGeom prst="roundRect">
            <a:avLst>
              <a:gd name="adj" fmla="val 7692"/>
            </a:avLst>
          </a:prstGeom>
          <a:solidFill>
            <a:schemeClr val="accent1"/>
          </a:solidFill>
          <a:ln w="12700">
            <a:solidFill>
              <a:schemeClr val="accent1"/>
            </a:solidFill>
            <a:prstDash val="solid"/>
          </a:ln>
        </p:spPr>
      </p:sp>
      <p:sp>
        <p:nvSpPr>
          <p:cNvPr id="16" name="Total title"/>
          <p:cNvSpPr txBox="1"/>
          <p:nvPr/>
        </p:nvSpPr>
        <p:spPr>
          <a:xfrm>
            <a:off x="7040880" y="1463040"/>
            <a:ext cx="1508760" cy="411480"/>
          </a:xfrm>
          <a:prstGeom prst="rect">
            <a:avLst/>
          </a:prstGeom>
          <a:noFill/>
          <a:ln/>
        </p:spPr>
        <p:txBody>
          <a:bodyPr wrap="square" lIns="0" tIns="0" rIns="0" bIns="0" rtlCol="0" anchor="ctr"/>
          <a:lstStyle/>
          <a:p>
            <a:pPr algn="ctr" indent="0" marL="0">
              <a:buNone/>
            </a:pPr>
            <a:r>
              <a:rPr lang="en-US" sz="1800" b="1" dirty="0">
                <a:solidFill>
                  <a:schemeClr val="bg1"/>
                </a:solidFill>
              </a:rPr>
              <a:t>Total</a:t>
            </a:r>
            <a:endParaRPr lang="en-US" sz="1800" dirty="0"/>
          </a:p>
        </p:txBody>
      </p:sp>
      <p:sp>
        <p:nvSpPr>
          <p:cNvPr id="17" name="Total text"/>
          <p:cNvSpPr txBox="1"/>
          <p:nvPr/>
        </p:nvSpPr>
        <p:spPr>
          <a:xfrm>
            <a:off x="7040880" y="1965960"/>
            <a:ext cx="1508760" cy="1188720"/>
          </a:xfrm>
          <a:prstGeom prst="rect">
            <a:avLst/>
          </a:prstGeom>
          <a:noFill/>
          <a:ln/>
        </p:spPr>
        <p:txBody>
          <a:bodyPr wrap="square" lIns="0" tIns="0" rIns="0" bIns="0" rtlCol="0" anchor="t"/>
          <a:lstStyle/>
          <a:p>
            <a:pPr algn="ctr" indent="0" marL="0">
              <a:buNone/>
            </a:pPr>
            <a:r>
              <a:rPr lang="en-US" sz="1400" dirty="0">
                <a:solidFill>
                  <a:schemeClr val="bg1"/>
                </a:solidFill>
              </a:rPr>
              <a:t>What the customer pays</a:t>
            </a:r>
            <a:endParaRPr lang="en-US" sz="1400" dirty="0"/>
          </a:p>
        </p:txBody>
      </p:sp>
      <p:sp>
        <p:nvSpPr>
          <p:cNvPr id="18" name="Calculator circle"/>
          <p:cNvSpPr/>
          <p:nvPr/>
        </p:nvSpPr>
        <p:spPr>
          <a:xfrm>
            <a:off x="457200" y="3611880"/>
            <a:ext cx="548640" cy="548640"/>
          </a:xfrm>
          <a:prstGeom prst="ellipse">
            <a:avLst/>
          </a:prstGeom>
          <a:solidFill>
            <a:schemeClr val="accent2"/>
          </a:solidFill>
          <a:ln w="12700">
            <a:solidFill>
              <a:schemeClr val="accent2"/>
            </a:solidFill>
            <a:prstDash val="solid"/>
          </a:ln>
        </p:spPr>
      </p:sp>
      <p:pic>
        <p:nvPicPr>
          <p:cNvPr id="19" name="Calculator icon" descr="preencoded.png">    </p:cNvPr>
          <p:cNvPicPr>
            <a:picLocks noChangeAspect="1"/>
          </p:cNvPicPr>
          <p:nvPr/>
        </p:nvPicPr>
        <p:blipFill>
          <a:blip r:embed="rId1"/>
          <a:stretch>
            <a:fillRect/>
          </a:stretch>
        </p:blipFill>
        <p:spPr>
          <a:xfrm>
            <a:off x="594360" y="3749040"/>
            <a:ext cx="274320" cy="274320"/>
          </a:xfrm>
          <a:prstGeom prst="rect">
            <a:avLst/>
          </a:prstGeom>
        </p:spPr>
      </p:pic>
      <p:sp>
        <p:nvSpPr>
          <p:cNvPr id="20" name="pizzaPrice note"/>
          <p:cNvSpPr txBox="1"/>
          <p:nvPr/>
        </p:nvSpPr>
        <p:spPr>
          <a:xfrm>
            <a:off x="1188720" y="3611880"/>
            <a:ext cx="7498080" cy="54864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pizzaPrice()</a:t>
            </a:r>
            <a:pPr indent="0" marL="0">
              <a:buNone/>
            </a:pPr>
            <a:r>
              <a:rPr lang="en-US" sz="1400" dirty="0">
                <a:solidFill>
                  <a:schemeClr val="tx2"/>
                </a:solidFill>
              </a:rPr>
              <a:t> = size price + topping price. An if statement makes 4 or more toppings all cost £2.50.</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Example bill: a £20.05 order</a:t>
            </a:r>
            <a:endParaRPr lang="en-US" sz="3200" dirty="0"/>
          </a:p>
        </p:txBody>
      </p:sp>
      <p:sp>
        <p:nvSpPr>
          <p:cNvPr id="3" name="Bill card"/>
          <p:cNvSpPr/>
          <p:nvPr/>
        </p:nvSpPr>
        <p:spPr>
          <a:xfrm>
            <a:off x="457200" y="1143000"/>
            <a:ext cx="4480560" cy="3383280"/>
          </a:xfrm>
          <a:prstGeom prst="roundRect">
            <a:avLst>
              <a:gd name="adj" fmla="val 3243"/>
            </a:avLst>
          </a:prstGeom>
          <a:solidFill>
            <a:schemeClr val="tx1"/>
          </a:solidFill>
          <a:ln w="12700">
            <a:solidFill>
              <a:schemeClr val="tx1"/>
            </a:solidFill>
            <a:prstDash val="solid"/>
          </a:ln>
        </p:spPr>
      </p:sp>
      <p:sp>
        <p:nvSpPr>
          <p:cNvPr id="4" name="Bill text"/>
          <p:cNvSpPr txBox="1"/>
          <p:nvPr/>
        </p:nvSpPr>
        <p:spPr>
          <a:xfrm>
            <a:off x="685800" y="1280160"/>
            <a:ext cx="4114800" cy="310896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 BILL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Name: Ann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Address: 1 Deane Rd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Phone: 07123456789</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Number of pizzas: 3</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Pizza 1: Small, 0 topping(s) - £3.25</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Pizza 2: Large, 0 topping(s) - £7.15</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Pizza 3: Large, 4 topping(s) - £9.65</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Subtotal: £20.05</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Discount: -£2.01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Delivery: £0.00</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TOTAL: £18.04</a:t>
            </a:r>
            <a:endParaRPr lang="en-US" sz="1200" dirty="0"/>
          </a:p>
        </p:txBody>
      </p:sp>
      <p:sp>
        <p:nvSpPr>
          <p:cNvPr id="5" name="Total stat"/>
          <p:cNvSpPr txBox="1"/>
          <p:nvPr/>
        </p:nvSpPr>
        <p:spPr>
          <a:xfrm>
            <a:off x="5394960" y="1371600"/>
            <a:ext cx="3291840" cy="868680"/>
          </a:xfrm>
          <a:prstGeom prst="rect">
            <a:avLst/>
          </a:prstGeom>
          <a:noFill/>
          <a:ln/>
        </p:spPr>
        <p:txBody>
          <a:bodyPr wrap="square" lIns="0" tIns="0" rIns="0" bIns="0" rtlCol="0" anchor="ctr"/>
          <a:lstStyle/>
          <a:p>
            <a:pPr indent="0" marL="0">
              <a:buNone/>
            </a:pPr>
            <a:r>
              <a:rPr lang="en-US" sz="6000" b="1" dirty="0">
                <a:solidFill>
                  <a:schemeClr val="accent1"/>
                </a:solidFill>
              </a:rPr>
              <a:t>£18.04</a:t>
            </a:r>
            <a:endParaRPr lang="en-US" sz="6000" dirty="0"/>
          </a:p>
        </p:txBody>
      </p:sp>
      <p:sp>
        <p:nvSpPr>
          <p:cNvPr id="6" name="Total stat label"/>
          <p:cNvSpPr txBox="1"/>
          <p:nvPr/>
        </p:nvSpPr>
        <p:spPr>
          <a:xfrm>
            <a:off x="5394960" y="2286000"/>
            <a:ext cx="3291840" cy="731520"/>
          </a:xfrm>
          <a:prstGeom prst="rect">
            <a:avLst/>
          </a:prstGeom>
          <a:noFill/>
          <a:ln/>
        </p:spPr>
        <p:txBody>
          <a:bodyPr wrap="square" lIns="0" tIns="0" rIns="0" bIns="0" rtlCol="0" anchor="t"/>
          <a:lstStyle/>
          <a:p>
            <a:pPr indent="0" marL="0">
              <a:buNone/>
            </a:pPr>
            <a:r>
              <a:rPr lang="en-US" sz="1400" dirty="0">
                <a:solidFill>
                  <a:schemeClr val="tx2"/>
                </a:solidFill>
              </a:rPr>
              <a:t>total, because the £2.01 discount is rounded before the total is worked out</a:t>
            </a:r>
            <a:endParaRPr lang="en-US" sz="1400" dirty="0"/>
          </a:p>
        </p:txBody>
      </p:sp>
      <p:sp>
        <p:nvSpPr>
          <p:cNvPr id="7" name="Before fix card"/>
          <p:cNvSpPr/>
          <p:nvPr/>
        </p:nvSpPr>
        <p:spPr>
          <a:xfrm>
            <a:off x="5394960" y="3246120"/>
            <a:ext cx="3291840" cy="914400"/>
          </a:xfrm>
          <a:prstGeom prst="roundRect">
            <a:avLst>
              <a:gd name="adj" fmla="val 12000"/>
            </a:avLst>
          </a:prstGeom>
          <a:solidFill>
            <a:schemeClr val="bg2"/>
          </a:solidFill>
          <a:ln w="12700">
            <a:solidFill>
              <a:schemeClr val="bg2"/>
            </a:solidFill>
            <a:prstDash val="solid"/>
          </a:ln>
        </p:spPr>
      </p:sp>
      <p:sp>
        <p:nvSpPr>
          <p:cNvPr id="8" name="Before fix text"/>
          <p:cNvSpPr txBox="1"/>
          <p:nvPr/>
        </p:nvSpPr>
        <p:spPr>
          <a:xfrm>
            <a:off x="5532120" y="3291840"/>
            <a:ext cx="3017520" cy="822960"/>
          </a:xfrm>
          <a:prstGeom prst="rect">
            <a:avLst/>
          </a:prstGeom>
          <a:noFill/>
          <a:ln/>
        </p:spPr>
        <p:txBody>
          <a:bodyPr wrap="square" lIns="0" tIns="0" rIns="0" bIns="0" rtlCol="0" anchor="ctr"/>
          <a:lstStyle/>
          <a:p>
            <a:pPr indent="0" marL="0">
              <a:buNone/>
            </a:pPr>
            <a:r>
              <a:rPr lang="en-US" sz="1400" dirty="0">
                <a:solidFill>
                  <a:schemeClr val="tx1"/>
                </a:solidFill>
              </a:rPr>
              <a:t>Before this fix, the same order came out 1p wrong on the bill.</a:t>
            </a:r>
            <a:endParaRPr lang="en-US" sz="14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Testing and fixes</a:t>
            </a:r>
            <a:endParaRPr lang="en-US" sz="3200" dirty="0"/>
          </a:p>
        </p:txBody>
      </p:sp>
      <p:sp>
        <p:nvSpPr>
          <p:cNvPr id="3" name="Tests stat"/>
          <p:cNvSpPr txBox="1"/>
          <p:nvPr/>
        </p:nvSpPr>
        <p:spPr>
          <a:xfrm>
            <a:off x="457200" y="1325880"/>
            <a:ext cx="2011680" cy="1005840"/>
          </a:xfrm>
          <a:prstGeom prst="rect">
            <a:avLst/>
          </a:prstGeom>
          <a:noFill/>
          <a:ln/>
        </p:spPr>
        <p:txBody>
          <a:bodyPr wrap="square" lIns="0" tIns="0" rIns="0" bIns="0" rtlCol="0" anchor="ctr"/>
          <a:lstStyle/>
          <a:p>
            <a:pPr indent="0" marL="0">
              <a:buNone/>
            </a:pPr>
            <a:r>
              <a:rPr lang="en-US" sz="7200" b="1" dirty="0">
                <a:solidFill>
                  <a:schemeClr val="accent1"/>
                </a:solidFill>
              </a:rPr>
              <a:t>18</a:t>
            </a:r>
            <a:endParaRPr lang="en-US" sz="7200" dirty="0"/>
          </a:p>
        </p:txBody>
      </p:sp>
      <p:sp>
        <p:nvSpPr>
          <p:cNvPr id="4" name="Tests stat label"/>
          <p:cNvSpPr txBox="1"/>
          <p:nvPr/>
        </p:nvSpPr>
        <p:spPr>
          <a:xfrm>
            <a:off x="457200" y="2377440"/>
            <a:ext cx="2011680" cy="731520"/>
          </a:xfrm>
          <a:prstGeom prst="rect">
            <a:avLst/>
          </a:prstGeom>
          <a:noFill/>
          <a:ln/>
        </p:spPr>
        <p:txBody>
          <a:bodyPr wrap="square" lIns="0" tIns="0" rIns="0" bIns="0" rtlCol="0" anchor="t"/>
          <a:lstStyle/>
          <a:p>
            <a:pPr indent="0" marL="0">
              <a:buNone/>
            </a:pPr>
            <a:r>
              <a:rPr lang="en-US" sz="1400" dirty="0">
                <a:solidFill>
                  <a:schemeClr val="tx2"/>
                </a:solidFill>
              </a:rPr>
              <a:t>tests run by Nah against the design</a:t>
            </a:r>
            <a:endParaRPr lang="en-US" sz="1400" dirty="0"/>
          </a:p>
        </p:txBody>
      </p:sp>
      <p:sp>
        <p:nvSpPr>
          <p:cNvPr id="5" name="Testing circle"/>
          <p:cNvSpPr/>
          <p:nvPr/>
        </p:nvSpPr>
        <p:spPr>
          <a:xfrm>
            <a:off x="457200" y="3383280"/>
            <a:ext cx="640080" cy="640080"/>
          </a:xfrm>
          <a:prstGeom prst="ellipse">
            <a:avLst/>
          </a:prstGeom>
          <a:solidFill>
            <a:schemeClr val="accent2"/>
          </a:solidFill>
          <a:ln w="12700">
            <a:solidFill>
              <a:schemeClr val="accent2"/>
            </a:solidFill>
            <a:prstDash val="solid"/>
          </a:ln>
        </p:spPr>
      </p:sp>
      <p:pic>
        <p:nvPicPr>
          <p:cNvPr id="6" name="Testing icon" descr="preencoded.png">    </p:cNvPr>
          <p:cNvPicPr>
            <a:picLocks noChangeAspect="1"/>
          </p:cNvPicPr>
          <p:nvPr/>
        </p:nvPicPr>
        <p:blipFill>
          <a:blip r:embed="rId1"/>
          <a:stretch>
            <a:fillRect/>
          </a:stretch>
        </p:blipFill>
        <p:spPr>
          <a:xfrm>
            <a:off x="617220" y="3543300"/>
            <a:ext cx="320040" cy="320040"/>
          </a:xfrm>
          <a:prstGeom prst="rect">
            <a:avLst/>
          </a:prstGeom>
        </p:spPr>
      </p:pic>
      <p:sp>
        <p:nvSpPr>
          <p:cNvPr id="7" name="v1 card"/>
          <p:cNvSpPr/>
          <p:nvPr/>
        </p:nvSpPr>
        <p:spPr>
          <a:xfrm>
            <a:off x="2743200" y="1188720"/>
            <a:ext cx="1828800" cy="3337560"/>
          </a:xfrm>
          <a:prstGeom prst="roundRect">
            <a:avLst>
              <a:gd name="adj" fmla="val 7500"/>
            </a:avLst>
          </a:prstGeom>
          <a:solidFill>
            <a:schemeClr val="bg2"/>
          </a:solidFill>
          <a:ln w="12700">
            <a:solidFill>
              <a:schemeClr val="bg2"/>
            </a:solidFill>
            <a:prstDash val="solid"/>
          </a:ln>
        </p:spPr>
      </p:sp>
      <p:sp>
        <p:nvSpPr>
          <p:cNvPr id="8" name="v1 chip"/>
          <p:cNvSpPr/>
          <p:nvPr/>
        </p:nvSpPr>
        <p:spPr>
          <a:xfrm>
            <a:off x="2880360" y="1325880"/>
            <a:ext cx="548640" cy="329184"/>
          </a:xfrm>
          <a:prstGeom prst="roundRect">
            <a:avLst>
              <a:gd name="adj" fmla="val 33333"/>
            </a:avLst>
          </a:prstGeom>
          <a:solidFill>
            <a:schemeClr val="accent1"/>
          </a:solidFill>
          <a:ln w="12700">
            <a:solidFill>
              <a:schemeClr val="accent1"/>
            </a:solidFill>
            <a:prstDash val="solid"/>
          </a:ln>
        </p:spPr>
      </p:sp>
      <p:sp>
        <p:nvSpPr>
          <p:cNvPr id="9" name="v1 chip label"/>
          <p:cNvSpPr txBox="1"/>
          <p:nvPr/>
        </p:nvSpPr>
        <p:spPr>
          <a:xfrm>
            <a:off x="2880360" y="1325880"/>
            <a:ext cx="548640" cy="32918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v1</a:t>
            </a:r>
            <a:endParaRPr lang="en-US" sz="1400" dirty="0"/>
          </a:p>
        </p:txBody>
      </p:sp>
      <p:sp>
        <p:nvSpPr>
          <p:cNvPr id="10" name="v1 title"/>
          <p:cNvSpPr txBox="1"/>
          <p:nvPr/>
        </p:nvSpPr>
        <p:spPr>
          <a:xfrm>
            <a:off x="2880360" y="1737360"/>
            <a:ext cx="1554480" cy="457200"/>
          </a:xfrm>
          <a:prstGeom prst="rect">
            <a:avLst/>
          </a:prstGeom>
          <a:noFill/>
          <a:ln/>
        </p:spPr>
        <p:txBody>
          <a:bodyPr wrap="square" lIns="0" tIns="0" rIns="0" bIns="0" rtlCol="0" anchor="t"/>
          <a:lstStyle/>
          <a:p>
            <a:pPr indent="0" marL="0">
              <a:buNone/>
            </a:pPr>
            <a:r>
              <a:rPr lang="en-US" sz="1400" b="1" dirty="0">
                <a:solidFill>
                  <a:schemeClr val="tx1"/>
                </a:solidFill>
              </a:rPr>
              <a:t>First full version</a:t>
            </a:r>
            <a:endParaRPr lang="en-US" sz="1400" dirty="0"/>
          </a:p>
        </p:txBody>
      </p:sp>
      <p:sp>
        <p:nvSpPr>
          <p:cNvPr id="11" name="v1 list"/>
          <p:cNvSpPr txBox="1"/>
          <p:nvPr/>
        </p:nvSpPr>
        <p:spPr>
          <a:xfrm>
            <a:off x="2834640" y="2194560"/>
            <a:ext cx="1645920" cy="219456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2"/>
                </a:solidFill>
              </a:rPr>
              <a:t>All functions working</a:t>
            </a:r>
            <a:endParaRPr lang="en-US" sz="1200" dirty="0"/>
          </a:p>
          <a:p>
            <a:pPr marL="152400" indent="-152400">
              <a:spcAft>
                <a:spcPts val="400"/>
              </a:spcAft>
              <a:buSzPct val="100000"/>
              <a:buChar char="•"/>
            </a:pPr>
            <a:r>
              <a:rPr lang="en-US" sz="1200" dirty="0">
                <a:solidFill>
                  <a:schemeClr val="tx2"/>
                </a:solidFill>
              </a:rPr>
              <a:t>Prices, discount and delivery correct for normal orders</a:t>
            </a:r>
            <a:endParaRPr lang="en-US" sz="1200" dirty="0"/>
          </a:p>
        </p:txBody>
      </p:sp>
      <p:sp>
        <p:nvSpPr>
          <p:cNvPr id="12" name="v2 card"/>
          <p:cNvSpPr/>
          <p:nvPr/>
        </p:nvSpPr>
        <p:spPr>
          <a:xfrm>
            <a:off x="4754880" y="1188720"/>
            <a:ext cx="1828800" cy="3337560"/>
          </a:xfrm>
          <a:prstGeom prst="roundRect">
            <a:avLst>
              <a:gd name="adj" fmla="val 7500"/>
            </a:avLst>
          </a:prstGeom>
          <a:solidFill>
            <a:schemeClr val="bg2"/>
          </a:solidFill>
          <a:ln w="12700">
            <a:solidFill>
              <a:schemeClr val="bg2"/>
            </a:solidFill>
            <a:prstDash val="solid"/>
          </a:ln>
        </p:spPr>
      </p:sp>
      <p:sp>
        <p:nvSpPr>
          <p:cNvPr id="13" name="v2 chip"/>
          <p:cNvSpPr/>
          <p:nvPr/>
        </p:nvSpPr>
        <p:spPr>
          <a:xfrm>
            <a:off x="4892040" y="1325880"/>
            <a:ext cx="548640" cy="329184"/>
          </a:xfrm>
          <a:prstGeom prst="roundRect">
            <a:avLst>
              <a:gd name="adj" fmla="val 33333"/>
            </a:avLst>
          </a:prstGeom>
          <a:solidFill>
            <a:schemeClr val="accent1"/>
          </a:solidFill>
          <a:ln w="12700">
            <a:solidFill>
              <a:schemeClr val="accent1"/>
            </a:solidFill>
            <a:prstDash val="solid"/>
          </a:ln>
        </p:spPr>
      </p:sp>
      <p:sp>
        <p:nvSpPr>
          <p:cNvPr id="14" name="v2 chip label"/>
          <p:cNvSpPr txBox="1"/>
          <p:nvPr/>
        </p:nvSpPr>
        <p:spPr>
          <a:xfrm>
            <a:off x="4892040" y="1325880"/>
            <a:ext cx="548640" cy="32918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v2</a:t>
            </a:r>
            <a:endParaRPr lang="en-US" sz="1400" dirty="0"/>
          </a:p>
        </p:txBody>
      </p:sp>
      <p:sp>
        <p:nvSpPr>
          <p:cNvPr id="15" name="v2 title"/>
          <p:cNvSpPr txBox="1"/>
          <p:nvPr/>
        </p:nvSpPr>
        <p:spPr>
          <a:xfrm>
            <a:off x="4892040" y="1737360"/>
            <a:ext cx="1554480" cy="457200"/>
          </a:xfrm>
          <a:prstGeom prst="rect">
            <a:avLst/>
          </a:prstGeom>
          <a:noFill/>
          <a:ln/>
        </p:spPr>
        <p:txBody>
          <a:bodyPr wrap="square" lIns="0" tIns="0" rIns="0" bIns="0" rtlCol="0" anchor="t"/>
          <a:lstStyle/>
          <a:p>
            <a:pPr indent="0" marL="0">
              <a:buNone/>
            </a:pPr>
            <a:r>
              <a:rPr lang="en-US" sz="1400" b="1" dirty="0">
                <a:solidFill>
                  <a:schemeClr val="tx1"/>
                </a:solidFill>
              </a:rPr>
              <a:t>After testing</a:t>
            </a:r>
            <a:endParaRPr lang="en-US" sz="1400" dirty="0"/>
          </a:p>
        </p:txBody>
      </p:sp>
      <p:sp>
        <p:nvSpPr>
          <p:cNvPr id="16" name="v2 list"/>
          <p:cNvSpPr txBox="1"/>
          <p:nvPr/>
        </p:nvSpPr>
        <p:spPr>
          <a:xfrm>
            <a:off x="4846320" y="2194560"/>
            <a:ext cx="1645920" cy="219456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2"/>
                </a:solidFill>
              </a:rPr>
              <a:t>Phone number instead of payment details</a:t>
            </a:r>
            <a:endParaRPr lang="en-US" sz="1200" dirty="0"/>
          </a:p>
          <a:p>
            <a:pPr marL="152400" indent="-152400">
              <a:spcAft>
                <a:spcPts val="400"/>
              </a:spcAft>
              <a:buSzPct val="100000"/>
              <a:buChar char="•"/>
            </a:pPr>
            <a:r>
              <a:rPr lang="en-US" sz="1200" dirty="0">
                <a:solidFill>
                  <a:schemeClr val="tx2"/>
                </a:solidFill>
              </a:rPr>
              <a:t>Phone and number of pizzas on the bill</a:t>
            </a:r>
            <a:endParaRPr lang="en-US" sz="1200" dirty="0"/>
          </a:p>
          <a:p>
            <a:pPr marL="152400" indent="-152400">
              <a:spcAft>
                <a:spcPts val="400"/>
              </a:spcAft>
              <a:buSzPct val="100000"/>
              <a:buChar char="•"/>
            </a:pPr>
            <a:r>
              <a:rPr lang="en-US" sz="1200" dirty="0">
                <a:solidFill>
                  <a:schemeClr val="tx2"/>
                </a:solidFill>
              </a:rPr>
              <a:t>4 or more toppings cost £2.50</a:t>
            </a:r>
            <a:endParaRPr lang="en-US" sz="1200" dirty="0"/>
          </a:p>
          <a:p>
            <a:pPr marL="152400" indent="-152400">
              <a:spcAft>
                <a:spcPts val="400"/>
              </a:spcAft>
              <a:buSzPct val="100000"/>
              <a:buChar char="•"/>
            </a:pPr>
            <a:r>
              <a:rPr lang="en-US" sz="1200" dirty="0">
                <a:solidFill>
                  <a:schemeClr val="tx2"/>
                </a:solidFill>
              </a:rPr>
              <a:t>Discount rounded first</a:t>
            </a:r>
            <a:endParaRPr lang="en-US" sz="1200" dirty="0"/>
          </a:p>
          <a:p>
            <a:pPr marL="152400" indent="-152400">
              <a:spcAft>
                <a:spcPts val="400"/>
              </a:spcAft>
              <a:buSzPct val="100000"/>
              <a:buChar char="•"/>
            </a:pPr>
            <a:r>
              <a:rPr lang="en-US" sz="1200" dirty="0">
                <a:solidFill>
                  <a:schemeClr val="tx2"/>
                </a:solidFill>
              </a:rPr>
              <a:t>Sizes 0 to 2, as in the design</a:t>
            </a:r>
            <a:endParaRPr lang="en-US" sz="1200" dirty="0"/>
          </a:p>
        </p:txBody>
      </p:sp>
      <p:sp>
        <p:nvSpPr>
          <p:cNvPr id="17" name="v3 card"/>
          <p:cNvSpPr/>
          <p:nvPr/>
        </p:nvSpPr>
        <p:spPr>
          <a:xfrm>
            <a:off x="6766560" y="1188720"/>
            <a:ext cx="1828800" cy="3337560"/>
          </a:xfrm>
          <a:prstGeom prst="roundRect">
            <a:avLst>
              <a:gd name="adj" fmla="val 7500"/>
            </a:avLst>
          </a:prstGeom>
          <a:solidFill>
            <a:schemeClr val="accent6"/>
          </a:solidFill>
          <a:ln w="12700">
            <a:solidFill>
              <a:schemeClr val="accent6"/>
            </a:solidFill>
            <a:prstDash val="solid"/>
          </a:ln>
        </p:spPr>
      </p:sp>
      <p:sp>
        <p:nvSpPr>
          <p:cNvPr id="18" name="v3 chip"/>
          <p:cNvSpPr/>
          <p:nvPr/>
        </p:nvSpPr>
        <p:spPr>
          <a:xfrm>
            <a:off x="6903720" y="1325880"/>
            <a:ext cx="548640" cy="329184"/>
          </a:xfrm>
          <a:prstGeom prst="roundRect">
            <a:avLst>
              <a:gd name="adj" fmla="val 33333"/>
            </a:avLst>
          </a:prstGeom>
          <a:solidFill>
            <a:schemeClr val="accent2"/>
          </a:solidFill>
          <a:ln w="12700">
            <a:solidFill>
              <a:schemeClr val="accent2"/>
            </a:solidFill>
            <a:prstDash val="solid"/>
          </a:ln>
        </p:spPr>
      </p:sp>
      <p:sp>
        <p:nvSpPr>
          <p:cNvPr id="19" name="v3 chip label"/>
          <p:cNvSpPr txBox="1"/>
          <p:nvPr/>
        </p:nvSpPr>
        <p:spPr>
          <a:xfrm>
            <a:off x="6903720" y="1325880"/>
            <a:ext cx="548640" cy="32918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v3</a:t>
            </a:r>
            <a:endParaRPr lang="en-US" sz="1400" dirty="0"/>
          </a:p>
        </p:txBody>
      </p:sp>
      <p:sp>
        <p:nvSpPr>
          <p:cNvPr id="20" name="v3 title"/>
          <p:cNvSpPr txBox="1"/>
          <p:nvPr/>
        </p:nvSpPr>
        <p:spPr>
          <a:xfrm>
            <a:off x="6903720" y="1737360"/>
            <a:ext cx="1554480" cy="457200"/>
          </a:xfrm>
          <a:prstGeom prst="rect">
            <a:avLst/>
          </a:prstGeom>
          <a:noFill/>
          <a:ln/>
        </p:spPr>
        <p:txBody>
          <a:bodyPr wrap="square" lIns="0" tIns="0" rIns="0" bIns="0" rtlCol="0" anchor="t"/>
          <a:lstStyle/>
          <a:p>
            <a:pPr indent="0" marL="0">
              <a:buNone/>
            </a:pPr>
            <a:r>
              <a:rPr lang="en-US" sz="1400" b="1" dirty="0">
                <a:solidFill>
                  <a:schemeClr val="tx1"/>
                </a:solidFill>
              </a:rPr>
              <a:t>Matching the design</a:t>
            </a:r>
            <a:endParaRPr lang="en-US" sz="1400" dirty="0"/>
          </a:p>
        </p:txBody>
      </p:sp>
      <p:sp>
        <p:nvSpPr>
          <p:cNvPr id="21" name="v3 list"/>
          <p:cNvSpPr txBox="1"/>
          <p:nvPr/>
        </p:nvSpPr>
        <p:spPr>
          <a:xfrm>
            <a:off x="6858000" y="2194560"/>
            <a:ext cx="1645920" cy="219456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2"/>
                </a:solidFill>
              </a:rPr>
              <a:t>Error messages word for word</a:t>
            </a:r>
            <a:endParaRPr lang="en-US" sz="1200" dirty="0"/>
          </a:p>
          <a:p>
            <a:pPr marL="152400" indent="-152400">
              <a:spcAft>
                <a:spcPts val="400"/>
              </a:spcAft>
              <a:buSzPct val="100000"/>
              <a:buChar char="•"/>
            </a:pPr>
            <a:r>
              <a:rPr lang="en-US" sz="1200" dirty="0">
                <a:solidFill>
                  <a:schemeClr val="tx2"/>
                </a:solidFill>
              </a:rPr>
              <a:t>Blank check on name, address and phone</a:t>
            </a:r>
            <a:endParaRPr lang="en-US" sz="1200" dirty="0"/>
          </a:p>
        </p:txBody>
      </p:sp>
      <p:sp>
        <p:nvSpPr>
          <p:cNvPr id="25" name="Slide Number Placeholder 0"/>
          <p:cNvSpPr>
            <a:spLocks noGrp="1"/>
          </p:cNvSpPr>
          <p:nvPr>
            <p:ph type="sldNum" sz="quarter" idx="4294967295"/>
          </p:nvPr>
        </p:nvSpPr>
        <p:spPr>
          <a:xfrm>
            <a:off x="813816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303520" cy="109728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548640" y="2606040"/>
            <a:ext cx="5303520" cy="548640"/>
          </a:xfrm>
          <a:prstGeom prst="rect">
            <a:avLst/>
          </a:prstGeom>
          <a:noFill/>
          <a:ln/>
        </p:spPr>
        <p:txBody>
          <a:bodyPr wrap="square" lIns="0" tIns="0" rIns="0" bIns="0" rtlCol="0" anchor="t"/>
          <a:lstStyle/>
          <a:p>
            <a:pPr indent="0" marL="0">
              <a:buNone/>
            </a:pPr>
            <a:r>
              <a:rPr lang="en-US" sz="2000" dirty="0">
                <a:solidFill>
                  <a:schemeClr val="accent5"/>
                </a:solidFill>
              </a:rPr>
              <a:t>Any questions?</a:t>
            </a:r>
            <a:endParaRPr lang="en-US" sz="2000" dirty="0"/>
          </a:p>
        </p:txBody>
      </p:sp>
      <p:sp>
        <p:nvSpPr>
          <p:cNvPr id="4" name="Pizza circle"/>
          <p:cNvSpPr/>
          <p:nvPr/>
        </p:nvSpPr>
        <p:spPr>
          <a:xfrm>
            <a:off x="6126480" y="1188720"/>
            <a:ext cx="2377440" cy="2377440"/>
          </a:xfrm>
          <a:prstGeom prst="ellipse">
            <a:avLst/>
          </a:prstGeom>
          <a:solidFill>
            <a:schemeClr val="accent1"/>
          </a:solidFill>
          <a:ln w="12700">
            <a:solidFill>
              <a:schemeClr val="accent1"/>
            </a:solidFill>
            <a:prstDash val="solid"/>
          </a:ln>
        </p:spPr>
      </p:sp>
      <p:pic>
        <p:nvPicPr>
          <p:cNvPr id="5" name="Pizza icon" descr="preencoded.png">    </p:cNvPr>
          <p:cNvPicPr>
            <a:picLocks noChangeAspect="1"/>
          </p:cNvPicPr>
          <p:nvPr/>
        </p:nvPicPr>
        <p:blipFill>
          <a:blip r:embed="rId1"/>
          <a:stretch>
            <a:fillRect/>
          </a:stretch>
        </p:blipFill>
        <p:spPr>
          <a:xfrm>
            <a:off x="6720840" y="1783080"/>
            <a:ext cx="1188720" cy="1188720"/>
          </a:xfrm>
          <a:prstGeom prst="rect">
            <a:avLst/>
          </a:prstGeom>
        </p:spPr>
      </p:pic>
    </p:spTree>
  </p:cSld>
  <p:clrMapOvr>
    <a:masterClrMapping/>
  </p:clrMapOvr>
</p:sld>
</file>

<file path=ppt/theme/theme1.xml><?xml version="1.0" encoding="utf-8"?>
<a:theme xmlns:a="http://schemas.openxmlformats.org/drawingml/2006/main" name="Pizza Order">
  <a:themeElements>
    <a:clrScheme name="Pizza Order">
      <a:dk1>
        <a:srgbClr val="2A2522"/>
      </a:dk1>
      <a:lt1>
        <a:srgbClr val="FFFFFF"/>
      </a:lt1>
      <a:dk2>
        <a:srgbClr val="5E5753"/>
      </a:dk2>
      <a:lt2>
        <a:srgbClr val="FBEDEA"/>
      </a:lt2>
      <a:accent1>
        <a:srgbClr val="C8382E"/>
      </a:accent1>
      <a:accent2>
        <a:srgbClr val="3E7B3A"/>
      </a:accent2>
      <a:accent3>
        <a:srgbClr val="E8A33D"/>
      </a:accent3>
      <a:accent4>
        <a:srgbClr val="8A817C"/>
      </a:accent4>
      <a:accent5>
        <a:srgbClr val="F3D3CE"/>
      </a:accent5>
      <a:accent6>
        <a:srgbClr val="E4EFE2"/>
      </a:accent6>
      <a:hlink>
        <a:srgbClr val="C8382E"/>
      </a:hlink>
      <a:folHlink>
        <a:srgbClr val="7A2E26"/>
      </a:folHlink>
    </a:clrScheme>
    <a:fontScheme name="Pizza Ord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Pizza Order Program</dc:title>
  <dc:subject>PptxGenJS Presentation</dc:subject>
  <dc:creator>Sorena</dc:creator>
  <cp:lastModifiedBy>Sorena</cp:lastModifiedBy>
  <cp:revision>1</cp:revision>
  <dcterms:created xsi:type="dcterms:W3CDTF">2026-10-21T08:27:43Z</dcterms:created>
  <dcterms:modified xsi:type="dcterms:W3CDTF">2026-10-21T08:27:43Z</dcterms:modified>
</cp:coreProperties>
</file>